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comprehensive user guide for the EAS AI Adoption Dashboard, written for normal Contributor users. 28 slides, every function on the site verified live as of April 12, 2026. SPOC and Admin features appear near the end as reference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6 sections before diving in. Anyone can skip to the step they need — slide numbers are labeled.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feature in this deck is gated by one of these three roles. If a button or page isn't in your sidebar, your role doesn't have it. Data-role attributes are set in the sidebar HTML and filtered on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Signup writes to Supabase Auth + the users table. If a logged-in session already exists, signup.html auto-redirects to the dashboard — that's why testing signup needs a fresh browser or signed-out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Login hits Supabase auth.signInWithPassword, then fetches the user profile row to get role + practice for sidebar filtering. On success, redirects to 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has exactly six chart cards + a forecast panel below (not shown in the mock due to space). Verified live: Tasks by Practice, Time Saved by Practice (hrs), Efficiency % by Practice, AI Tools Usage, Task Categories Distribution, Weekly Trend (Tasks Logged), and a Trend Forecast (Next 4 Weeks) for Tasks and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Quarter selector is in the sidebar footer above the theme toggle. Choose All Time for a full history view. Theme is stored in localStorage; reset it by clearing site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navigation inventory captured live from the DOM. Every item's data-role attribute determines visibility per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 Log Task button is identical everywhere; it opens the same modal. Admin has an extra 'Skip approval' checkbox inside the modal.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label here was captured live from the modal. Required fields: Practice, Project, Employee, Task/Activity, Time Without AI, Time With AI. Saved hours is computed and displayed elsewhere — there is no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once. A Supabase Edge Function calls OpenAI GPT-4 with your project + hours as context and returns draft text for the task, category, tool and the 'Why is this important?' explainer. You can edit anything before saving.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validator is a GPT-4 prompt running in a Supabase Edge Function. Response time is ~3-8 seconds in normal conditions. If all four checks pass and saved hours ≥ 15, it routes to admin. If saved hours &lt; 15 and all checks pass, it routes to the practice SPOC. Any failed check routes to the SPOC for manual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≥15h rule exists so that large claims get admin-level scrutiny — anything equal to two full days saved needs verification. Small wins go directly to SPOCs, who know their team's work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Approvals page has filters for Status (All/Pending/Approved/Rejected), Type (Tasks/Accomplishments) and Practice. SPOCs should clear Pending daily. Contributors track their own submissions on the Task Status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 and Delete are always visible on your own rows. SPOCs can edit any row within their practice; admins can edit any row site-wide. Resubmitting a rejected task is the same flow — open, edit, save.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Accomplishments are qualitative — they don't contribute to hours saved or the leaderboard score, but they appear in the 'AI Accomplishments' section of every report and in the executive summary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Practice shows stat strip, active roster (with badges/last active), and inactive members. Use the Nudge button on anyone inactive — it fires a reminder email + logs the nudge timestamp.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Nudges are idempotent per week. The Last Nudged column shows the most recent timestamp so you always know who was already reminded.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User opens a small modal with five fields only. Edit opens the same modal pre-filled. Delete is a soft delete (status → inactive). Admins manage all 149 across practices; SPOCs only manage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project you worked on isn't in the list, email the admin to add it. Projects filter by practice so the dropdown only shows relevant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Rankings uses a composite score: tasks × efficiency × quality. Top Contributors shows individuals. Both tabs respect the quarter selector — switch to 'All Time' to see lifetime standings.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Badges are evaluated at the end of each approved task. Once earned they don't expire. The full set is displayed next to your name in Leaderboard → Top Contributors and on your My Practice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Cases are auto-generated from approved accomplishments + high-value tasks. Contributors can browse to discover how other practices are using AI. Results update as you type — no Enter key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export respects the active quarter selector and any filters. For cross-page bundles, use Export Center (next slide)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Export Center shows format-specific sections gated by role: Practice Detail Cards is Admin-only PDF; My Practice Summary is SPOC-only; My Tasks Summary is Contributor-only. The modal respects the active quarter selector.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Admin-only items are gated server-side by Supabase Row-Level Security + client-side by the data-role attribute on sidebar items. A SPOC cannot access the admin approvals queue even by changing the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Still stuck? The admin (oibrahim@ejada.com) is the last resort. For practice-specific questions, ping your practice SPOC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session by reiterating the 3-step path. Remind the audience that every task logged contributes to their practice's ranking and to the real picture of AI ROI at Ejada.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9"/>
        </a:solidFill>
      </p:bgPr>
    </p:bg>
    <p:spTree>
      <p:nvGrpSpPr>
        <p:cNvPr id="1" name=""/>
        <p:cNvGrpSpPr/>
        <p:nvPr/>
      </p:nvGrpSpPr>
      <p:grpSpPr>
        <a:xfrm>
          <a:off x="0" y="0"/>
          <a:ext cx="0" cy="0"/>
          <a:chOff x="0" y="0"/>
          <a:chExt cx="0" cy="0"/>
        </a:xfrm>
      </p:grpSpPr>
      <p:sp>
        <p:nvSpPr>
          <p:cNvPr id="2" name="Shape 0"/>
          <p:cNvSpPr/>
          <p:nvPr/>
        </p:nvSpPr>
        <p:spPr>
          <a:xfrm>
            <a:off x="7619695" y="0"/>
            <a:ext cx="4572000" cy="6858000"/>
          </a:xfrm>
          <a:prstGeom prst="rect">
            <a:avLst/>
          </a:prstGeom>
          <a:solidFill>
            <a:srgbClr val="1E2761">
              <a:alpha val="60000"/>
            </a:srgbClr>
          </a:solidFill>
          <a:ln w="12700">
            <a:solidFill>
              <a:srgbClr val="1E2761"/>
            </a:solidFill>
            <a:prstDash val="solid"/>
          </a:ln>
        </p:spPr>
      </p:sp>
      <p:sp>
        <p:nvSpPr>
          <p:cNvPr id="3" name="Shape 1"/>
          <p:cNvSpPr/>
          <p:nvPr/>
        </p:nvSpPr>
        <p:spPr>
          <a:xfrm>
            <a:off x="8991295" y="-914400"/>
            <a:ext cx="4114800" cy="4114800"/>
          </a:xfrm>
          <a:prstGeom prst="ellipse">
            <a:avLst/>
          </a:prstGeom>
          <a:solidFill>
            <a:srgbClr val="6366F1">
              <a:alpha val="35000"/>
            </a:srgbClr>
          </a:solidFill>
          <a:ln w="12700">
            <a:solidFill>
              <a:srgbClr val="6366F1"/>
            </a:solidFill>
            <a:prstDash val="solid"/>
          </a:ln>
        </p:spPr>
      </p:sp>
      <p:sp>
        <p:nvSpPr>
          <p:cNvPr id="4" name="Shape 2"/>
          <p:cNvSpPr/>
          <p:nvPr/>
        </p:nvSpPr>
        <p:spPr>
          <a:xfrm>
            <a:off x="10362895" y="3200400"/>
            <a:ext cx="2743200" cy="2743200"/>
          </a:xfrm>
          <a:prstGeom prst="ellipse">
            <a:avLst/>
          </a:prstGeom>
          <a:solidFill>
            <a:srgbClr val="3B82F6">
              <a:alpha val="30000"/>
            </a:srgbClr>
          </a:solidFill>
          <a:ln w="12700">
            <a:solidFill>
              <a:srgbClr val="3B82F6"/>
            </a:solidFill>
            <a:prstDash val="solid"/>
          </a:ln>
        </p:spPr>
      </p:sp>
      <p:sp>
        <p:nvSpPr>
          <p:cNvPr id="5" name="Shape 3"/>
          <p:cNvSpPr/>
          <p:nvPr/>
        </p:nvSpPr>
        <p:spPr>
          <a:xfrm>
            <a:off x="822960" y="822960"/>
            <a:ext cx="914400" cy="914400"/>
          </a:xfrm>
          <a:prstGeom prst="roundRect">
            <a:avLst>
              <a:gd name="adj" fmla="val 15000"/>
            </a:avLst>
          </a:prstGeom>
          <a:solidFill>
            <a:srgbClr val="6366F1"/>
          </a:solidFill>
          <a:ln w="12700">
            <a:solidFill>
              <a:srgbClr val="6366F1"/>
            </a:solidFill>
            <a:prstDash val="solid"/>
          </a:ln>
        </p:spPr>
      </p:sp>
      <p:sp>
        <p:nvSpPr>
          <p:cNvPr id="6" name="Text 4"/>
          <p:cNvSpPr/>
          <p:nvPr/>
        </p:nvSpPr>
        <p:spPr>
          <a:xfrm>
            <a:off x="822960" y="822960"/>
            <a:ext cx="914400" cy="914400"/>
          </a:xfrm>
          <a:prstGeom prst="rect">
            <a:avLst/>
          </a:prstGeom>
          <a:noFill/>
          <a:ln/>
        </p:spPr>
        <p:txBody>
          <a:bodyPr wrap="square" lIns="0" tIns="0" rIns="0" bIns="0" rtlCol="0" anchor="ctr"/>
          <a:lstStyle/>
          <a:p>
            <a:pPr algn="ctr" indent="0" marL="0">
              <a:buNone/>
            </a:pPr>
            <a:r>
              <a:rPr lang="en-US" sz="4200" b="1" dirty="0">
                <a:solidFill>
                  <a:srgbClr val="FFFFFF"/>
                </a:solidFill>
                <a:latin typeface="Calibri" pitchFamily="34" charset="0"/>
                <a:ea typeface="Calibri" pitchFamily="34" charset="-122"/>
                <a:cs typeface="Calibri" pitchFamily="34" charset="-120"/>
              </a:rPr>
              <a:t>E</a:t>
            </a:r>
            <a:endParaRPr lang="en-US" sz="4200" dirty="0"/>
          </a:p>
        </p:txBody>
      </p:sp>
      <p:sp>
        <p:nvSpPr>
          <p:cNvPr id="7" name="Text 5"/>
          <p:cNvSpPr/>
          <p:nvPr/>
        </p:nvSpPr>
        <p:spPr>
          <a:xfrm>
            <a:off x="822960" y="1965960"/>
            <a:ext cx="9144000" cy="365760"/>
          </a:xfrm>
          <a:prstGeom prst="rect">
            <a:avLst/>
          </a:prstGeom>
          <a:noFill/>
          <a:ln/>
        </p:spPr>
        <p:txBody>
          <a:bodyPr wrap="square" lIns="0" tIns="0" rIns="0" bIns="0" rtlCol="0" anchor="ctr"/>
          <a:lstStyle/>
          <a:p>
            <a:pPr indent="0" marL="0">
              <a:buNone/>
            </a:pPr>
            <a:r>
              <a:rPr lang="en-US" sz="1200" b="1" spc="400" kern="0" dirty="0">
                <a:solidFill>
                  <a:srgbClr val="CADCFC"/>
                </a:solidFill>
                <a:latin typeface="Calibri" pitchFamily="34" charset="0"/>
                <a:ea typeface="Calibri" pitchFamily="34" charset="-122"/>
                <a:cs typeface="Calibri" pitchFamily="34" charset="-120"/>
              </a:rPr>
              <a:t>ENTERPRISE APPLICATION SOLUTIONS</a:t>
            </a:r>
            <a:endParaRPr lang="en-US" sz="1200" dirty="0"/>
          </a:p>
        </p:txBody>
      </p:sp>
      <p:sp>
        <p:nvSpPr>
          <p:cNvPr id="8" name="Text 6"/>
          <p:cNvSpPr/>
          <p:nvPr/>
        </p:nvSpPr>
        <p:spPr>
          <a:xfrm>
            <a:off x="822960" y="2423160"/>
            <a:ext cx="10972800" cy="91440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EAS AI Adoption Dashboard</a:t>
            </a:r>
            <a:endParaRPr lang="en-US" sz="4600" dirty="0"/>
          </a:p>
        </p:txBody>
      </p:sp>
      <p:sp>
        <p:nvSpPr>
          <p:cNvPr id="9" name="Text 7"/>
          <p:cNvSpPr/>
          <p:nvPr/>
        </p:nvSpPr>
        <p:spPr>
          <a:xfrm>
            <a:off x="822960" y="3429000"/>
            <a:ext cx="10972800" cy="502920"/>
          </a:xfrm>
          <a:prstGeom prst="rect">
            <a:avLst/>
          </a:prstGeom>
          <a:noFill/>
          <a:ln/>
        </p:spPr>
        <p:txBody>
          <a:bodyPr wrap="square" lIns="0" tIns="0" rIns="0" bIns="0" rtlCol="0" anchor="ctr"/>
          <a:lstStyle/>
          <a:p>
            <a:pPr indent="0" marL="0">
              <a:buNone/>
            </a:pPr>
            <a:r>
              <a:rPr lang="en-US" sz="2200" dirty="0">
                <a:solidFill>
                  <a:srgbClr val="818CF8"/>
                </a:solidFill>
                <a:latin typeface="Calibri" pitchFamily="34" charset="0"/>
                <a:ea typeface="Calibri" pitchFamily="34" charset="-122"/>
                <a:cs typeface="Calibri" pitchFamily="34" charset="-120"/>
              </a:rPr>
              <a:t>Full User Guide — every function, step by step</a:t>
            </a:r>
            <a:endParaRPr lang="en-US" sz="2200" dirty="0"/>
          </a:p>
        </p:txBody>
      </p:sp>
      <p:sp>
        <p:nvSpPr>
          <p:cNvPr id="10" name="Shape 8"/>
          <p:cNvSpPr/>
          <p:nvPr/>
        </p:nvSpPr>
        <p:spPr>
          <a:xfrm>
            <a:off x="822960" y="3977640"/>
            <a:ext cx="1280160" cy="73152"/>
          </a:xfrm>
          <a:prstGeom prst="rect">
            <a:avLst/>
          </a:prstGeom>
          <a:solidFill>
            <a:srgbClr val="6366F1"/>
          </a:solidFill>
          <a:ln w="12700">
            <a:solidFill>
              <a:srgbClr val="6366F1"/>
            </a:solidFill>
            <a:prstDash val="solid"/>
          </a:ln>
        </p:spPr>
      </p:sp>
      <p:sp>
        <p:nvSpPr>
          <p:cNvPr id="11" name="Text 9"/>
          <p:cNvSpPr/>
          <p:nvPr/>
        </p:nvSpPr>
        <p:spPr>
          <a:xfrm>
            <a:off x="822960" y="4251960"/>
            <a:ext cx="10058400" cy="32004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Presented by </a:t>
            </a:r>
            <a:pPr indent="0" marL="0">
              <a:buNone/>
            </a:pPr>
            <a:r>
              <a:rPr lang="en-US" sz="1300" b="1" dirty="0">
                <a:solidFill>
                  <a:srgbClr val="FFFFFF"/>
                </a:solidFill>
                <a:latin typeface="Calibri" pitchFamily="34" charset="0"/>
                <a:ea typeface="Calibri" pitchFamily="34" charset="-122"/>
                <a:cs typeface="Calibri" pitchFamily="34" charset="-120"/>
              </a:rPr>
              <a:t>Omar Ibrahim</a:t>
            </a:r>
            <a:pPr indent="0" marL="0">
              <a:buNone/>
            </a:pPr>
            <a:r>
              <a:rPr lang="en-US" sz="1300" dirty="0">
                <a:solidFill>
                  <a:srgbClr val="94A3B8"/>
                </a:solidFill>
                <a:latin typeface="Calibri" pitchFamily="34" charset="0"/>
                <a:ea typeface="Calibri" pitchFamily="34" charset="-122"/>
                <a:cs typeface="Calibri" pitchFamily="34" charset="-120"/>
              </a:rPr>
              <a:t>  ·  Admin &amp; Overall AI SPOC</a:t>
            </a:r>
            <a:endParaRPr lang="en-US" sz="1300" dirty="0"/>
          </a:p>
        </p:txBody>
      </p:sp>
      <p:sp>
        <p:nvSpPr>
          <p:cNvPr id="12" name="Text 10"/>
          <p:cNvSpPr/>
          <p:nvPr/>
        </p:nvSpPr>
        <p:spPr>
          <a:xfrm>
            <a:off x="822960" y="4526280"/>
            <a:ext cx="1005840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April 12, 2026  ·  Ejada — Enterprise Application Solutions</a:t>
            </a:r>
            <a:endParaRPr lang="en-US" sz="1100" dirty="0"/>
          </a:p>
        </p:txBody>
      </p:sp>
      <p:sp>
        <p:nvSpPr>
          <p:cNvPr id="13" name="Shape 11"/>
          <p:cNvSpPr/>
          <p:nvPr/>
        </p:nvSpPr>
        <p:spPr>
          <a:xfrm>
            <a:off x="822960" y="5120640"/>
            <a:ext cx="1508760" cy="347472"/>
          </a:xfrm>
          <a:prstGeom prst="roundRect">
            <a:avLst>
              <a:gd name="adj" fmla="val 50000"/>
            </a:avLst>
          </a:prstGeom>
          <a:solidFill>
            <a:srgbClr val="6366F1"/>
          </a:solidFill>
          <a:ln w="12700">
            <a:solidFill>
              <a:srgbClr val="6366F1"/>
            </a:solidFill>
            <a:prstDash val="solid"/>
          </a:ln>
        </p:spPr>
      </p:sp>
      <p:sp>
        <p:nvSpPr>
          <p:cNvPr id="14" name="Text 12"/>
          <p:cNvSpPr/>
          <p:nvPr/>
        </p:nvSpPr>
        <p:spPr>
          <a:xfrm>
            <a:off x="822960" y="5120640"/>
            <a:ext cx="150876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28 steps</a:t>
            </a:r>
            <a:endParaRPr lang="en-US" sz="900" dirty="0"/>
          </a:p>
        </p:txBody>
      </p:sp>
      <p:sp>
        <p:nvSpPr>
          <p:cNvPr id="15" name="Shape 13"/>
          <p:cNvSpPr/>
          <p:nvPr/>
        </p:nvSpPr>
        <p:spPr>
          <a:xfrm>
            <a:off x="2468880" y="5120640"/>
            <a:ext cx="1508760" cy="347472"/>
          </a:xfrm>
          <a:prstGeom prst="roundRect">
            <a:avLst>
              <a:gd name="adj" fmla="val 50000"/>
            </a:avLst>
          </a:prstGeom>
          <a:solidFill>
            <a:srgbClr val="3B82F6"/>
          </a:solidFill>
          <a:ln w="12700">
            <a:solidFill>
              <a:srgbClr val="3B82F6"/>
            </a:solidFill>
            <a:prstDash val="solid"/>
          </a:ln>
        </p:spPr>
      </p:sp>
      <p:sp>
        <p:nvSpPr>
          <p:cNvPr id="16" name="Text 14"/>
          <p:cNvSpPr/>
          <p:nvPr/>
        </p:nvSpPr>
        <p:spPr>
          <a:xfrm>
            <a:off x="2468880" y="5120640"/>
            <a:ext cx="150876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All roles</a:t>
            </a:r>
            <a:endParaRPr lang="en-US" sz="900" dirty="0"/>
          </a:p>
        </p:txBody>
      </p:sp>
      <p:sp>
        <p:nvSpPr>
          <p:cNvPr id="17" name="Shape 15"/>
          <p:cNvSpPr/>
          <p:nvPr/>
        </p:nvSpPr>
        <p:spPr>
          <a:xfrm>
            <a:off x="4114800" y="5120640"/>
            <a:ext cx="1508760" cy="347472"/>
          </a:xfrm>
          <a:prstGeom prst="roundRect">
            <a:avLst>
              <a:gd name="adj" fmla="val 50000"/>
            </a:avLst>
          </a:prstGeom>
          <a:solidFill>
            <a:srgbClr val="10B981"/>
          </a:solidFill>
          <a:ln w="12700">
            <a:solidFill>
              <a:srgbClr val="10B981"/>
            </a:solidFill>
            <a:prstDash val="solid"/>
          </a:ln>
        </p:spPr>
      </p:sp>
      <p:sp>
        <p:nvSpPr>
          <p:cNvPr id="18" name="Text 16"/>
          <p:cNvSpPr/>
          <p:nvPr/>
        </p:nvSpPr>
        <p:spPr>
          <a:xfrm>
            <a:off x="4114800" y="5120640"/>
            <a:ext cx="150876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Live verified</a:t>
            </a:r>
            <a:endParaRPr lang="en-US" sz="900" dirty="0"/>
          </a:p>
        </p:txBody>
      </p:sp>
      <p:sp>
        <p:nvSpPr>
          <p:cNvPr id="19" name="Text 17"/>
          <p:cNvSpPr/>
          <p:nvPr/>
        </p:nvSpPr>
        <p:spPr>
          <a:xfrm>
            <a:off x="822960" y="6263640"/>
            <a:ext cx="7315200" cy="274320"/>
          </a:xfrm>
          <a:prstGeom prst="rect">
            <a:avLst/>
          </a:prstGeom>
          <a:noFill/>
          <a:ln/>
        </p:spPr>
        <p:txBody>
          <a:bodyPr wrap="square" lIns="0" tIns="0" rIns="0" bIns="0" rtlCol="0" anchor="ctr"/>
          <a:lstStyle/>
          <a:p>
            <a:pPr indent="0" marL="0">
              <a:buNone/>
            </a:pPr>
            <a:r>
              <a:rPr lang="en-US" sz="1100" i="1" dirty="0">
                <a:solidFill>
                  <a:srgbClr val="818CF8"/>
                </a:solidFill>
                <a:latin typeface="Calibri" pitchFamily="34" charset="0"/>
                <a:ea typeface="Calibri" pitchFamily="34" charset="-122"/>
                <a:cs typeface="Calibri" pitchFamily="34" charset="-120"/>
              </a:rPr>
              <a:t>omarhelal1234.github.io/eas-ai-dashboard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What this deck covers</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One slide per function. Real field names. Real button labels. No guesses.</a:t>
            </a:r>
            <a:endParaRPr lang="en-US" sz="1400" dirty="0"/>
          </a:p>
        </p:txBody>
      </p:sp>
      <p:sp>
        <p:nvSpPr>
          <p:cNvPr id="4" name="Shape 2"/>
          <p:cNvSpPr/>
          <p:nvPr/>
        </p:nvSpPr>
        <p:spPr>
          <a:xfrm>
            <a:off x="640080" y="1783080"/>
            <a:ext cx="5486400" cy="1417320"/>
          </a:xfrm>
          <a:prstGeom prst="roundRect">
            <a:avLst>
              <a:gd name="adj" fmla="val 5161"/>
            </a:avLst>
          </a:prstGeom>
          <a:solidFill>
            <a:srgbClr val="1A2244"/>
          </a:solidFill>
          <a:ln w="12700">
            <a:solidFill>
              <a:srgbClr val="2A3560"/>
            </a:solidFill>
            <a:prstDash val="solid"/>
          </a:ln>
        </p:spPr>
      </p:sp>
      <p:sp>
        <p:nvSpPr>
          <p:cNvPr id="5" name="Shape 3"/>
          <p:cNvSpPr/>
          <p:nvPr/>
        </p:nvSpPr>
        <p:spPr>
          <a:xfrm>
            <a:off x="640080" y="1783080"/>
            <a:ext cx="82296" cy="1417320"/>
          </a:xfrm>
          <a:prstGeom prst="rect">
            <a:avLst/>
          </a:prstGeom>
          <a:solidFill>
            <a:srgbClr val="6366F1"/>
          </a:solidFill>
          <a:ln w="12700">
            <a:solidFill>
              <a:srgbClr val="6366F1"/>
            </a:solidFill>
            <a:prstDash val="solid"/>
          </a:ln>
        </p:spPr>
      </p:sp>
      <p:sp>
        <p:nvSpPr>
          <p:cNvPr id="6" name="Shape 4"/>
          <p:cNvSpPr/>
          <p:nvPr/>
        </p:nvSpPr>
        <p:spPr>
          <a:xfrm>
            <a:off x="914400" y="2103120"/>
            <a:ext cx="777240" cy="777240"/>
          </a:xfrm>
          <a:prstGeom prst="ellipse">
            <a:avLst/>
          </a:prstGeom>
          <a:solidFill>
            <a:srgbClr val="6366F1"/>
          </a:solidFill>
          <a:ln w="19050">
            <a:solidFill>
              <a:srgbClr val="FFFFFF"/>
            </a:solidFill>
            <a:prstDash val="solid"/>
          </a:ln>
        </p:spPr>
      </p:sp>
      <p:sp>
        <p:nvSpPr>
          <p:cNvPr id="7" name="Text 5"/>
          <p:cNvSpPr/>
          <p:nvPr/>
        </p:nvSpPr>
        <p:spPr>
          <a:xfrm>
            <a:off x="914400" y="210312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sp>
        <p:nvSpPr>
          <p:cNvPr id="8" name="Text 6"/>
          <p:cNvSpPr/>
          <p:nvPr/>
        </p:nvSpPr>
        <p:spPr>
          <a:xfrm>
            <a:off x="1828800" y="1965960"/>
            <a:ext cx="411480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Access</a:t>
            </a:r>
            <a:endParaRPr lang="en-US" sz="1700" dirty="0"/>
          </a:p>
        </p:txBody>
      </p:sp>
      <p:sp>
        <p:nvSpPr>
          <p:cNvPr id="9" name="Text 7"/>
          <p:cNvSpPr/>
          <p:nvPr/>
        </p:nvSpPr>
        <p:spPr>
          <a:xfrm>
            <a:off x="1828800" y="2350008"/>
            <a:ext cx="4114800" cy="45720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Sign up · Log in · Dashboard tour · Sidebar · Theme &amp; quarter</a:t>
            </a:r>
            <a:endParaRPr lang="en-US" sz="1000" dirty="0"/>
          </a:p>
        </p:txBody>
      </p:sp>
      <p:sp>
        <p:nvSpPr>
          <p:cNvPr id="10" name="Shape 8"/>
          <p:cNvSpPr/>
          <p:nvPr/>
        </p:nvSpPr>
        <p:spPr>
          <a:xfrm>
            <a:off x="1828800" y="2807208"/>
            <a:ext cx="1371600" cy="274320"/>
          </a:xfrm>
          <a:prstGeom prst="roundRect">
            <a:avLst>
              <a:gd name="adj" fmla="val 50000"/>
            </a:avLst>
          </a:prstGeom>
          <a:solidFill>
            <a:srgbClr val="6366F1"/>
          </a:solidFill>
          <a:ln w="12700">
            <a:solidFill>
              <a:srgbClr val="6366F1"/>
            </a:solidFill>
            <a:prstDash val="solid"/>
          </a:ln>
        </p:spPr>
      </p:sp>
      <p:sp>
        <p:nvSpPr>
          <p:cNvPr id="11" name="Text 9"/>
          <p:cNvSpPr/>
          <p:nvPr/>
        </p:nvSpPr>
        <p:spPr>
          <a:xfrm>
            <a:off x="1828800" y="2807208"/>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Steps 1–5</a:t>
            </a:r>
            <a:endParaRPr lang="en-US" sz="900" dirty="0"/>
          </a:p>
        </p:txBody>
      </p:sp>
      <p:sp>
        <p:nvSpPr>
          <p:cNvPr id="12" name="Shape 10"/>
          <p:cNvSpPr/>
          <p:nvPr/>
        </p:nvSpPr>
        <p:spPr>
          <a:xfrm>
            <a:off x="6400800" y="1783080"/>
            <a:ext cx="5486400" cy="1417320"/>
          </a:xfrm>
          <a:prstGeom prst="roundRect">
            <a:avLst>
              <a:gd name="adj" fmla="val 5161"/>
            </a:avLst>
          </a:prstGeom>
          <a:solidFill>
            <a:srgbClr val="1A2244"/>
          </a:solidFill>
          <a:ln w="12700">
            <a:solidFill>
              <a:srgbClr val="2A3560"/>
            </a:solidFill>
            <a:prstDash val="solid"/>
          </a:ln>
        </p:spPr>
      </p:sp>
      <p:sp>
        <p:nvSpPr>
          <p:cNvPr id="13" name="Shape 11"/>
          <p:cNvSpPr/>
          <p:nvPr/>
        </p:nvSpPr>
        <p:spPr>
          <a:xfrm>
            <a:off x="6400800" y="1783080"/>
            <a:ext cx="82296" cy="1417320"/>
          </a:xfrm>
          <a:prstGeom prst="rect">
            <a:avLst/>
          </a:prstGeom>
          <a:solidFill>
            <a:srgbClr val="3B82F6"/>
          </a:solidFill>
          <a:ln w="12700">
            <a:solidFill>
              <a:srgbClr val="3B82F6"/>
            </a:solidFill>
            <a:prstDash val="solid"/>
          </a:ln>
        </p:spPr>
      </p:sp>
      <p:sp>
        <p:nvSpPr>
          <p:cNvPr id="14" name="Shape 12"/>
          <p:cNvSpPr/>
          <p:nvPr/>
        </p:nvSpPr>
        <p:spPr>
          <a:xfrm>
            <a:off x="6675120" y="2103120"/>
            <a:ext cx="777240" cy="777240"/>
          </a:xfrm>
          <a:prstGeom prst="ellipse">
            <a:avLst/>
          </a:prstGeom>
          <a:solidFill>
            <a:srgbClr val="3B82F6"/>
          </a:solidFill>
          <a:ln w="19050">
            <a:solidFill>
              <a:srgbClr val="FFFFFF"/>
            </a:solidFill>
            <a:prstDash val="solid"/>
          </a:ln>
        </p:spPr>
      </p:sp>
      <p:sp>
        <p:nvSpPr>
          <p:cNvPr id="15" name="Text 13"/>
          <p:cNvSpPr/>
          <p:nvPr/>
        </p:nvSpPr>
        <p:spPr>
          <a:xfrm>
            <a:off x="6675120" y="210312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a:t>
            </a:r>
            <a:endParaRPr lang="en-US" sz="2800" dirty="0"/>
          </a:p>
        </p:txBody>
      </p:sp>
      <p:sp>
        <p:nvSpPr>
          <p:cNvPr id="16" name="Text 14"/>
          <p:cNvSpPr/>
          <p:nvPr/>
        </p:nvSpPr>
        <p:spPr>
          <a:xfrm>
            <a:off x="7589520" y="1965960"/>
            <a:ext cx="411480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Log your AI work</a:t>
            </a:r>
            <a:endParaRPr lang="en-US" sz="1700" dirty="0"/>
          </a:p>
        </p:txBody>
      </p:sp>
      <p:sp>
        <p:nvSpPr>
          <p:cNvPr id="17" name="Text 15"/>
          <p:cNvSpPr/>
          <p:nvPr/>
        </p:nvSpPr>
        <p:spPr>
          <a:xfrm>
            <a:off x="7589520" y="2350008"/>
            <a:ext cx="4114800" cy="45720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Open the form · 15 real fields · AI Suggestions · Save</a:t>
            </a:r>
            <a:endParaRPr lang="en-US" sz="1000" dirty="0"/>
          </a:p>
        </p:txBody>
      </p:sp>
      <p:sp>
        <p:nvSpPr>
          <p:cNvPr id="18" name="Shape 16"/>
          <p:cNvSpPr/>
          <p:nvPr/>
        </p:nvSpPr>
        <p:spPr>
          <a:xfrm>
            <a:off x="7589520" y="2807208"/>
            <a:ext cx="1371600" cy="274320"/>
          </a:xfrm>
          <a:prstGeom prst="roundRect">
            <a:avLst>
              <a:gd name="adj" fmla="val 50000"/>
            </a:avLst>
          </a:prstGeom>
          <a:solidFill>
            <a:srgbClr val="3B82F6"/>
          </a:solidFill>
          <a:ln w="12700">
            <a:solidFill>
              <a:srgbClr val="3B82F6"/>
            </a:solidFill>
            <a:prstDash val="solid"/>
          </a:ln>
        </p:spPr>
      </p:sp>
      <p:sp>
        <p:nvSpPr>
          <p:cNvPr id="19" name="Text 17"/>
          <p:cNvSpPr/>
          <p:nvPr/>
        </p:nvSpPr>
        <p:spPr>
          <a:xfrm>
            <a:off x="7589520" y="2807208"/>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Steps 6–9</a:t>
            </a:r>
            <a:endParaRPr lang="en-US" sz="900" dirty="0"/>
          </a:p>
        </p:txBody>
      </p:sp>
      <p:sp>
        <p:nvSpPr>
          <p:cNvPr id="20" name="Shape 18"/>
          <p:cNvSpPr/>
          <p:nvPr/>
        </p:nvSpPr>
        <p:spPr>
          <a:xfrm>
            <a:off x="640080" y="3429000"/>
            <a:ext cx="5486400" cy="1417320"/>
          </a:xfrm>
          <a:prstGeom prst="roundRect">
            <a:avLst>
              <a:gd name="adj" fmla="val 5161"/>
            </a:avLst>
          </a:prstGeom>
          <a:solidFill>
            <a:srgbClr val="1A2244"/>
          </a:solidFill>
          <a:ln w="12700">
            <a:solidFill>
              <a:srgbClr val="2A3560"/>
            </a:solidFill>
            <a:prstDash val="solid"/>
          </a:ln>
        </p:spPr>
      </p:sp>
      <p:sp>
        <p:nvSpPr>
          <p:cNvPr id="21" name="Shape 19"/>
          <p:cNvSpPr/>
          <p:nvPr/>
        </p:nvSpPr>
        <p:spPr>
          <a:xfrm>
            <a:off x="640080" y="3429000"/>
            <a:ext cx="82296" cy="1417320"/>
          </a:xfrm>
          <a:prstGeom prst="rect">
            <a:avLst/>
          </a:prstGeom>
          <a:solidFill>
            <a:srgbClr val="818CF8"/>
          </a:solidFill>
          <a:ln w="12700">
            <a:solidFill>
              <a:srgbClr val="818CF8"/>
            </a:solidFill>
            <a:prstDash val="solid"/>
          </a:ln>
        </p:spPr>
      </p:sp>
      <p:sp>
        <p:nvSpPr>
          <p:cNvPr id="22" name="Shape 20"/>
          <p:cNvSpPr/>
          <p:nvPr/>
        </p:nvSpPr>
        <p:spPr>
          <a:xfrm>
            <a:off x="914400" y="3749040"/>
            <a:ext cx="777240" cy="777240"/>
          </a:xfrm>
          <a:prstGeom prst="ellipse">
            <a:avLst/>
          </a:prstGeom>
          <a:solidFill>
            <a:srgbClr val="818CF8"/>
          </a:solidFill>
          <a:ln w="19050">
            <a:solidFill>
              <a:srgbClr val="FFFFFF"/>
            </a:solidFill>
            <a:prstDash val="solid"/>
          </a:ln>
        </p:spPr>
      </p:sp>
      <p:sp>
        <p:nvSpPr>
          <p:cNvPr id="23" name="Text 21"/>
          <p:cNvSpPr/>
          <p:nvPr/>
        </p:nvSpPr>
        <p:spPr>
          <a:xfrm>
            <a:off x="914400" y="374904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24" name="Text 22"/>
          <p:cNvSpPr/>
          <p:nvPr/>
        </p:nvSpPr>
        <p:spPr>
          <a:xfrm>
            <a:off x="1828800" y="3611880"/>
            <a:ext cx="411480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Validation &amp; approvals</a:t>
            </a:r>
            <a:endParaRPr lang="en-US" sz="1700" dirty="0"/>
          </a:p>
        </p:txBody>
      </p:sp>
      <p:sp>
        <p:nvSpPr>
          <p:cNvPr id="25" name="Text 23"/>
          <p:cNvSpPr/>
          <p:nvPr/>
        </p:nvSpPr>
        <p:spPr>
          <a:xfrm>
            <a:off x="1828800" y="3995928"/>
            <a:ext cx="4114800" cy="45720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AI validator · SPOC/Admin routing · Track status · Edit</a:t>
            </a:r>
            <a:endParaRPr lang="en-US" sz="1000" dirty="0"/>
          </a:p>
        </p:txBody>
      </p:sp>
      <p:sp>
        <p:nvSpPr>
          <p:cNvPr id="26" name="Shape 24"/>
          <p:cNvSpPr/>
          <p:nvPr/>
        </p:nvSpPr>
        <p:spPr>
          <a:xfrm>
            <a:off x="1828800" y="4453128"/>
            <a:ext cx="1371600" cy="274320"/>
          </a:xfrm>
          <a:prstGeom prst="roundRect">
            <a:avLst>
              <a:gd name="adj" fmla="val 50000"/>
            </a:avLst>
          </a:prstGeom>
          <a:solidFill>
            <a:srgbClr val="818CF8"/>
          </a:solidFill>
          <a:ln w="12700">
            <a:solidFill>
              <a:srgbClr val="818CF8"/>
            </a:solidFill>
            <a:prstDash val="solid"/>
          </a:ln>
        </p:spPr>
      </p:sp>
      <p:sp>
        <p:nvSpPr>
          <p:cNvPr id="27" name="Text 25"/>
          <p:cNvSpPr/>
          <p:nvPr/>
        </p:nvSpPr>
        <p:spPr>
          <a:xfrm>
            <a:off x="1828800" y="4453128"/>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Steps 10–12</a:t>
            </a:r>
            <a:endParaRPr lang="en-US" sz="900" dirty="0"/>
          </a:p>
        </p:txBody>
      </p:sp>
      <p:sp>
        <p:nvSpPr>
          <p:cNvPr id="28" name="Shape 26"/>
          <p:cNvSpPr/>
          <p:nvPr/>
        </p:nvSpPr>
        <p:spPr>
          <a:xfrm>
            <a:off x="6400800" y="3429000"/>
            <a:ext cx="5486400" cy="1417320"/>
          </a:xfrm>
          <a:prstGeom prst="roundRect">
            <a:avLst>
              <a:gd name="adj" fmla="val 5161"/>
            </a:avLst>
          </a:prstGeom>
          <a:solidFill>
            <a:srgbClr val="1A2244"/>
          </a:solidFill>
          <a:ln w="12700">
            <a:solidFill>
              <a:srgbClr val="2A3560"/>
            </a:solidFill>
            <a:prstDash val="solid"/>
          </a:ln>
        </p:spPr>
      </p:sp>
      <p:sp>
        <p:nvSpPr>
          <p:cNvPr id="29" name="Shape 27"/>
          <p:cNvSpPr/>
          <p:nvPr/>
        </p:nvSpPr>
        <p:spPr>
          <a:xfrm>
            <a:off x="6400800" y="3429000"/>
            <a:ext cx="82296" cy="1417320"/>
          </a:xfrm>
          <a:prstGeom prst="rect">
            <a:avLst/>
          </a:prstGeom>
          <a:solidFill>
            <a:srgbClr val="14B8A6"/>
          </a:solidFill>
          <a:ln w="12700">
            <a:solidFill>
              <a:srgbClr val="14B8A6"/>
            </a:solidFill>
            <a:prstDash val="solid"/>
          </a:ln>
        </p:spPr>
      </p:sp>
      <p:sp>
        <p:nvSpPr>
          <p:cNvPr id="30" name="Shape 28"/>
          <p:cNvSpPr/>
          <p:nvPr/>
        </p:nvSpPr>
        <p:spPr>
          <a:xfrm>
            <a:off x="6675120" y="3749040"/>
            <a:ext cx="777240" cy="777240"/>
          </a:xfrm>
          <a:prstGeom prst="ellipse">
            <a:avLst/>
          </a:prstGeom>
          <a:solidFill>
            <a:srgbClr val="14B8A6"/>
          </a:solidFill>
          <a:ln w="19050">
            <a:solidFill>
              <a:srgbClr val="FFFFFF"/>
            </a:solidFill>
            <a:prstDash val="solid"/>
          </a:ln>
        </p:spPr>
      </p:sp>
      <p:sp>
        <p:nvSpPr>
          <p:cNvPr id="31" name="Text 29"/>
          <p:cNvSpPr/>
          <p:nvPr/>
        </p:nvSpPr>
        <p:spPr>
          <a:xfrm>
            <a:off x="6675120" y="374904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a:t>
            </a:r>
            <a:endParaRPr lang="en-US" sz="2800" dirty="0"/>
          </a:p>
        </p:txBody>
      </p:sp>
      <p:sp>
        <p:nvSpPr>
          <p:cNvPr id="32" name="Text 30"/>
          <p:cNvSpPr/>
          <p:nvPr/>
        </p:nvSpPr>
        <p:spPr>
          <a:xfrm>
            <a:off x="7589520" y="3611880"/>
            <a:ext cx="411480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Beyond tasks</a:t>
            </a:r>
            <a:endParaRPr lang="en-US" sz="1700" dirty="0"/>
          </a:p>
        </p:txBody>
      </p:sp>
      <p:sp>
        <p:nvSpPr>
          <p:cNvPr id="33" name="Text 31"/>
          <p:cNvSpPr/>
          <p:nvPr/>
        </p:nvSpPr>
        <p:spPr>
          <a:xfrm>
            <a:off x="7589520" y="3995928"/>
            <a:ext cx="4114800" cy="45720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Wins · My Practice · Nudge · Copilot Access · Projects</a:t>
            </a:r>
            <a:endParaRPr lang="en-US" sz="1000" dirty="0"/>
          </a:p>
        </p:txBody>
      </p:sp>
      <p:sp>
        <p:nvSpPr>
          <p:cNvPr id="34" name="Shape 32"/>
          <p:cNvSpPr/>
          <p:nvPr/>
        </p:nvSpPr>
        <p:spPr>
          <a:xfrm>
            <a:off x="7589520" y="4453128"/>
            <a:ext cx="1371600" cy="274320"/>
          </a:xfrm>
          <a:prstGeom prst="roundRect">
            <a:avLst>
              <a:gd name="adj" fmla="val 50000"/>
            </a:avLst>
          </a:prstGeom>
          <a:solidFill>
            <a:srgbClr val="14B8A6"/>
          </a:solidFill>
          <a:ln w="12700">
            <a:solidFill>
              <a:srgbClr val="14B8A6"/>
            </a:solidFill>
            <a:prstDash val="solid"/>
          </a:ln>
        </p:spPr>
      </p:sp>
      <p:sp>
        <p:nvSpPr>
          <p:cNvPr id="35" name="Text 33"/>
          <p:cNvSpPr/>
          <p:nvPr/>
        </p:nvSpPr>
        <p:spPr>
          <a:xfrm>
            <a:off x="7589520" y="4453128"/>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Steps 13–17</a:t>
            </a:r>
            <a:endParaRPr lang="en-US" sz="900" dirty="0"/>
          </a:p>
        </p:txBody>
      </p:sp>
      <p:sp>
        <p:nvSpPr>
          <p:cNvPr id="36" name="Shape 34"/>
          <p:cNvSpPr/>
          <p:nvPr/>
        </p:nvSpPr>
        <p:spPr>
          <a:xfrm>
            <a:off x="640080" y="5074920"/>
            <a:ext cx="5486400" cy="1417320"/>
          </a:xfrm>
          <a:prstGeom prst="roundRect">
            <a:avLst>
              <a:gd name="adj" fmla="val 5161"/>
            </a:avLst>
          </a:prstGeom>
          <a:solidFill>
            <a:srgbClr val="1A2244"/>
          </a:solidFill>
          <a:ln w="12700">
            <a:solidFill>
              <a:srgbClr val="2A3560"/>
            </a:solidFill>
            <a:prstDash val="solid"/>
          </a:ln>
        </p:spPr>
      </p:sp>
      <p:sp>
        <p:nvSpPr>
          <p:cNvPr id="37" name="Shape 35"/>
          <p:cNvSpPr/>
          <p:nvPr/>
        </p:nvSpPr>
        <p:spPr>
          <a:xfrm>
            <a:off x="640080" y="5074920"/>
            <a:ext cx="82296" cy="1417320"/>
          </a:xfrm>
          <a:prstGeom prst="rect">
            <a:avLst/>
          </a:prstGeom>
          <a:solidFill>
            <a:srgbClr val="10B981"/>
          </a:solidFill>
          <a:ln w="12700">
            <a:solidFill>
              <a:srgbClr val="10B981"/>
            </a:solidFill>
            <a:prstDash val="solid"/>
          </a:ln>
        </p:spPr>
      </p:sp>
      <p:sp>
        <p:nvSpPr>
          <p:cNvPr id="38" name="Shape 36"/>
          <p:cNvSpPr/>
          <p:nvPr/>
        </p:nvSpPr>
        <p:spPr>
          <a:xfrm>
            <a:off x="914400" y="5394960"/>
            <a:ext cx="777240" cy="777240"/>
          </a:xfrm>
          <a:prstGeom prst="ellipse">
            <a:avLst/>
          </a:prstGeom>
          <a:solidFill>
            <a:srgbClr val="10B981"/>
          </a:solidFill>
          <a:ln w="19050">
            <a:solidFill>
              <a:srgbClr val="FFFFFF"/>
            </a:solidFill>
            <a:prstDash val="solid"/>
          </a:ln>
        </p:spPr>
      </p:sp>
      <p:sp>
        <p:nvSpPr>
          <p:cNvPr id="39" name="Text 37"/>
          <p:cNvSpPr/>
          <p:nvPr/>
        </p:nvSpPr>
        <p:spPr>
          <a:xfrm>
            <a:off x="914400" y="53949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a:t>
            </a:r>
            <a:endParaRPr lang="en-US" sz="2800" dirty="0"/>
          </a:p>
        </p:txBody>
      </p:sp>
      <p:sp>
        <p:nvSpPr>
          <p:cNvPr id="40" name="Text 38"/>
          <p:cNvSpPr/>
          <p:nvPr/>
        </p:nvSpPr>
        <p:spPr>
          <a:xfrm>
            <a:off x="1828800" y="5257800"/>
            <a:ext cx="411480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Discover &amp; share</a:t>
            </a:r>
            <a:endParaRPr lang="en-US" sz="1700" dirty="0"/>
          </a:p>
        </p:txBody>
      </p:sp>
      <p:sp>
        <p:nvSpPr>
          <p:cNvPr id="41" name="Text 39"/>
          <p:cNvSpPr/>
          <p:nvPr/>
        </p:nvSpPr>
        <p:spPr>
          <a:xfrm>
            <a:off x="1828800" y="5641848"/>
            <a:ext cx="4114800" cy="45720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Leaderboard · Badges · Use Cases · Quick export · Export Center</a:t>
            </a:r>
            <a:endParaRPr lang="en-US" sz="1000" dirty="0"/>
          </a:p>
        </p:txBody>
      </p:sp>
      <p:sp>
        <p:nvSpPr>
          <p:cNvPr id="42" name="Shape 40"/>
          <p:cNvSpPr/>
          <p:nvPr/>
        </p:nvSpPr>
        <p:spPr>
          <a:xfrm>
            <a:off x="1828800" y="6099048"/>
            <a:ext cx="1371600" cy="274320"/>
          </a:xfrm>
          <a:prstGeom prst="roundRect">
            <a:avLst>
              <a:gd name="adj" fmla="val 50000"/>
            </a:avLst>
          </a:prstGeom>
          <a:solidFill>
            <a:srgbClr val="10B981"/>
          </a:solidFill>
          <a:ln w="12700">
            <a:solidFill>
              <a:srgbClr val="10B981"/>
            </a:solidFill>
            <a:prstDash val="solid"/>
          </a:ln>
        </p:spPr>
      </p:sp>
      <p:sp>
        <p:nvSpPr>
          <p:cNvPr id="43" name="Text 41"/>
          <p:cNvSpPr/>
          <p:nvPr/>
        </p:nvSpPr>
        <p:spPr>
          <a:xfrm>
            <a:off x="1828800" y="6099048"/>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Steps 18–22</a:t>
            </a:r>
            <a:endParaRPr lang="en-US" sz="900" dirty="0"/>
          </a:p>
        </p:txBody>
      </p:sp>
      <p:sp>
        <p:nvSpPr>
          <p:cNvPr id="44" name="Shape 42"/>
          <p:cNvSpPr/>
          <p:nvPr/>
        </p:nvSpPr>
        <p:spPr>
          <a:xfrm>
            <a:off x="6400800" y="5074920"/>
            <a:ext cx="5486400" cy="1417320"/>
          </a:xfrm>
          <a:prstGeom prst="roundRect">
            <a:avLst>
              <a:gd name="adj" fmla="val 5161"/>
            </a:avLst>
          </a:prstGeom>
          <a:solidFill>
            <a:srgbClr val="1A2244"/>
          </a:solidFill>
          <a:ln w="12700">
            <a:solidFill>
              <a:srgbClr val="2A3560"/>
            </a:solidFill>
            <a:prstDash val="solid"/>
          </a:ln>
        </p:spPr>
      </p:sp>
      <p:sp>
        <p:nvSpPr>
          <p:cNvPr id="45" name="Shape 43"/>
          <p:cNvSpPr/>
          <p:nvPr/>
        </p:nvSpPr>
        <p:spPr>
          <a:xfrm>
            <a:off x="6400800" y="5074920"/>
            <a:ext cx="82296" cy="1417320"/>
          </a:xfrm>
          <a:prstGeom prst="rect">
            <a:avLst/>
          </a:prstGeom>
          <a:solidFill>
            <a:srgbClr val="F59E0B"/>
          </a:solidFill>
          <a:ln w="12700">
            <a:solidFill>
              <a:srgbClr val="F59E0B"/>
            </a:solidFill>
            <a:prstDash val="solid"/>
          </a:ln>
        </p:spPr>
      </p:sp>
      <p:sp>
        <p:nvSpPr>
          <p:cNvPr id="46" name="Shape 44"/>
          <p:cNvSpPr/>
          <p:nvPr/>
        </p:nvSpPr>
        <p:spPr>
          <a:xfrm>
            <a:off x="6675120" y="5394960"/>
            <a:ext cx="777240" cy="777240"/>
          </a:xfrm>
          <a:prstGeom prst="ellipse">
            <a:avLst/>
          </a:prstGeom>
          <a:solidFill>
            <a:srgbClr val="F59E0B"/>
          </a:solidFill>
          <a:ln w="19050">
            <a:solidFill>
              <a:srgbClr val="FFFFFF"/>
            </a:solidFill>
            <a:prstDash val="solid"/>
          </a:ln>
        </p:spPr>
      </p:sp>
      <p:sp>
        <p:nvSpPr>
          <p:cNvPr id="47" name="Text 45"/>
          <p:cNvSpPr/>
          <p:nvPr/>
        </p:nvSpPr>
        <p:spPr>
          <a:xfrm>
            <a:off x="6675120" y="53949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a:t>
            </a:r>
            <a:endParaRPr lang="en-US" sz="2800" dirty="0"/>
          </a:p>
        </p:txBody>
      </p:sp>
      <p:sp>
        <p:nvSpPr>
          <p:cNvPr id="48" name="Text 46"/>
          <p:cNvSpPr/>
          <p:nvPr/>
        </p:nvSpPr>
        <p:spPr>
          <a:xfrm>
            <a:off x="7589520" y="5257800"/>
            <a:ext cx="411480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Admin &amp; help</a:t>
            </a:r>
            <a:endParaRPr lang="en-US" sz="1700" dirty="0"/>
          </a:p>
        </p:txBody>
      </p:sp>
      <p:sp>
        <p:nvSpPr>
          <p:cNvPr id="49" name="Text 47"/>
          <p:cNvSpPr/>
          <p:nvPr/>
        </p:nvSpPr>
        <p:spPr>
          <a:xfrm>
            <a:off x="7589520" y="5641848"/>
            <a:ext cx="4114800" cy="45720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All Practices · Admin approvals · Backup · FAQ</a:t>
            </a:r>
            <a:endParaRPr lang="en-US" sz="1000" dirty="0"/>
          </a:p>
        </p:txBody>
      </p:sp>
      <p:sp>
        <p:nvSpPr>
          <p:cNvPr id="50" name="Shape 48"/>
          <p:cNvSpPr/>
          <p:nvPr/>
        </p:nvSpPr>
        <p:spPr>
          <a:xfrm>
            <a:off x="7589520" y="6099048"/>
            <a:ext cx="1371600" cy="274320"/>
          </a:xfrm>
          <a:prstGeom prst="roundRect">
            <a:avLst>
              <a:gd name="adj" fmla="val 50000"/>
            </a:avLst>
          </a:prstGeom>
          <a:solidFill>
            <a:srgbClr val="F59E0B"/>
          </a:solidFill>
          <a:ln w="12700">
            <a:solidFill>
              <a:srgbClr val="F59E0B"/>
            </a:solidFill>
            <a:prstDash val="solid"/>
          </a:ln>
        </p:spPr>
      </p:sp>
      <p:sp>
        <p:nvSpPr>
          <p:cNvPr id="51" name="Text 49"/>
          <p:cNvSpPr/>
          <p:nvPr/>
        </p:nvSpPr>
        <p:spPr>
          <a:xfrm>
            <a:off x="7589520" y="6099048"/>
            <a:ext cx="13716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Steps 23–24</a:t>
            </a:r>
            <a:endParaRPr lang="en-US" sz="900" dirty="0"/>
          </a:p>
        </p:txBody>
      </p:sp>
      <p:sp>
        <p:nvSpPr>
          <p:cNvPr id="52" name="Text 50"/>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53" name="Text 51"/>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 / 28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Who sees what — role matrix</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The sidebar adapts to your role. Three roles: Contributor, SPOC, Admin.</a:t>
            </a:r>
            <a:endParaRPr lang="en-US" sz="1400" dirty="0"/>
          </a:p>
        </p:txBody>
      </p:sp>
      <p:sp>
        <p:nvSpPr>
          <p:cNvPr id="4" name="Shape 2"/>
          <p:cNvSpPr/>
          <p:nvPr/>
        </p:nvSpPr>
        <p:spPr>
          <a:xfrm>
            <a:off x="502920" y="1737360"/>
            <a:ext cx="3703320" cy="4754880"/>
          </a:xfrm>
          <a:prstGeom prst="roundRect">
            <a:avLst>
              <a:gd name="adj" fmla="val 1975"/>
            </a:avLst>
          </a:prstGeom>
          <a:solidFill>
            <a:srgbClr val="1A2244"/>
          </a:solidFill>
          <a:ln w="12700">
            <a:solidFill>
              <a:srgbClr val="2A3560"/>
            </a:solidFill>
            <a:prstDash val="solid"/>
          </a:ln>
        </p:spPr>
      </p:sp>
      <p:sp>
        <p:nvSpPr>
          <p:cNvPr id="5" name="Shape 3"/>
          <p:cNvSpPr/>
          <p:nvPr/>
        </p:nvSpPr>
        <p:spPr>
          <a:xfrm>
            <a:off x="502920" y="1737360"/>
            <a:ext cx="3703320" cy="457200"/>
          </a:xfrm>
          <a:prstGeom prst="rect">
            <a:avLst/>
          </a:prstGeom>
          <a:solidFill>
            <a:srgbClr val="3B82F6"/>
          </a:solidFill>
          <a:ln w="12700">
            <a:solidFill>
              <a:srgbClr val="3B82F6"/>
            </a:solidFill>
            <a:prstDash val="solid"/>
          </a:ln>
        </p:spPr>
      </p:sp>
      <p:sp>
        <p:nvSpPr>
          <p:cNvPr id="6" name="Text 4"/>
          <p:cNvSpPr/>
          <p:nvPr/>
        </p:nvSpPr>
        <p:spPr>
          <a:xfrm>
            <a:off x="640080" y="1737360"/>
            <a:ext cx="347472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Contributor</a:t>
            </a:r>
            <a:endParaRPr lang="en-US" sz="1800" dirty="0"/>
          </a:p>
        </p:txBody>
      </p:sp>
      <p:sp>
        <p:nvSpPr>
          <p:cNvPr id="7" name="Text 5"/>
          <p:cNvSpPr/>
          <p:nvPr/>
        </p:nvSpPr>
        <p:spPr>
          <a:xfrm>
            <a:off x="640080" y="2286000"/>
            <a:ext cx="3474720" cy="320040"/>
          </a:xfrm>
          <a:prstGeom prst="rect">
            <a:avLst/>
          </a:prstGeom>
          <a:noFill/>
          <a:ln/>
        </p:spPr>
        <p:txBody>
          <a:bodyPr wrap="square" lIns="0" tIns="0" rIns="0" bIns="0" rtlCol="0" anchor="ctr"/>
          <a:lstStyle/>
          <a:p>
            <a:pPr indent="0" marL="0">
              <a:buNone/>
            </a:pPr>
            <a:r>
              <a:rPr lang="en-US" sz="1000" i="1" dirty="0">
                <a:solidFill>
                  <a:srgbClr val="CADCFC"/>
                </a:solidFill>
                <a:latin typeface="Calibri" pitchFamily="34" charset="0"/>
                <a:ea typeface="Calibri" pitchFamily="34" charset="-122"/>
                <a:cs typeface="Calibri" pitchFamily="34" charset="-120"/>
              </a:rPr>
              <a:t>Everyone with a Copilot license</a:t>
            </a:r>
            <a:endParaRPr lang="en-US" sz="1000" dirty="0"/>
          </a:p>
        </p:txBody>
      </p:sp>
      <p:sp>
        <p:nvSpPr>
          <p:cNvPr id="8" name="Text 6"/>
          <p:cNvSpPr/>
          <p:nvPr/>
        </p:nvSpPr>
        <p:spPr>
          <a:xfrm>
            <a:off x="640080" y="2651760"/>
            <a:ext cx="3474720" cy="228600"/>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Sees in the sidebar</a:t>
            </a:r>
            <a:endParaRPr lang="en-US" sz="1000" dirty="0"/>
          </a:p>
        </p:txBody>
      </p:sp>
      <p:sp>
        <p:nvSpPr>
          <p:cNvPr id="9" name="Text 7"/>
          <p:cNvSpPr/>
          <p:nvPr/>
        </p:nvSpPr>
        <p:spPr>
          <a:xfrm>
            <a:off x="640080" y="2880360"/>
            <a:ext cx="3474720" cy="1600200"/>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FFFFFF"/>
                </a:solidFill>
              </a:rPr>
              <a:t>Dashboard</a:t>
            </a:r>
            <a:endParaRPr lang="en-US" sz="900" dirty="0"/>
          </a:p>
          <a:p>
            <a:pPr marL="342900" indent="-342900">
              <a:spcAft>
                <a:spcPts val="200"/>
              </a:spcAft>
              <a:buSzPct val="100000"/>
              <a:buChar char="▪"/>
            </a:pPr>
            <a:r>
              <a:rPr lang="en-US" sz="900" dirty="0">
                <a:solidFill>
                  <a:srgbClr val="FFFFFF"/>
                </a:solidFill>
              </a:rPr>
              <a:t>Leaderboard</a:t>
            </a:r>
            <a:endParaRPr lang="en-US" sz="900" dirty="0"/>
          </a:p>
          <a:p>
            <a:pPr marL="342900" indent="-342900">
              <a:spcAft>
                <a:spcPts val="200"/>
              </a:spcAft>
              <a:buSzPct val="100000"/>
              <a:buChar char="▪"/>
            </a:pPr>
            <a:r>
              <a:rPr lang="en-US" sz="900" dirty="0">
                <a:solidFill>
                  <a:srgbClr val="FFFFFF"/>
                </a:solidFill>
              </a:rPr>
              <a:t>Use Case Library</a:t>
            </a:r>
            <a:endParaRPr lang="en-US" sz="900" dirty="0"/>
          </a:p>
          <a:p>
            <a:pPr marL="342900" indent="-342900">
              <a:spcAft>
                <a:spcPts val="200"/>
              </a:spcAft>
              <a:buSzPct val="100000"/>
              <a:buChar char="▪"/>
            </a:pPr>
            <a:r>
              <a:rPr lang="en-US" sz="900" dirty="0">
                <a:solidFill>
                  <a:srgbClr val="FFFFFF"/>
                </a:solidFill>
              </a:rPr>
              <a:t>— My Work —</a:t>
            </a:r>
            <a:endParaRPr lang="en-US" sz="900" dirty="0"/>
          </a:p>
          <a:p>
            <a:pPr marL="342900" indent="-342900">
              <a:spcAft>
                <a:spcPts val="200"/>
              </a:spcAft>
              <a:buSzPct val="100000"/>
              <a:buChar char="▪"/>
            </a:pPr>
            <a:r>
              <a:rPr lang="en-US" sz="900" dirty="0">
                <a:solidFill>
                  <a:srgbClr val="FFFFFF"/>
                </a:solidFill>
              </a:rPr>
              <a:t>My Tasks</a:t>
            </a:r>
            <a:endParaRPr lang="en-US" sz="900" dirty="0"/>
          </a:p>
          <a:p>
            <a:pPr marL="342900" indent="-342900">
              <a:spcAft>
                <a:spcPts val="200"/>
              </a:spcAft>
              <a:buSzPct val="100000"/>
              <a:buChar char="▪"/>
            </a:pPr>
            <a:r>
              <a:rPr lang="en-US" sz="900" dirty="0">
                <a:solidFill>
                  <a:srgbClr val="FFFFFF"/>
                </a:solidFill>
              </a:rPr>
              <a:t>Task Status</a:t>
            </a:r>
            <a:endParaRPr lang="en-US" sz="900" dirty="0"/>
          </a:p>
        </p:txBody>
      </p:sp>
      <p:sp>
        <p:nvSpPr>
          <p:cNvPr id="10" name="Text 8"/>
          <p:cNvSpPr/>
          <p:nvPr/>
        </p:nvSpPr>
        <p:spPr>
          <a:xfrm>
            <a:off x="640080" y="4526280"/>
            <a:ext cx="3474720" cy="228600"/>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Can do</a:t>
            </a:r>
            <a:endParaRPr lang="en-US" sz="1000" dirty="0"/>
          </a:p>
        </p:txBody>
      </p:sp>
      <p:sp>
        <p:nvSpPr>
          <p:cNvPr id="11" name="Text 9"/>
          <p:cNvSpPr/>
          <p:nvPr/>
        </p:nvSpPr>
        <p:spPr>
          <a:xfrm>
            <a:off x="640080" y="4754880"/>
            <a:ext cx="3474720" cy="1691640"/>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CADCFC"/>
                </a:solidFill>
              </a:rPr>
              <a:t>Log AI tasks</a:t>
            </a:r>
            <a:endParaRPr lang="en-US" sz="900" dirty="0"/>
          </a:p>
          <a:p>
            <a:pPr marL="342900" indent="-342900">
              <a:spcAft>
                <a:spcPts val="200"/>
              </a:spcAft>
              <a:buSzPct val="100000"/>
              <a:buChar char="✓"/>
            </a:pPr>
            <a:r>
              <a:rPr lang="en-US" sz="900" dirty="0">
                <a:solidFill>
                  <a:srgbClr val="CADCFC"/>
                </a:solidFill>
              </a:rPr>
              <a:t>Resubmit rejected</a:t>
            </a:r>
            <a:endParaRPr lang="en-US" sz="900" dirty="0"/>
          </a:p>
          <a:p>
            <a:pPr marL="342900" indent="-342900">
              <a:spcAft>
                <a:spcPts val="200"/>
              </a:spcAft>
              <a:buSzPct val="100000"/>
              <a:buChar char="✓"/>
            </a:pPr>
            <a:r>
              <a:rPr lang="en-US" sz="900" dirty="0">
                <a:solidFill>
                  <a:srgbClr val="CADCFC"/>
                </a:solidFill>
              </a:rPr>
              <a:t>See own approval history</a:t>
            </a:r>
            <a:endParaRPr lang="en-US" sz="900" dirty="0"/>
          </a:p>
        </p:txBody>
      </p:sp>
      <p:sp>
        <p:nvSpPr>
          <p:cNvPr id="12" name="Shape 10"/>
          <p:cNvSpPr/>
          <p:nvPr/>
        </p:nvSpPr>
        <p:spPr>
          <a:xfrm>
            <a:off x="4434840" y="1737360"/>
            <a:ext cx="3703320" cy="4754880"/>
          </a:xfrm>
          <a:prstGeom prst="roundRect">
            <a:avLst>
              <a:gd name="adj" fmla="val 1975"/>
            </a:avLst>
          </a:prstGeom>
          <a:solidFill>
            <a:srgbClr val="1A2244"/>
          </a:solidFill>
          <a:ln w="12700">
            <a:solidFill>
              <a:srgbClr val="2A3560"/>
            </a:solidFill>
            <a:prstDash val="solid"/>
          </a:ln>
        </p:spPr>
      </p:sp>
      <p:sp>
        <p:nvSpPr>
          <p:cNvPr id="13" name="Shape 11"/>
          <p:cNvSpPr/>
          <p:nvPr/>
        </p:nvSpPr>
        <p:spPr>
          <a:xfrm>
            <a:off x="4434840" y="1737360"/>
            <a:ext cx="3703320" cy="457200"/>
          </a:xfrm>
          <a:prstGeom prst="rect">
            <a:avLst/>
          </a:prstGeom>
          <a:solidFill>
            <a:srgbClr val="6366F1"/>
          </a:solidFill>
          <a:ln w="12700">
            <a:solidFill>
              <a:srgbClr val="6366F1"/>
            </a:solidFill>
            <a:prstDash val="solid"/>
          </a:ln>
        </p:spPr>
      </p:sp>
      <p:sp>
        <p:nvSpPr>
          <p:cNvPr id="14" name="Text 12"/>
          <p:cNvSpPr/>
          <p:nvPr/>
        </p:nvSpPr>
        <p:spPr>
          <a:xfrm>
            <a:off x="4572000" y="1737360"/>
            <a:ext cx="347472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SPOC</a:t>
            </a:r>
            <a:endParaRPr lang="en-US" sz="1800" dirty="0"/>
          </a:p>
        </p:txBody>
      </p:sp>
      <p:sp>
        <p:nvSpPr>
          <p:cNvPr id="15" name="Text 13"/>
          <p:cNvSpPr/>
          <p:nvPr/>
        </p:nvSpPr>
        <p:spPr>
          <a:xfrm>
            <a:off x="4572000" y="2286000"/>
            <a:ext cx="3474720" cy="320040"/>
          </a:xfrm>
          <a:prstGeom prst="rect">
            <a:avLst/>
          </a:prstGeom>
          <a:noFill/>
          <a:ln/>
        </p:spPr>
        <p:txBody>
          <a:bodyPr wrap="square" lIns="0" tIns="0" rIns="0" bIns="0" rtlCol="0" anchor="ctr"/>
          <a:lstStyle/>
          <a:p>
            <a:pPr indent="0" marL="0">
              <a:buNone/>
            </a:pPr>
            <a:r>
              <a:rPr lang="en-US" sz="1000" i="1" dirty="0">
                <a:solidFill>
                  <a:srgbClr val="CADCFC"/>
                </a:solidFill>
                <a:latin typeface="Calibri" pitchFamily="34" charset="0"/>
                <a:ea typeface="Calibri" pitchFamily="34" charset="-122"/>
                <a:cs typeface="Calibri" pitchFamily="34" charset="-120"/>
              </a:rPr>
              <a:t>One per practice (CES, ERP, EPS, EPCS, GRC, BFSI)</a:t>
            </a:r>
            <a:endParaRPr lang="en-US" sz="1000" dirty="0"/>
          </a:p>
        </p:txBody>
      </p:sp>
      <p:sp>
        <p:nvSpPr>
          <p:cNvPr id="16" name="Text 14"/>
          <p:cNvSpPr/>
          <p:nvPr/>
        </p:nvSpPr>
        <p:spPr>
          <a:xfrm>
            <a:off x="4572000" y="2651760"/>
            <a:ext cx="3474720" cy="228600"/>
          </a:xfrm>
          <a:prstGeom prst="rect">
            <a:avLst/>
          </a:prstGeom>
          <a:noFill/>
          <a:ln/>
        </p:spPr>
        <p:txBody>
          <a:bodyPr wrap="square" lIns="0" tIns="0" rIns="0" bIns="0" rtlCol="0" anchor="ctr"/>
          <a:lstStyle/>
          <a:p>
            <a:pPr indent="0" marL="0">
              <a:buNone/>
            </a:pPr>
            <a:r>
              <a:rPr lang="en-US" sz="1000" b="1" dirty="0">
                <a:solidFill>
                  <a:srgbClr val="6366F1"/>
                </a:solidFill>
                <a:latin typeface="Calibri" pitchFamily="34" charset="0"/>
                <a:ea typeface="Calibri" pitchFamily="34" charset="-122"/>
                <a:cs typeface="Calibri" pitchFamily="34" charset="-120"/>
              </a:rPr>
              <a:t>Sees in the sidebar</a:t>
            </a:r>
            <a:endParaRPr lang="en-US" sz="1000" dirty="0"/>
          </a:p>
        </p:txBody>
      </p:sp>
      <p:sp>
        <p:nvSpPr>
          <p:cNvPr id="17" name="Text 15"/>
          <p:cNvSpPr/>
          <p:nvPr/>
        </p:nvSpPr>
        <p:spPr>
          <a:xfrm>
            <a:off x="4572000" y="2880360"/>
            <a:ext cx="3474720" cy="1600200"/>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FFFFFF"/>
                </a:solidFill>
              </a:rPr>
              <a:t>Everything a contributor sees, plus:</a:t>
            </a:r>
            <a:endParaRPr lang="en-US" sz="900" dirty="0"/>
          </a:p>
          <a:p>
            <a:pPr marL="342900" indent="-342900">
              <a:spcAft>
                <a:spcPts val="200"/>
              </a:spcAft>
              <a:buSzPct val="100000"/>
              <a:buChar char="▪"/>
            </a:pPr>
            <a:r>
              <a:rPr lang="en-US" sz="900" dirty="0">
                <a:solidFill>
                  <a:srgbClr val="FFFFFF"/>
                </a:solidFill>
              </a:rPr>
              <a:t>My Practice</a:t>
            </a:r>
            <a:endParaRPr lang="en-US" sz="900" dirty="0"/>
          </a:p>
          <a:p>
            <a:pPr marL="342900" indent="-342900">
              <a:spcAft>
                <a:spcPts val="200"/>
              </a:spcAft>
              <a:buSzPct val="100000"/>
              <a:buChar char="▪"/>
            </a:pPr>
            <a:r>
              <a:rPr lang="en-US" sz="900" dirty="0">
                <a:solidFill>
                  <a:srgbClr val="FFFFFF"/>
                </a:solidFill>
              </a:rPr>
              <a:t>All Tasks (practice)</a:t>
            </a:r>
            <a:endParaRPr lang="en-US" sz="900" dirty="0"/>
          </a:p>
          <a:p>
            <a:pPr marL="342900" indent="-342900">
              <a:spcAft>
                <a:spcPts val="200"/>
              </a:spcAft>
              <a:buSzPct val="100000"/>
              <a:buChar char="▪"/>
            </a:pPr>
            <a:r>
              <a:rPr lang="en-US" sz="900" dirty="0">
                <a:solidFill>
                  <a:srgbClr val="FFFFFF"/>
                </a:solidFill>
              </a:rPr>
              <a:t>Accomplishments</a:t>
            </a:r>
            <a:endParaRPr lang="en-US" sz="900" dirty="0"/>
          </a:p>
          <a:p>
            <a:pPr marL="342900" indent="-342900">
              <a:spcAft>
                <a:spcPts val="200"/>
              </a:spcAft>
              <a:buSzPct val="100000"/>
              <a:buChar char="▪"/>
            </a:pPr>
            <a:r>
              <a:rPr lang="en-US" sz="900" dirty="0">
                <a:solidFill>
                  <a:srgbClr val="FFFFFF"/>
                </a:solidFill>
              </a:rPr>
              <a:t>Approvals (SPOC layer)</a:t>
            </a:r>
            <a:endParaRPr lang="en-US" sz="900" dirty="0"/>
          </a:p>
          <a:p>
            <a:pPr marL="342900" indent="-342900">
              <a:spcAft>
                <a:spcPts val="200"/>
              </a:spcAft>
              <a:buSzPct val="100000"/>
              <a:buChar char="▪"/>
            </a:pPr>
            <a:r>
              <a:rPr lang="en-US" sz="900" dirty="0">
                <a:solidFill>
                  <a:srgbClr val="FFFFFF"/>
                </a:solidFill>
              </a:rPr>
              <a:t>Copilot Access</a:t>
            </a:r>
            <a:endParaRPr lang="en-US" sz="900" dirty="0"/>
          </a:p>
          <a:p>
            <a:pPr marL="342900" indent="-342900">
              <a:spcAft>
                <a:spcPts val="200"/>
              </a:spcAft>
              <a:buSzPct val="100000"/>
              <a:buChar char="▪"/>
            </a:pPr>
            <a:r>
              <a:rPr lang="en-US" sz="900" dirty="0">
                <a:solidFill>
                  <a:srgbClr val="FFFFFF"/>
                </a:solidFill>
              </a:rPr>
              <a:t>Projects</a:t>
            </a:r>
            <a:endParaRPr lang="en-US" sz="900" dirty="0"/>
          </a:p>
        </p:txBody>
      </p:sp>
      <p:sp>
        <p:nvSpPr>
          <p:cNvPr id="18" name="Text 16"/>
          <p:cNvSpPr/>
          <p:nvPr/>
        </p:nvSpPr>
        <p:spPr>
          <a:xfrm>
            <a:off x="4572000" y="4526280"/>
            <a:ext cx="3474720" cy="228600"/>
          </a:xfrm>
          <a:prstGeom prst="rect">
            <a:avLst/>
          </a:prstGeom>
          <a:noFill/>
          <a:ln/>
        </p:spPr>
        <p:txBody>
          <a:bodyPr wrap="square" lIns="0" tIns="0" rIns="0" bIns="0" rtlCol="0" anchor="ctr"/>
          <a:lstStyle/>
          <a:p>
            <a:pPr indent="0" marL="0">
              <a:buNone/>
            </a:pPr>
            <a:r>
              <a:rPr lang="en-US" sz="1000" b="1" dirty="0">
                <a:solidFill>
                  <a:srgbClr val="6366F1"/>
                </a:solidFill>
                <a:latin typeface="Calibri" pitchFamily="34" charset="0"/>
                <a:ea typeface="Calibri" pitchFamily="34" charset="-122"/>
                <a:cs typeface="Calibri" pitchFamily="34" charset="-120"/>
              </a:rPr>
              <a:t>Can do</a:t>
            </a:r>
            <a:endParaRPr lang="en-US" sz="1000" dirty="0"/>
          </a:p>
        </p:txBody>
      </p:sp>
      <p:sp>
        <p:nvSpPr>
          <p:cNvPr id="19" name="Text 17"/>
          <p:cNvSpPr/>
          <p:nvPr/>
        </p:nvSpPr>
        <p:spPr>
          <a:xfrm>
            <a:off x="4572000" y="4754880"/>
            <a:ext cx="3474720" cy="1691640"/>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CADCFC"/>
                </a:solidFill>
              </a:rPr>
              <a:t>Approve / reject &lt;15h tasks</a:t>
            </a:r>
            <a:endParaRPr lang="en-US" sz="900" dirty="0"/>
          </a:p>
          <a:p>
            <a:pPr marL="342900" indent="-342900">
              <a:spcAft>
                <a:spcPts val="200"/>
              </a:spcAft>
              <a:buSzPct val="100000"/>
              <a:buChar char="✓"/>
            </a:pPr>
            <a:r>
              <a:rPr lang="en-US" sz="900" dirty="0">
                <a:solidFill>
                  <a:srgbClr val="CADCFC"/>
                </a:solidFill>
              </a:rPr>
              <a:t>Add wins</a:t>
            </a:r>
            <a:endParaRPr lang="en-US" sz="900" dirty="0"/>
          </a:p>
          <a:p>
            <a:pPr marL="342900" indent="-342900">
              <a:spcAft>
                <a:spcPts val="200"/>
              </a:spcAft>
              <a:buSzPct val="100000"/>
              <a:buChar char="✓"/>
            </a:pPr>
            <a:r>
              <a:rPr lang="en-US" sz="900" dirty="0">
                <a:solidFill>
                  <a:srgbClr val="CADCFC"/>
                </a:solidFill>
              </a:rPr>
              <a:t>Nudge inactive members</a:t>
            </a:r>
            <a:endParaRPr lang="en-US" sz="900" dirty="0"/>
          </a:p>
          <a:p>
            <a:pPr marL="342900" indent="-342900">
              <a:spcAft>
                <a:spcPts val="200"/>
              </a:spcAft>
              <a:buSzPct val="100000"/>
              <a:buChar char="✓"/>
            </a:pPr>
            <a:r>
              <a:rPr lang="en-US" sz="900" dirty="0">
                <a:solidFill>
                  <a:srgbClr val="CADCFC"/>
                </a:solidFill>
              </a:rPr>
              <a:t>Manage Copilot users</a:t>
            </a:r>
            <a:endParaRPr lang="en-US" sz="900" dirty="0"/>
          </a:p>
        </p:txBody>
      </p:sp>
      <p:sp>
        <p:nvSpPr>
          <p:cNvPr id="20" name="Shape 18"/>
          <p:cNvSpPr/>
          <p:nvPr/>
        </p:nvSpPr>
        <p:spPr>
          <a:xfrm>
            <a:off x="8366760" y="1737360"/>
            <a:ext cx="3703320" cy="4754880"/>
          </a:xfrm>
          <a:prstGeom prst="roundRect">
            <a:avLst>
              <a:gd name="adj" fmla="val 1975"/>
            </a:avLst>
          </a:prstGeom>
          <a:solidFill>
            <a:srgbClr val="1A2244"/>
          </a:solidFill>
          <a:ln w="12700">
            <a:solidFill>
              <a:srgbClr val="2A3560"/>
            </a:solidFill>
            <a:prstDash val="solid"/>
          </a:ln>
        </p:spPr>
      </p:sp>
      <p:sp>
        <p:nvSpPr>
          <p:cNvPr id="21" name="Shape 19"/>
          <p:cNvSpPr/>
          <p:nvPr/>
        </p:nvSpPr>
        <p:spPr>
          <a:xfrm>
            <a:off x="8366760" y="1737360"/>
            <a:ext cx="3703320" cy="457200"/>
          </a:xfrm>
          <a:prstGeom prst="rect">
            <a:avLst/>
          </a:prstGeom>
          <a:solidFill>
            <a:srgbClr val="10B981"/>
          </a:solidFill>
          <a:ln w="12700">
            <a:solidFill>
              <a:srgbClr val="10B981"/>
            </a:solidFill>
            <a:prstDash val="solid"/>
          </a:ln>
        </p:spPr>
      </p:sp>
      <p:sp>
        <p:nvSpPr>
          <p:cNvPr id="22" name="Text 20"/>
          <p:cNvSpPr/>
          <p:nvPr/>
        </p:nvSpPr>
        <p:spPr>
          <a:xfrm>
            <a:off x="8503920" y="1737360"/>
            <a:ext cx="347472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Admin</a:t>
            </a:r>
            <a:endParaRPr lang="en-US" sz="1800" dirty="0"/>
          </a:p>
        </p:txBody>
      </p:sp>
      <p:sp>
        <p:nvSpPr>
          <p:cNvPr id="23" name="Text 21"/>
          <p:cNvSpPr/>
          <p:nvPr/>
        </p:nvSpPr>
        <p:spPr>
          <a:xfrm>
            <a:off x="8503920" y="2286000"/>
            <a:ext cx="3474720" cy="320040"/>
          </a:xfrm>
          <a:prstGeom prst="rect">
            <a:avLst/>
          </a:prstGeom>
          <a:noFill/>
          <a:ln/>
        </p:spPr>
        <p:txBody>
          <a:bodyPr wrap="square" lIns="0" tIns="0" rIns="0" bIns="0" rtlCol="0" anchor="ctr"/>
          <a:lstStyle/>
          <a:p>
            <a:pPr indent="0" marL="0">
              <a:buNone/>
            </a:pPr>
            <a:r>
              <a:rPr lang="en-US" sz="1000" i="1" dirty="0">
                <a:solidFill>
                  <a:srgbClr val="CADCFC"/>
                </a:solidFill>
                <a:latin typeface="Calibri" pitchFamily="34" charset="0"/>
                <a:ea typeface="Calibri" pitchFamily="34" charset="-122"/>
                <a:cs typeface="Calibri" pitchFamily="34" charset="-120"/>
              </a:rPr>
              <a:t>Omar Ibrahim — Overall AI SPOC</a:t>
            </a:r>
            <a:endParaRPr lang="en-US" sz="1000" dirty="0"/>
          </a:p>
        </p:txBody>
      </p:sp>
      <p:sp>
        <p:nvSpPr>
          <p:cNvPr id="24" name="Text 22"/>
          <p:cNvSpPr/>
          <p:nvPr/>
        </p:nvSpPr>
        <p:spPr>
          <a:xfrm>
            <a:off x="8503920" y="2651760"/>
            <a:ext cx="3474720" cy="228600"/>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Sees in the sidebar</a:t>
            </a:r>
            <a:endParaRPr lang="en-US" sz="1000" dirty="0"/>
          </a:p>
        </p:txBody>
      </p:sp>
      <p:sp>
        <p:nvSpPr>
          <p:cNvPr id="25" name="Text 23"/>
          <p:cNvSpPr/>
          <p:nvPr/>
        </p:nvSpPr>
        <p:spPr>
          <a:xfrm>
            <a:off x="8503920" y="2880360"/>
            <a:ext cx="3474720" cy="1600200"/>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FFFFFF"/>
                </a:solidFill>
              </a:rPr>
              <a:t>Everything a SPOC sees, plus:</a:t>
            </a:r>
            <a:endParaRPr lang="en-US" sz="900" dirty="0"/>
          </a:p>
          <a:p>
            <a:pPr marL="342900" indent="-342900">
              <a:spcAft>
                <a:spcPts val="200"/>
              </a:spcAft>
              <a:buSzPct val="100000"/>
              <a:buChar char="▪"/>
            </a:pPr>
            <a:r>
              <a:rPr lang="en-US" sz="900" dirty="0">
                <a:solidFill>
                  <a:srgbClr val="FFFFFF"/>
                </a:solidFill>
              </a:rPr>
              <a:t>All Practices (6)</a:t>
            </a:r>
            <a:endParaRPr lang="en-US" sz="900" dirty="0"/>
          </a:p>
          <a:p>
            <a:pPr marL="342900" indent="-342900">
              <a:spcAft>
                <a:spcPts val="200"/>
              </a:spcAft>
              <a:buSzPct val="100000"/>
              <a:buChar char="▪"/>
            </a:pPr>
            <a:r>
              <a:rPr lang="en-US" sz="900" dirty="0">
                <a:solidFill>
                  <a:srgbClr val="FFFFFF"/>
                </a:solidFill>
              </a:rPr>
              <a:t>Approvals (Admin layer, ≥15h)</a:t>
            </a:r>
            <a:endParaRPr lang="en-US" sz="900" dirty="0"/>
          </a:p>
          <a:p>
            <a:pPr marL="342900" indent="-342900">
              <a:spcAft>
                <a:spcPts val="200"/>
              </a:spcAft>
              <a:buSzPct val="100000"/>
              <a:buChar char="▪"/>
            </a:pPr>
            <a:r>
              <a:rPr lang="en-US" sz="900" dirty="0">
                <a:solidFill>
                  <a:srgbClr val="FFFFFF"/>
                </a:solidFill>
              </a:rPr>
              <a:t>Backup Data</a:t>
            </a:r>
            <a:endParaRPr lang="en-US" sz="900" dirty="0"/>
          </a:p>
          <a:p>
            <a:pPr marL="342900" indent="-342900">
              <a:spcAft>
                <a:spcPts val="200"/>
              </a:spcAft>
              <a:buSzPct val="100000"/>
              <a:buChar char="▪"/>
            </a:pPr>
            <a:r>
              <a:rPr lang="en-US" sz="900" dirty="0">
                <a:solidFill>
                  <a:srgbClr val="FFFFFF"/>
                </a:solidFill>
              </a:rPr>
              <a:t>Full Export Center</a:t>
            </a:r>
            <a:endParaRPr lang="en-US" sz="900" dirty="0"/>
          </a:p>
        </p:txBody>
      </p:sp>
      <p:sp>
        <p:nvSpPr>
          <p:cNvPr id="26" name="Text 24"/>
          <p:cNvSpPr/>
          <p:nvPr/>
        </p:nvSpPr>
        <p:spPr>
          <a:xfrm>
            <a:off x="8503920" y="4526280"/>
            <a:ext cx="3474720" cy="228600"/>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Can do</a:t>
            </a:r>
            <a:endParaRPr lang="en-US" sz="1000" dirty="0"/>
          </a:p>
        </p:txBody>
      </p:sp>
      <p:sp>
        <p:nvSpPr>
          <p:cNvPr id="27" name="Text 25"/>
          <p:cNvSpPr/>
          <p:nvPr/>
        </p:nvSpPr>
        <p:spPr>
          <a:xfrm>
            <a:off x="8503920" y="4754880"/>
            <a:ext cx="3474720" cy="1691640"/>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CADCFC"/>
                </a:solidFill>
              </a:rPr>
              <a:t>Approve / reject ≥15h tasks</a:t>
            </a:r>
            <a:endParaRPr lang="en-US" sz="900" dirty="0"/>
          </a:p>
          <a:p>
            <a:pPr marL="342900" indent="-342900">
              <a:spcAft>
                <a:spcPts val="200"/>
              </a:spcAft>
              <a:buSzPct val="100000"/>
              <a:buChar char="✓"/>
            </a:pPr>
            <a:r>
              <a:rPr lang="en-US" sz="900" dirty="0">
                <a:solidFill>
                  <a:srgbClr val="CADCFC"/>
                </a:solidFill>
              </a:rPr>
              <a:t>Skip approval on log</a:t>
            </a:r>
            <a:endParaRPr lang="en-US" sz="900" dirty="0"/>
          </a:p>
          <a:p>
            <a:pPr marL="342900" indent="-342900">
              <a:spcAft>
                <a:spcPts val="200"/>
              </a:spcAft>
              <a:buSzPct val="100000"/>
              <a:buChar char="✓"/>
            </a:pPr>
            <a:r>
              <a:rPr lang="en-US" sz="900" dirty="0">
                <a:solidFill>
                  <a:srgbClr val="CADCFC"/>
                </a:solidFill>
              </a:rPr>
              <a:t>Edit any record</a:t>
            </a:r>
            <a:endParaRPr lang="en-US" sz="900" dirty="0"/>
          </a:p>
          <a:p>
            <a:pPr marL="342900" indent="-342900">
              <a:spcAft>
                <a:spcPts val="200"/>
              </a:spcAft>
              <a:buSzPct val="100000"/>
              <a:buChar char="✓"/>
            </a:pPr>
            <a:r>
              <a:rPr lang="en-US" sz="900" dirty="0">
                <a:solidFill>
                  <a:srgbClr val="CADCFC"/>
                </a:solidFill>
              </a:rPr>
              <a:t>Backup data</a:t>
            </a:r>
            <a:endParaRPr lang="en-US" sz="900" dirty="0"/>
          </a:p>
        </p:txBody>
      </p:sp>
      <p:sp>
        <p:nvSpPr>
          <p:cNvPr id="28" name="Text 26"/>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29" name="Text 27"/>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 / 28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1 — Sign up (first time only)</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omarhelal1234.github.io/eas-ai-dashboard/signup.html</a:t>
            </a:r>
            <a:endParaRPr lang="en-US" sz="1400" dirty="0"/>
          </a:p>
        </p:txBody>
      </p:sp>
      <p:sp>
        <p:nvSpPr>
          <p:cNvPr id="4" name="Shape 2"/>
          <p:cNvSpPr/>
          <p:nvPr/>
        </p:nvSpPr>
        <p:spPr>
          <a:xfrm>
            <a:off x="548640" y="1737360"/>
            <a:ext cx="6217920" cy="4663440"/>
          </a:xfrm>
          <a:prstGeom prst="roundRect">
            <a:avLst>
              <a:gd name="adj" fmla="val 1961"/>
            </a:avLst>
          </a:prstGeom>
          <a:solidFill>
            <a:srgbClr val="0B1223"/>
          </a:solidFill>
          <a:ln w="12700">
            <a:solidFill>
              <a:srgbClr val="CADCFC"/>
            </a:solidFill>
            <a:prstDash val="solid"/>
          </a:ln>
        </p:spPr>
      </p:sp>
      <p:sp>
        <p:nvSpPr>
          <p:cNvPr id="5" name="Shape 3"/>
          <p:cNvSpPr/>
          <p:nvPr/>
        </p:nvSpPr>
        <p:spPr>
          <a:xfrm>
            <a:off x="594360" y="1783080"/>
            <a:ext cx="6126480" cy="274320"/>
          </a:xfrm>
          <a:prstGeom prst="rect">
            <a:avLst/>
          </a:prstGeom>
          <a:solidFill>
            <a:srgbClr val="111833"/>
          </a:solidFill>
          <a:ln w="12700">
            <a:solidFill>
              <a:srgbClr val="111833"/>
            </a:solidFill>
            <a:prstDash val="solid"/>
          </a:ln>
        </p:spPr>
      </p:sp>
      <p:sp>
        <p:nvSpPr>
          <p:cNvPr id="6" name="Shape 4"/>
          <p:cNvSpPr/>
          <p:nvPr/>
        </p:nvSpPr>
        <p:spPr>
          <a:xfrm>
            <a:off x="685800" y="1847088"/>
            <a:ext cx="109728" cy="109728"/>
          </a:xfrm>
          <a:prstGeom prst="ellipse">
            <a:avLst/>
          </a:prstGeom>
          <a:solidFill>
            <a:srgbClr val="EF4444"/>
          </a:solidFill>
          <a:ln w="12700">
            <a:solidFill>
              <a:srgbClr val="EF4444"/>
            </a:solidFill>
            <a:prstDash val="solid"/>
          </a:ln>
        </p:spPr>
      </p:sp>
      <p:sp>
        <p:nvSpPr>
          <p:cNvPr id="7" name="Shape 5"/>
          <p:cNvSpPr/>
          <p:nvPr/>
        </p:nvSpPr>
        <p:spPr>
          <a:xfrm>
            <a:off x="832104" y="1847088"/>
            <a:ext cx="109728" cy="109728"/>
          </a:xfrm>
          <a:prstGeom prst="ellipse">
            <a:avLst/>
          </a:prstGeom>
          <a:solidFill>
            <a:srgbClr val="F59E0B"/>
          </a:solidFill>
          <a:ln w="12700">
            <a:solidFill>
              <a:srgbClr val="F59E0B"/>
            </a:solidFill>
            <a:prstDash val="solid"/>
          </a:ln>
        </p:spPr>
      </p:sp>
      <p:sp>
        <p:nvSpPr>
          <p:cNvPr id="8" name="Shape 6"/>
          <p:cNvSpPr/>
          <p:nvPr/>
        </p:nvSpPr>
        <p:spPr>
          <a:xfrm>
            <a:off x="978408" y="1847088"/>
            <a:ext cx="109728" cy="109728"/>
          </a:xfrm>
          <a:prstGeom prst="ellipse">
            <a:avLst/>
          </a:prstGeom>
          <a:solidFill>
            <a:srgbClr val="10B981"/>
          </a:solidFill>
          <a:ln w="12700">
            <a:solidFill>
              <a:srgbClr val="10B981"/>
            </a:solidFill>
            <a:prstDash val="solid"/>
          </a:ln>
        </p:spPr>
      </p:sp>
      <p:sp>
        <p:nvSpPr>
          <p:cNvPr id="9" name="Text 7"/>
          <p:cNvSpPr/>
          <p:nvPr/>
        </p:nvSpPr>
        <p:spPr>
          <a:xfrm>
            <a:off x="777240" y="1920240"/>
            <a:ext cx="576072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Create your EAS AI account</a:t>
            </a:r>
            <a:endParaRPr lang="en-US" sz="1500" dirty="0"/>
          </a:p>
        </p:txBody>
      </p:sp>
      <p:sp>
        <p:nvSpPr>
          <p:cNvPr id="10" name="Text 8"/>
          <p:cNvSpPr/>
          <p:nvPr/>
        </p:nvSpPr>
        <p:spPr>
          <a:xfrm>
            <a:off x="777240" y="2267712"/>
            <a:ext cx="576072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Two short screens. Takes under a minute.</a:t>
            </a:r>
            <a:endParaRPr lang="en-US" sz="1000" dirty="0"/>
          </a:p>
        </p:txBody>
      </p:sp>
      <p:sp>
        <p:nvSpPr>
          <p:cNvPr id="11" name="Shape 9"/>
          <p:cNvSpPr/>
          <p:nvPr/>
        </p:nvSpPr>
        <p:spPr>
          <a:xfrm>
            <a:off x="777240" y="2651760"/>
            <a:ext cx="2743200" cy="3611880"/>
          </a:xfrm>
          <a:prstGeom prst="roundRect">
            <a:avLst>
              <a:gd name="adj" fmla="val 2667"/>
            </a:avLst>
          </a:prstGeom>
          <a:solidFill>
            <a:srgbClr val="141B36"/>
          </a:solidFill>
          <a:ln w="12700">
            <a:solidFill>
              <a:srgbClr val="2A3560"/>
            </a:solidFill>
            <a:prstDash val="solid"/>
          </a:ln>
        </p:spPr>
      </p:sp>
      <p:sp>
        <p:nvSpPr>
          <p:cNvPr id="12" name="Text 10"/>
          <p:cNvSpPr/>
          <p:nvPr/>
        </p:nvSpPr>
        <p:spPr>
          <a:xfrm>
            <a:off x="886968" y="2743200"/>
            <a:ext cx="2560320" cy="256032"/>
          </a:xfrm>
          <a:prstGeom prst="rect">
            <a:avLst/>
          </a:prstGeom>
          <a:noFill/>
          <a:ln/>
        </p:spPr>
        <p:txBody>
          <a:bodyPr wrap="square" lIns="0" tIns="0" rIns="0" bIns="0" rtlCol="0" anchor="ctr"/>
          <a:lstStyle/>
          <a:p>
            <a:pPr indent="0" marL="0">
              <a:buNone/>
            </a:pPr>
            <a:r>
              <a:rPr lang="en-US" sz="1000" b="1" dirty="0">
                <a:solidFill>
                  <a:srgbClr val="818CF8"/>
                </a:solidFill>
                <a:latin typeface="Calibri" pitchFamily="34" charset="0"/>
                <a:ea typeface="Calibri" pitchFamily="34" charset="-122"/>
                <a:cs typeface="Calibri" pitchFamily="34" charset="-120"/>
              </a:rPr>
              <a:t>Screen A — Your details</a:t>
            </a:r>
            <a:endParaRPr lang="en-US" sz="1000" dirty="0"/>
          </a:p>
        </p:txBody>
      </p:sp>
      <p:sp>
        <p:nvSpPr>
          <p:cNvPr id="13" name="Text 11"/>
          <p:cNvSpPr/>
          <p:nvPr/>
        </p:nvSpPr>
        <p:spPr>
          <a:xfrm>
            <a:off x="886968" y="3063240"/>
            <a:ext cx="2560320" cy="182880"/>
          </a:xfrm>
          <a:prstGeom prst="rect">
            <a:avLst/>
          </a:prstGeom>
          <a:noFill/>
          <a:ln/>
        </p:spPr>
        <p:txBody>
          <a:bodyPr wrap="square" lIns="0" tIns="0" rIns="0" bIns="0" rtlCol="0" anchor="ctr"/>
          <a:lstStyle/>
          <a:p>
            <a:pPr indent="0" marL="0">
              <a:buNone/>
            </a:pPr>
            <a:r>
              <a:rPr lang="en-US" sz="700" b="1" dirty="0">
                <a:solidFill>
                  <a:srgbClr val="CADCFC"/>
                </a:solidFill>
                <a:latin typeface="Calibri" pitchFamily="34" charset="0"/>
                <a:ea typeface="Calibri" pitchFamily="34" charset="-122"/>
                <a:cs typeface="Calibri" pitchFamily="34" charset="-120"/>
              </a:rPr>
              <a:t>Full name</a:t>
            </a:r>
            <a:endParaRPr lang="en-US" sz="700" dirty="0"/>
          </a:p>
        </p:txBody>
      </p:sp>
      <p:sp>
        <p:nvSpPr>
          <p:cNvPr id="14" name="Shape 12"/>
          <p:cNvSpPr/>
          <p:nvPr/>
        </p:nvSpPr>
        <p:spPr>
          <a:xfrm>
            <a:off x="886968" y="3264408"/>
            <a:ext cx="2514600" cy="292608"/>
          </a:xfrm>
          <a:prstGeom prst="roundRect">
            <a:avLst>
              <a:gd name="adj" fmla="val 12500"/>
            </a:avLst>
          </a:prstGeom>
          <a:solidFill>
            <a:srgbClr val="1A2244"/>
          </a:solidFill>
          <a:ln w="6350">
            <a:solidFill>
              <a:srgbClr val="2A3560"/>
            </a:solidFill>
            <a:prstDash val="solid"/>
          </a:ln>
        </p:spPr>
      </p:sp>
      <p:sp>
        <p:nvSpPr>
          <p:cNvPr id="15" name="Text 13"/>
          <p:cNvSpPr/>
          <p:nvPr/>
        </p:nvSpPr>
        <p:spPr>
          <a:xfrm>
            <a:off x="960120" y="3264408"/>
            <a:ext cx="237744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Ahmed Samir</a:t>
            </a:r>
            <a:endParaRPr lang="en-US" sz="900" dirty="0"/>
          </a:p>
        </p:txBody>
      </p:sp>
      <p:sp>
        <p:nvSpPr>
          <p:cNvPr id="16" name="Text 14"/>
          <p:cNvSpPr/>
          <p:nvPr/>
        </p:nvSpPr>
        <p:spPr>
          <a:xfrm>
            <a:off x="886968" y="3721608"/>
            <a:ext cx="2560320" cy="182880"/>
          </a:xfrm>
          <a:prstGeom prst="rect">
            <a:avLst/>
          </a:prstGeom>
          <a:noFill/>
          <a:ln/>
        </p:spPr>
        <p:txBody>
          <a:bodyPr wrap="square" lIns="0" tIns="0" rIns="0" bIns="0" rtlCol="0" anchor="ctr"/>
          <a:lstStyle/>
          <a:p>
            <a:pPr indent="0" marL="0">
              <a:buNone/>
            </a:pPr>
            <a:r>
              <a:rPr lang="en-US" sz="700" b="1" dirty="0">
                <a:solidFill>
                  <a:srgbClr val="CADCFC"/>
                </a:solidFill>
                <a:latin typeface="Calibri" pitchFamily="34" charset="0"/>
                <a:ea typeface="Calibri" pitchFamily="34" charset="-122"/>
                <a:cs typeface="Calibri" pitchFamily="34" charset="-120"/>
              </a:rPr>
              <a:t>Practice</a:t>
            </a:r>
            <a:endParaRPr lang="en-US" sz="700" dirty="0"/>
          </a:p>
        </p:txBody>
      </p:sp>
      <p:sp>
        <p:nvSpPr>
          <p:cNvPr id="17" name="Shape 15"/>
          <p:cNvSpPr/>
          <p:nvPr/>
        </p:nvSpPr>
        <p:spPr>
          <a:xfrm>
            <a:off x="886968" y="3922776"/>
            <a:ext cx="2514600" cy="292608"/>
          </a:xfrm>
          <a:prstGeom prst="roundRect">
            <a:avLst>
              <a:gd name="adj" fmla="val 12500"/>
            </a:avLst>
          </a:prstGeom>
          <a:solidFill>
            <a:srgbClr val="1A2244"/>
          </a:solidFill>
          <a:ln w="6350">
            <a:solidFill>
              <a:srgbClr val="2A3560"/>
            </a:solidFill>
            <a:prstDash val="solid"/>
          </a:ln>
        </p:spPr>
      </p:sp>
      <p:sp>
        <p:nvSpPr>
          <p:cNvPr id="18" name="Text 16"/>
          <p:cNvSpPr/>
          <p:nvPr/>
        </p:nvSpPr>
        <p:spPr>
          <a:xfrm>
            <a:off x="960120" y="3922776"/>
            <a:ext cx="237744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CES ▾</a:t>
            </a:r>
            <a:endParaRPr lang="en-US" sz="900" dirty="0"/>
          </a:p>
        </p:txBody>
      </p:sp>
      <p:sp>
        <p:nvSpPr>
          <p:cNvPr id="19" name="Text 17"/>
          <p:cNvSpPr/>
          <p:nvPr/>
        </p:nvSpPr>
        <p:spPr>
          <a:xfrm>
            <a:off x="886968" y="4379976"/>
            <a:ext cx="2560320" cy="182880"/>
          </a:xfrm>
          <a:prstGeom prst="rect">
            <a:avLst/>
          </a:prstGeom>
          <a:noFill/>
          <a:ln/>
        </p:spPr>
        <p:txBody>
          <a:bodyPr wrap="square" lIns="0" tIns="0" rIns="0" bIns="0" rtlCol="0" anchor="ctr"/>
          <a:lstStyle/>
          <a:p>
            <a:pPr indent="0" marL="0">
              <a:buNone/>
            </a:pPr>
            <a:r>
              <a:rPr lang="en-US" sz="700" b="1" dirty="0">
                <a:solidFill>
                  <a:srgbClr val="CADCFC"/>
                </a:solidFill>
                <a:latin typeface="Calibri" pitchFamily="34" charset="0"/>
                <a:ea typeface="Calibri" pitchFamily="34" charset="-122"/>
                <a:cs typeface="Calibri" pitchFamily="34" charset="-120"/>
              </a:rPr>
              <a:t>Skill / Role</a:t>
            </a:r>
            <a:endParaRPr lang="en-US" sz="700" dirty="0"/>
          </a:p>
        </p:txBody>
      </p:sp>
      <p:sp>
        <p:nvSpPr>
          <p:cNvPr id="20" name="Shape 18"/>
          <p:cNvSpPr/>
          <p:nvPr/>
        </p:nvSpPr>
        <p:spPr>
          <a:xfrm>
            <a:off x="886968" y="4581144"/>
            <a:ext cx="2514600" cy="292608"/>
          </a:xfrm>
          <a:prstGeom prst="roundRect">
            <a:avLst>
              <a:gd name="adj" fmla="val 12500"/>
            </a:avLst>
          </a:prstGeom>
          <a:solidFill>
            <a:srgbClr val="1A2244"/>
          </a:solidFill>
          <a:ln w="6350">
            <a:solidFill>
              <a:srgbClr val="2A3560"/>
            </a:solidFill>
            <a:prstDash val="solid"/>
          </a:ln>
        </p:spPr>
      </p:sp>
      <p:sp>
        <p:nvSpPr>
          <p:cNvPr id="21" name="Text 19"/>
          <p:cNvSpPr/>
          <p:nvPr/>
        </p:nvSpPr>
        <p:spPr>
          <a:xfrm>
            <a:off x="960120" y="4581144"/>
            <a:ext cx="237744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Contributor</a:t>
            </a:r>
            <a:endParaRPr lang="en-US" sz="900" dirty="0"/>
          </a:p>
        </p:txBody>
      </p:sp>
      <p:sp>
        <p:nvSpPr>
          <p:cNvPr id="22" name="Text 20"/>
          <p:cNvSpPr/>
          <p:nvPr/>
        </p:nvSpPr>
        <p:spPr>
          <a:xfrm>
            <a:off x="886968" y="5038344"/>
            <a:ext cx="2560320" cy="182880"/>
          </a:xfrm>
          <a:prstGeom prst="rect">
            <a:avLst/>
          </a:prstGeom>
          <a:noFill/>
          <a:ln/>
        </p:spPr>
        <p:txBody>
          <a:bodyPr wrap="square" lIns="0" tIns="0" rIns="0" bIns="0" rtlCol="0" anchor="ctr"/>
          <a:lstStyle/>
          <a:p>
            <a:pPr indent="0" marL="0">
              <a:buNone/>
            </a:pPr>
            <a:r>
              <a:rPr lang="en-US" sz="700" b="1" dirty="0">
                <a:solidFill>
                  <a:srgbClr val="CADCFC"/>
                </a:solidFill>
                <a:latin typeface="Calibri" pitchFamily="34" charset="0"/>
                <a:ea typeface="Calibri" pitchFamily="34" charset="-122"/>
                <a:cs typeface="Calibri" pitchFamily="34" charset="-120"/>
              </a:rPr>
              <a:t>Copilot license?</a:t>
            </a:r>
            <a:endParaRPr lang="en-US" sz="700" dirty="0"/>
          </a:p>
        </p:txBody>
      </p:sp>
      <p:sp>
        <p:nvSpPr>
          <p:cNvPr id="23" name="Shape 21"/>
          <p:cNvSpPr/>
          <p:nvPr/>
        </p:nvSpPr>
        <p:spPr>
          <a:xfrm>
            <a:off x="886968" y="5239512"/>
            <a:ext cx="2514600" cy="292608"/>
          </a:xfrm>
          <a:prstGeom prst="roundRect">
            <a:avLst>
              <a:gd name="adj" fmla="val 12500"/>
            </a:avLst>
          </a:prstGeom>
          <a:solidFill>
            <a:srgbClr val="1A2244"/>
          </a:solidFill>
          <a:ln w="6350">
            <a:solidFill>
              <a:srgbClr val="2A3560"/>
            </a:solidFill>
            <a:prstDash val="solid"/>
          </a:ln>
        </p:spPr>
      </p:sp>
      <p:sp>
        <p:nvSpPr>
          <p:cNvPr id="24" name="Text 22"/>
          <p:cNvSpPr/>
          <p:nvPr/>
        </p:nvSpPr>
        <p:spPr>
          <a:xfrm>
            <a:off x="960120" y="5239512"/>
            <a:ext cx="237744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Yes ▾</a:t>
            </a:r>
            <a:endParaRPr lang="en-US" sz="900" dirty="0"/>
          </a:p>
        </p:txBody>
      </p:sp>
      <p:sp>
        <p:nvSpPr>
          <p:cNvPr id="25" name="Shape 23"/>
          <p:cNvSpPr/>
          <p:nvPr/>
        </p:nvSpPr>
        <p:spPr>
          <a:xfrm>
            <a:off x="3657600" y="2651760"/>
            <a:ext cx="2743200" cy="3611880"/>
          </a:xfrm>
          <a:prstGeom prst="roundRect">
            <a:avLst>
              <a:gd name="adj" fmla="val 2667"/>
            </a:avLst>
          </a:prstGeom>
          <a:solidFill>
            <a:srgbClr val="141B36"/>
          </a:solidFill>
          <a:ln w="12700">
            <a:solidFill>
              <a:srgbClr val="2A3560"/>
            </a:solidFill>
            <a:prstDash val="solid"/>
          </a:ln>
        </p:spPr>
      </p:sp>
      <p:sp>
        <p:nvSpPr>
          <p:cNvPr id="26" name="Text 24"/>
          <p:cNvSpPr/>
          <p:nvPr/>
        </p:nvSpPr>
        <p:spPr>
          <a:xfrm>
            <a:off x="3767328" y="2743200"/>
            <a:ext cx="2560320" cy="256032"/>
          </a:xfrm>
          <a:prstGeom prst="rect">
            <a:avLst/>
          </a:prstGeom>
          <a:noFill/>
          <a:ln/>
        </p:spPr>
        <p:txBody>
          <a:bodyPr wrap="square" lIns="0" tIns="0" rIns="0" bIns="0" rtlCol="0" anchor="ctr"/>
          <a:lstStyle/>
          <a:p>
            <a:pPr indent="0" marL="0">
              <a:buNone/>
            </a:pPr>
            <a:r>
              <a:rPr lang="en-US" sz="1000" b="1" dirty="0">
                <a:solidFill>
                  <a:srgbClr val="818CF8"/>
                </a:solidFill>
                <a:latin typeface="Calibri" pitchFamily="34" charset="0"/>
                <a:ea typeface="Calibri" pitchFamily="34" charset="-122"/>
                <a:cs typeface="Calibri" pitchFamily="34" charset="-120"/>
              </a:rPr>
              <a:t>Screen B — Your account</a:t>
            </a:r>
            <a:endParaRPr lang="en-US" sz="1000" dirty="0"/>
          </a:p>
        </p:txBody>
      </p:sp>
      <p:sp>
        <p:nvSpPr>
          <p:cNvPr id="27" name="Text 25"/>
          <p:cNvSpPr/>
          <p:nvPr/>
        </p:nvSpPr>
        <p:spPr>
          <a:xfrm>
            <a:off x="3767328" y="3063240"/>
            <a:ext cx="2560320" cy="182880"/>
          </a:xfrm>
          <a:prstGeom prst="rect">
            <a:avLst/>
          </a:prstGeom>
          <a:noFill/>
          <a:ln/>
        </p:spPr>
        <p:txBody>
          <a:bodyPr wrap="square" lIns="0" tIns="0" rIns="0" bIns="0" rtlCol="0" anchor="ctr"/>
          <a:lstStyle/>
          <a:p>
            <a:pPr indent="0" marL="0">
              <a:buNone/>
            </a:pPr>
            <a:r>
              <a:rPr lang="en-US" sz="700" b="1" dirty="0">
                <a:solidFill>
                  <a:srgbClr val="CADCFC"/>
                </a:solidFill>
                <a:latin typeface="Calibri" pitchFamily="34" charset="0"/>
                <a:ea typeface="Calibri" pitchFamily="34" charset="-122"/>
                <a:cs typeface="Calibri" pitchFamily="34" charset="-120"/>
              </a:rPr>
              <a:t>Ejada email</a:t>
            </a:r>
            <a:endParaRPr lang="en-US" sz="700" dirty="0"/>
          </a:p>
        </p:txBody>
      </p:sp>
      <p:sp>
        <p:nvSpPr>
          <p:cNvPr id="28" name="Shape 26"/>
          <p:cNvSpPr/>
          <p:nvPr/>
        </p:nvSpPr>
        <p:spPr>
          <a:xfrm>
            <a:off x="3767328" y="3264408"/>
            <a:ext cx="2514600" cy="292608"/>
          </a:xfrm>
          <a:prstGeom prst="roundRect">
            <a:avLst>
              <a:gd name="adj" fmla="val 12500"/>
            </a:avLst>
          </a:prstGeom>
          <a:solidFill>
            <a:srgbClr val="1A2244"/>
          </a:solidFill>
          <a:ln w="6350">
            <a:solidFill>
              <a:srgbClr val="2A3560"/>
            </a:solidFill>
            <a:prstDash val="solid"/>
          </a:ln>
        </p:spPr>
      </p:sp>
      <p:sp>
        <p:nvSpPr>
          <p:cNvPr id="29" name="Text 27"/>
          <p:cNvSpPr/>
          <p:nvPr/>
        </p:nvSpPr>
        <p:spPr>
          <a:xfrm>
            <a:off x="3840480" y="3264408"/>
            <a:ext cx="237744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ahmed.samir@ejada.com</a:t>
            </a:r>
            <a:endParaRPr lang="en-US" sz="900" dirty="0"/>
          </a:p>
        </p:txBody>
      </p:sp>
      <p:sp>
        <p:nvSpPr>
          <p:cNvPr id="30" name="Text 28"/>
          <p:cNvSpPr/>
          <p:nvPr/>
        </p:nvSpPr>
        <p:spPr>
          <a:xfrm>
            <a:off x="3767328" y="3721608"/>
            <a:ext cx="2560320" cy="182880"/>
          </a:xfrm>
          <a:prstGeom prst="rect">
            <a:avLst/>
          </a:prstGeom>
          <a:noFill/>
          <a:ln/>
        </p:spPr>
        <p:txBody>
          <a:bodyPr wrap="square" lIns="0" tIns="0" rIns="0" bIns="0" rtlCol="0" anchor="ctr"/>
          <a:lstStyle/>
          <a:p>
            <a:pPr indent="0" marL="0">
              <a:buNone/>
            </a:pPr>
            <a:r>
              <a:rPr lang="en-US" sz="700" b="1" dirty="0">
                <a:solidFill>
                  <a:srgbClr val="CADCFC"/>
                </a:solidFill>
                <a:latin typeface="Calibri" pitchFamily="34" charset="0"/>
                <a:ea typeface="Calibri" pitchFamily="34" charset="-122"/>
                <a:cs typeface="Calibri" pitchFamily="34" charset="-120"/>
              </a:rPr>
              <a:t>Password</a:t>
            </a:r>
            <a:endParaRPr lang="en-US" sz="700" dirty="0"/>
          </a:p>
        </p:txBody>
      </p:sp>
      <p:sp>
        <p:nvSpPr>
          <p:cNvPr id="31" name="Shape 29"/>
          <p:cNvSpPr/>
          <p:nvPr/>
        </p:nvSpPr>
        <p:spPr>
          <a:xfrm>
            <a:off x="3767328" y="3922776"/>
            <a:ext cx="2514600" cy="292608"/>
          </a:xfrm>
          <a:prstGeom prst="roundRect">
            <a:avLst>
              <a:gd name="adj" fmla="val 12500"/>
            </a:avLst>
          </a:prstGeom>
          <a:solidFill>
            <a:srgbClr val="1A2244"/>
          </a:solidFill>
          <a:ln w="6350">
            <a:solidFill>
              <a:srgbClr val="2A3560"/>
            </a:solidFill>
            <a:prstDash val="solid"/>
          </a:ln>
        </p:spPr>
      </p:sp>
      <p:sp>
        <p:nvSpPr>
          <p:cNvPr id="32" name="Text 30"/>
          <p:cNvSpPr/>
          <p:nvPr/>
        </p:nvSpPr>
        <p:spPr>
          <a:xfrm>
            <a:off x="3840480" y="3922776"/>
            <a:ext cx="237744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a:t>
            </a:r>
            <a:endParaRPr lang="en-US" sz="900" dirty="0"/>
          </a:p>
        </p:txBody>
      </p:sp>
      <p:sp>
        <p:nvSpPr>
          <p:cNvPr id="33" name="Text 31"/>
          <p:cNvSpPr/>
          <p:nvPr/>
        </p:nvSpPr>
        <p:spPr>
          <a:xfrm>
            <a:off x="3767328" y="4379976"/>
            <a:ext cx="2560320" cy="182880"/>
          </a:xfrm>
          <a:prstGeom prst="rect">
            <a:avLst/>
          </a:prstGeom>
          <a:noFill/>
          <a:ln/>
        </p:spPr>
        <p:txBody>
          <a:bodyPr wrap="square" lIns="0" tIns="0" rIns="0" bIns="0" rtlCol="0" anchor="ctr"/>
          <a:lstStyle/>
          <a:p>
            <a:pPr indent="0" marL="0">
              <a:buNone/>
            </a:pPr>
            <a:r>
              <a:rPr lang="en-US" sz="700" b="1" dirty="0">
                <a:solidFill>
                  <a:srgbClr val="CADCFC"/>
                </a:solidFill>
                <a:latin typeface="Calibri" pitchFamily="34" charset="0"/>
                <a:ea typeface="Calibri" pitchFamily="34" charset="-122"/>
                <a:cs typeface="Calibri" pitchFamily="34" charset="-120"/>
              </a:rPr>
              <a:t>Confirm password</a:t>
            </a:r>
            <a:endParaRPr lang="en-US" sz="700" dirty="0"/>
          </a:p>
        </p:txBody>
      </p:sp>
      <p:sp>
        <p:nvSpPr>
          <p:cNvPr id="34" name="Shape 32"/>
          <p:cNvSpPr/>
          <p:nvPr/>
        </p:nvSpPr>
        <p:spPr>
          <a:xfrm>
            <a:off x="3767328" y="4581144"/>
            <a:ext cx="2514600" cy="292608"/>
          </a:xfrm>
          <a:prstGeom prst="roundRect">
            <a:avLst>
              <a:gd name="adj" fmla="val 12500"/>
            </a:avLst>
          </a:prstGeom>
          <a:solidFill>
            <a:srgbClr val="1A2244"/>
          </a:solidFill>
          <a:ln w="6350">
            <a:solidFill>
              <a:srgbClr val="2A3560"/>
            </a:solidFill>
            <a:prstDash val="solid"/>
          </a:ln>
        </p:spPr>
      </p:sp>
      <p:sp>
        <p:nvSpPr>
          <p:cNvPr id="35" name="Text 33"/>
          <p:cNvSpPr/>
          <p:nvPr/>
        </p:nvSpPr>
        <p:spPr>
          <a:xfrm>
            <a:off x="3840480" y="4581144"/>
            <a:ext cx="237744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a:t>
            </a:r>
            <a:endParaRPr lang="en-US" sz="900" dirty="0"/>
          </a:p>
        </p:txBody>
      </p:sp>
      <p:sp>
        <p:nvSpPr>
          <p:cNvPr id="36" name="Text 34"/>
          <p:cNvSpPr/>
          <p:nvPr/>
        </p:nvSpPr>
        <p:spPr>
          <a:xfrm>
            <a:off x="3767328" y="5038344"/>
            <a:ext cx="2560320" cy="182880"/>
          </a:xfrm>
          <a:prstGeom prst="rect">
            <a:avLst/>
          </a:prstGeom>
          <a:noFill/>
          <a:ln/>
        </p:spPr>
        <p:txBody>
          <a:bodyPr wrap="square" lIns="0" tIns="0" rIns="0" bIns="0" rtlCol="0" anchor="ctr"/>
          <a:lstStyle/>
          <a:p>
            <a:pPr indent="0" marL="0">
              <a:buNone/>
            </a:pPr>
            <a:r>
              <a:rPr lang="en-US" sz="700" b="1" dirty="0">
                <a:solidFill>
                  <a:srgbClr val="CADCFC"/>
                </a:solidFill>
                <a:latin typeface="Calibri" pitchFamily="34" charset="0"/>
                <a:ea typeface="Calibri" pitchFamily="34" charset="-122"/>
                <a:cs typeface="Calibri" pitchFamily="34" charset="-120"/>
              </a:rPr>
              <a:t>Create account →</a:t>
            </a:r>
            <a:endParaRPr lang="en-US" sz="700" dirty="0"/>
          </a:p>
        </p:txBody>
      </p:sp>
      <p:sp>
        <p:nvSpPr>
          <p:cNvPr id="37" name="Shape 35"/>
          <p:cNvSpPr/>
          <p:nvPr/>
        </p:nvSpPr>
        <p:spPr>
          <a:xfrm>
            <a:off x="3767328" y="5239512"/>
            <a:ext cx="2514600" cy="292608"/>
          </a:xfrm>
          <a:prstGeom prst="roundRect">
            <a:avLst>
              <a:gd name="adj" fmla="val 12500"/>
            </a:avLst>
          </a:prstGeom>
          <a:solidFill>
            <a:srgbClr val="6366F1"/>
          </a:solidFill>
          <a:ln w="6350">
            <a:solidFill>
              <a:srgbClr val="6366F1"/>
            </a:solidFill>
            <a:prstDash val="solid"/>
          </a:ln>
        </p:spPr>
      </p:sp>
      <p:sp>
        <p:nvSpPr>
          <p:cNvPr id="38" name="Text 36"/>
          <p:cNvSpPr/>
          <p:nvPr/>
        </p:nvSpPr>
        <p:spPr>
          <a:xfrm>
            <a:off x="3840480" y="5239512"/>
            <a:ext cx="23774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Create account →</a:t>
            </a:r>
            <a:endParaRPr lang="en-US" sz="900" dirty="0"/>
          </a:p>
        </p:txBody>
      </p:sp>
      <p:sp>
        <p:nvSpPr>
          <p:cNvPr id="39" name="Shape 37"/>
          <p:cNvSpPr/>
          <p:nvPr/>
        </p:nvSpPr>
        <p:spPr>
          <a:xfrm>
            <a:off x="7040880" y="1737360"/>
            <a:ext cx="4617720" cy="4663440"/>
          </a:xfrm>
          <a:prstGeom prst="roundRect">
            <a:avLst>
              <a:gd name="adj" fmla="val 1584"/>
            </a:avLst>
          </a:prstGeom>
          <a:solidFill>
            <a:srgbClr val="1A2244"/>
          </a:solidFill>
          <a:ln w="12700">
            <a:solidFill>
              <a:srgbClr val="2A3560"/>
            </a:solidFill>
            <a:prstDash val="solid"/>
          </a:ln>
        </p:spPr>
      </p:sp>
      <p:sp>
        <p:nvSpPr>
          <p:cNvPr id="40" name="Text 38"/>
          <p:cNvSpPr/>
          <p:nvPr/>
        </p:nvSpPr>
        <p:spPr>
          <a:xfrm>
            <a:off x="7178040" y="1874520"/>
            <a:ext cx="438912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to use</a:t>
            </a:r>
            <a:endParaRPr lang="en-US" sz="1600" dirty="0"/>
          </a:p>
        </p:txBody>
      </p:sp>
      <p:sp>
        <p:nvSpPr>
          <p:cNvPr id="41" name="Shape 39"/>
          <p:cNvSpPr/>
          <p:nvPr/>
        </p:nvSpPr>
        <p:spPr>
          <a:xfrm>
            <a:off x="7223760" y="2404872"/>
            <a:ext cx="201168" cy="201168"/>
          </a:xfrm>
          <a:prstGeom prst="ellipse">
            <a:avLst/>
          </a:prstGeom>
          <a:solidFill>
            <a:srgbClr val="6366F1"/>
          </a:solidFill>
          <a:ln w="12700">
            <a:solidFill>
              <a:srgbClr val="6366F1"/>
            </a:solidFill>
            <a:prstDash val="solid"/>
          </a:ln>
        </p:spPr>
      </p:sp>
      <p:sp>
        <p:nvSpPr>
          <p:cNvPr id="42" name="Text 40"/>
          <p:cNvSpPr/>
          <p:nvPr/>
        </p:nvSpPr>
        <p:spPr>
          <a:xfrm>
            <a:off x="7223760" y="2404872"/>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43" name="Text 41"/>
          <p:cNvSpPr/>
          <p:nvPr/>
        </p:nvSpPr>
        <p:spPr>
          <a:xfrm>
            <a:off x="7498080" y="2331720"/>
            <a:ext cx="40233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Email</a:t>
            </a:r>
            <a:endParaRPr lang="en-US" sz="1200" dirty="0"/>
          </a:p>
        </p:txBody>
      </p:sp>
      <p:sp>
        <p:nvSpPr>
          <p:cNvPr id="44" name="Text 42"/>
          <p:cNvSpPr/>
          <p:nvPr/>
        </p:nvSpPr>
        <p:spPr>
          <a:xfrm>
            <a:off x="7498080" y="2606040"/>
            <a:ext cx="4023360" cy="36576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Your Ejada email — required, used for SSO + nudges</a:t>
            </a:r>
            <a:endParaRPr lang="en-US" sz="900" dirty="0"/>
          </a:p>
        </p:txBody>
      </p:sp>
      <p:sp>
        <p:nvSpPr>
          <p:cNvPr id="45" name="Shape 43"/>
          <p:cNvSpPr/>
          <p:nvPr/>
        </p:nvSpPr>
        <p:spPr>
          <a:xfrm>
            <a:off x="7223760" y="3182112"/>
            <a:ext cx="201168" cy="201168"/>
          </a:xfrm>
          <a:prstGeom prst="ellipse">
            <a:avLst/>
          </a:prstGeom>
          <a:solidFill>
            <a:srgbClr val="6366F1"/>
          </a:solidFill>
          <a:ln w="12700">
            <a:solidFill>
              <a:srgbClr val="6366F1"/>
            </a:solidFill>
            <a:prstDash val="solid"/>
          </a:ln>
        </p:spPr>
      </p:sp>
      <p:sp>
        <p:nvSpPr>
          <p:cNvPr id="46" name="Text 44"/>
          <p:cNvSpPr/>
          <p:nvPr/>
        </p:nvSpPr>
        <p:spPr>
          <a:xfrm>
            <a:off x="7223760" y="3182112"/>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47" name="Text 45"/>
          <p:cNvSpPr/>
          <p:nvPr/>
        </p:nvSpPr>
        <p:spPr>
          <a:xfrm>
            <a:off x="7498080" y="3108960"/>
            <a:ext cx="40233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Practice</a:t>
            </a:r>
            <a:endParaRPr lang="en-US" sz="1200" dirty="0"/>
          </a:p>
        </p:txBody>
      </p:sp>
      <p:sp>
        <p:nvSpPr>
          <p:cNvPr id="48" name="Text 46"/>
          <p:cNvSpPr/>
          <p:nvPr/>
        </p:nvSpPr>
        <p:spPr>
          <a:xfrm>
            <a:off x="7498080" y="3383280"/>
            <a:ext cx="4023360" cy="36576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One of BFSI · CES · ERP · EPS · EPCS · GRC</a:t>
            </a:r>
            <a:endParaRPr lang="en-US" sz="900" dirty="0"/>
          </a:p>
        </p:txBody>
      </p:sp>
      <p:sp>
        <p:nvSpPr>
          <p:cNvPr id="49" name="Shape 47"/>
          <p:cNvSpPr/>
          <p:nvPr/>
        </p:nvSpPr>
        <p:spPr>
          <a:xfrm>
            <a:off x="7223760" y="3959352"/>
            <a:ext cx="201168" cy="201168"/>
          </a:xfrm>
          <a:prstGeom prst="ellipse">
            <a:avLst/>
          </a:prstGeom>
          <a:solidFill>
            <a:srgbClr val="6366F1"/>
          </a:solidFill>
          <a:ln w="12700">
            <a:solidFill>
              <a:srgbClr val="6366F1"/>
            </a:solidFill>
            <a:prstDash val="solid"/>
          </a:ln>
        </p:spPr>
      </p:sp>
      <p:sp>
        <p:nvSpPr>
          <p:cNvPr id="50" name="Text 48"/>
          <p:cNvSpPr/>
          <p:nvPr/>
        </p:nvSpPr>
        <p:spPr>
          <a:xfrm>
            <a:off x="7223760" y="3959352"/>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51" name="Text 49"/>
          <p:cNvSpPr/>
          <p:nvPr/>
        </p:nvSpPr>
        <p:spPr>
          <a:xfrm>
            <a:off x="7498080" y="3886200"/>
            <a:ext cx="40233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Role</a:t>
            </a:r>
            <a:endParaRPr lang="en-US" sz="1200" dirty="0"/>
          </a:p>
        </p:txBody>
      </p:sp>
      <p:sp>
        <p:nvSpPr>
          <p:cNvPr id="52" name="Text 50"/>
          <p:cNvSpPr/>
          <p:nvPr/>
        </p:nvSpPr>
        <p:spPr>
          <a:xfrm>
            <a:off x="7498080" y="4160520"/>
            <a:ext cx="4023360" cy="36576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Leave as Contributor unless you're a SPOC</a:t>
            </a:r>
            <a:endParaRPr lang="en-US" sz="900" dirty="0"/>
          </a:p>
        </p:txBody>
      </p:sp>
      <p:sp>
        <p:nvSpPr>
          <p:cNvPr id="53" name="Shape 51"/>
          <p:cNvSpPr/>
          <p:nvPr/>
        </p:nvSpPr>
        <p:spPr>
          <a:xfrm>
            <a:off x="7223760" y="4736592"/>
            <a:ext cx="201168" cy="201168"/>
          </a:xfrm>
          <a:prstGeom prst="ellipse">
            <a:avLst/>
          </a:prstGeom>
          <a:solidFill>
            <a:srgbClr val="6366F1"/>
          </a:solidFill>
          <a:ln w="12700">
            <a:solidFill>
              <a:srgbClr val="6366F1"/>
            </a:solidFill>
            <a:prstDash val="solid"/>
          </a:ln>
        </p:spPr>
      </p:sp>
      <p:sp>
        <p:nvSpPr>
          <p:cNvPr id="54" name="Text 52"/>
          <p:cNvSpPr/>
          <p:nvPr/>
        </p:nvSpPr>
        <p:spPr>
          <a:xfrm>
            <a:off x="7223760" y="4736592"/>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55" name="Text 53"/>
          <p:cNvSpPr/>
          <p:nvPr/>
        </p:nvSpPr>
        <p:spPr>
          <a:xfrm>
            <a:off x="7498080" y="4663440"/>
            <a:ext cx="40233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Password</a:t>
            </a:r>
            <a:endParaRPr lang="en-US" sz="1200" dirty="0"/>
          </a:p>
        </p:txBody>
      </p:sp>
      <p:sp>
        <p:nvSpPr>
          <p:cNvPr id="56" name="Text 54"/>
          <p:cNvSpPr/>
          <p:nvPr/>
        </p:nvSpPr>
        <p:spPr>
          <a:xfrm>
            <a:off x="7498080" y="4937760"/>
            <a:ext cx="4023360" cy="36576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Minimum 6 characters, stored securely in Supabase Auth</a:t>
            </a:r>
            <a:endParaRPr lang="en-US" sz="900" dirty="0"/>
          </a:p>
        </p:txBody>
      </p:sp>
      <p:sp>
        <p:nvSpPr>
          <p:cNvPr id="57" name="Shape 55"/>
          <p:cNvSpPr/>
          <p:nvPr/>
        </p:nvSpPr>
        <p:spPr>
          <a:xfrm>
            <a:off x="7223760" y="5513832"/>
            <a:ext cx="201168" cy="201168"/>
          </a:xfrm>
          <a:prstGeom prst="ellipse">
            <a:avLst/>
          </a:prstGeom>
          <a:solidFill>
            <a:srgbClr val="6366F1"/>
          </a:solidFill>
          <a:ln w="12700">
            <a:solidFill>
              <a:srgbClr val="6366F1"/>
            </a:solidFill>
            <a:prstDash val="solid"/>
          </a:ln>
        </p:spPr>
      </p:sp>
      <p:sp>
        <p:nvSpPr>
          <p:cNvPr id="58" name="Text 56"/>
          <p:cNvSpPr/>
          <p:nvPr/>
        </p:nvSpPr>
        <p:spPr>
          <a:xfrm>
            <a:off x="7223760" y="5513832"/>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59" name="Text 57"/>
          <p:cNvSpPr/>
          <p:nvPr/>
        </p:nvSpPr>
        <p:spPr>
          <a:xfrm>
            <a:off x="7498080" y="5440680"/>
            <a:ext cx="40233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After sign up</a:t>
            </a:r>
            <a:endParaRPr lang="en-US" sz="1200" dirty="0"/>
          </a:p>
        </p:txBody>
      </p:sp>
      <p:sp>
        <p:nvSpPr>
          <p:cNvPr id="60" name="Text 58"/>
          <p:cNvSpPr/>
          <p:nvPr/>
        </p:nvSpPr>
        <p:spPr>
          <a:xfrm>
            <a:off x="7498080" y="5715000"/>
            <a:ext cx="4023360" cy="36576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You are redirected to the login page</a:t>
            </a:r>
            <a:endParaRPr lang="en-US" sz="900" dirty="0"/>
          </a:p>
        </p:txBody>
      </p:sp>
      <p:sp>
        <p:nvSpPr>
          <p:cNvPr id="61" name="Text 59"/>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62" name="Text 60"/>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 / 28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2 — Log in</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Your Ejada email and the password you created at signup.</a:t>
            </a:r>
            <a:endParaRPr lang="en-US" sz="1400" dirty="0"/>
          </a:p>
        </p:txBody>
      </p:sp>
      <p:sp>
        <p:nvSpPr>
          <p:cNvPr id="4" name="Shape 2"/>
          <p:cNvSpPr/>
          <p:nvPr/>
        </p:nvSpPr>
        <p:spPr>
          <a:xfrm>
            <a:off x="548640" y="1737360"/>
            <a:ext cx="6217920" cy="4663440"/>
          </a:xfrm>
          <a:prstGeom prst="roundRect">
            <a:avLst>
              <a:gd name="adj" fmla="val 1961"/>
            </a:avLst>
          </a:prstGeom>
          <a:solidFill>
            <a:srgbClr val="0B1223"/>
          </a:solidFill>
          <a:ln w="12700">
            <a:solidFill>
              <a:srgbClr val="CADCFC"/>
            </a:solidFill>
            <a:prstDash val="solid"/>
          </a:ln>
        </p:spPr>
      </p:sp>
      <p:sp>
        <p:nvSpPr>
          <p:cNvPr id="5" name="Shape 3"/>
          <p:cNvSpPr/>
          <p:nvPr/>
        </p:nvSpPr>
        <p:spPr>
          <a:xfrm>
            <a:off x="594360" y="1783080"/>
            <a:ext cx="6126480" cy="274320"/>
          </a:xfrm>
          <a:prstGeom prst="rect">
            <a:avLst/>
          </a:prstGeom>
          <a:solidFill>
            <a:srgbClr val="111833"/>
          </a:solidFill>
          <a:ln w="12700">
            <a:solidFill>
              <a:srgbClr val="111833"/>
            </a:solidFill>
            <a:prstDash val="solid"/>
          </a:ln>
        </p:spPr>
      </p:sp>
      <p:sp>
        <p:nvSpPr>
          <p:cNvPr id="6" name="Shape 4"/>
          <p:cNvSpPr/>
          <p:nvPr/>
        </p:nvSpPr>
        <p:spPr>
          <a:xfrm>
            <a:off x="685800" y="1847088"/>
            <a:ext cx="109728" cy="109728"/>
          </a:xfrm>
          <a:prstGeom prst="ellipse">
            <a:avLst/>
          </a:prstGeom>
          <a:solidFill>
            <a:srgbClr val="EF4444"/>
          </a:solidFill>
          <a:ln w="12700">
            <a:solidFill>
              <a:srgbClr val="EF4444"/>
            </a:solidFill>
            <a:prstDash val="solid"/>
          </a:ln>
        </p:spPr>
      </p:sp>
      <p:sp>
        <p:nvSpPr>
          <p:cNvPr id="7" name="Shape 5"/>
          <p:cNvSpPr/>
          <p:nvPr/>
        </p:nvSpPr>
        <p:spPr>
          <a:xfrm>
            <a:off x="832104" y="1847088"/>
            <a:ext cx="109728" cy="109728"/>
          </a:xfrm>
          <a:prstGeom prst="ellipse">
            <a:avLst/>
          </a:prstGeom>
          <a:solidFill>
            <a:srgbClr val="F59E0B"/>
          </a:solidFill>
          <a:ln w="12700">
            <a:solidFill>
              <a:srgbClr val="F59E0B"/>
            </a:solidFill>
            <a:prstDash val="solid"/>
          </a:ln>
        </p:spPr>
      </p:sp>
      <p:sp>
        <p:nvSpPr>
          <p:cNvPr id="8" name="Shape 6"/>
          <p:cNvSpPr/>
          <p:nvPr/>
        </p:nvSpPr>
        <p:spPr>
          <a:xfrm>
            <a:off x="978408" y="1847088"/>
            <a:ext cx="109728" cy="109728"/>
          </a:xfrm>
          <a:prstGeom prst="ellipse">
            <a:avLst/>
          </a:prstGeom>
          <a:solidFill>
            <a:srgbClr val="10B981"/>
          </a:solidFill>
          <a:ln w="12700">
            <a:solidFill>
              <a:srgbClr val="10B981"/>
            </a:solidFill>
            <a:prstDash val="solid"/>
          </a:ln>
        </p:spPr>
      </p:sp>
      <p:sp>
        <p:nvSpPr>
          <p:cNvPr id="9" name="Shape 7"/>
          <p:cNvSpPr/>
          <p:nvPr/>
        </p:nvSpPr>
        <p:spPr>
          <a:xfrm>
            <a:off x="2651760" y="2148840"/>
            <a:ext cx="2011680" cy="960120"/>
          </a:xfrm>
          <a:prstGeom prst="roundRect">
            <a:avLst>
              <a:gd name="adj" fmla="val 11429"/>
            </a:avLst>
          </a:prstGeom>
          <a:solidFill>
            <a:srgbClr val="6366F1"/>
          </a:solidFill>
          <a:ln w="12700">
            <a:solidFill>
              <a:srgbClr val="6366F1"/>
            </a:solidFill>
            <a:prstDash val="solid"/>
          </a:ln>
        </p:spPr>
      </p:sp>
      <p:sp>
        <p:nvSpPr>
          <p:cNvPr id="10" name="Shape 8"/>
          <p:cNvSpPr/>
          <p:nvPr/>
        </p:nvSpPr>
        <p:spPr>
          <a:xfrm>
            <a:off x="3291840" y="2331720"/>
            <a:ext cx="731520" cy="731520"/>
          </a:xfrm>
          <a:prstGeom prst="ellipse">
            <a:avLst/>
          </a:prstGeom>
          <a:solidFill>
            <a:srgbClr val="FFFFFF"/>
          </a:solidFill>
          <a:ln w="12700">
            <a:solidFill>
              <a:srgbClr val="FFFFFF"/>
            </a:solidFill>
            <a:prstDash val="solid"/>
          </a:ln>
        </p:spPr>
      </p:sp>
      <p:sp>
        <p:nvSpPr>
          <p:cNvPr id="11" name="Text 9"/>
          <p:cNvSpPr/>
          <p:nvPr/>
        </p:nvSpPr>
        <p:spPr>
          <a:xfrm>
            <a:off x="3291840" y="2331720"/>
            <a:ext cx="731520" cy="731520"/>
          </a:xfrm>
          <a:prstGeom prst="rect">
            <a:avLst/>
          </a:prstGeom>
          <a:noFill/>
          <a:ln/>
        </p:spPr>
        <p:txBody>
          <a:bodyPr wrap="square" lIns="0" tIns="0" rIns="0" bIns="0" rtlCol="0" anchor="ctr"/>
          <a:lstStyle/>
          <a:p>
            <a:pPr algn="ctr" indent="0" marL="0">
              <a:buNone/>
            </a:pPr>
            <a:r>
              <a:rPr lang="en-US" sz="2800" b="1" dirty="0">
                <a:solidFill>
                  <a:srgbClr val="6366F1"/>
                </a:solidFill>
              </a:rPr>
              <a:t>◆</a:t>
            </a:r>
            <a:endParaRPr lang="en-US" sz="2800" dirty="0"/>
          </a:p>
        </p:txBody>
      </p:sp>
      <p:sp>
        <p:nvSpPr>
          <p:cNvPr id="12" name="Text 10"/>
          <p:cNvSpPr/>
          <p:nvPr/>
        </p:nvSpPr>
        <p:spPr>
          <a:xfrm>
            <a:off x="777240" y="3246120"/>
            <a:ext cx="576072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EAS AI Adoption</a:t>
            </a:r>
            <a:endParaRPr lang="en-US" sz="1800" dirty="0"/>
          </a:p>
        </p:txBody>
      </p:sp>
      <p:sp>
        <p:nvSpPr>
          <p:cNvPr id="13" name="Text 11"/>
          <p:cNvSpPr/>
          <p:nvPr/>
        </p:nvSpPr>
        <p:spPr>
          <a:xfrm>
            <a:off x="777240" y="3566160"/>
            <a:ext cx="5760720" cy="27432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Welcome back — sign in</a:t>
            </a:r>
            <a:endParaRPr lang="en-US" sz="1000" dirty="0"/>
          </a:p>
        </p:txBody>
      </p:sp>
      <p:sp>
        <p:nvSpPr>
          <p:cNvPr id="14" name="Text 12"/>
          <p:cNvSpPr/>
          <p:nvPr/>
        </p:nvSpPr>
        <p:spPr>
          <a:xfrm>
            <a:off x="1371600" y="3931920"/>
            <a:ext cx="4572000" cy="228600"/>
          </a:xfrm>
          <a:prstGeom prst="rect">
            <a:avLst/>
          </a:prstGeom>
          <a:noFill/>
          <a:ln/>
        </p:spPr>
        <p:txBody>
          <a:bodyPr wrap="square" lIns="0" tIns="0" rIns="0" bIns="0" rtlCol="0" anchor="ctr"/>
          <a:lstStyle/>
          <a:p>
            <a:pPr indent="0" marL="0">
              <a:buNone/>
            </a:pPr>
            <a:r>
              <a:rPr lang="en-US" sz="900" b="1" dirty="0">
                <a:solidFill>
                  <a:srgbClr val="CADCFC"/>
                </a:solidFill>
              </a:rPr>
              <a:t>Email address</a:t>
            </a:r>
            <a:endParaRPr lang="en-US" sz="900" dirty="0"/>
          </a:p>
        </p:txBody>
      </p:sp>
      <p:sp>
        <p:nvSpPr>
          <p:cNvPr id="15" name="Shape 13"/>
          <p:cNvSpPr/>
          <p:nvPr/>
        </p:nvSpPr>
        <p:spPr>
          <a:xfrm>
            <a:off x="1371600" y="4160520"/>
            <a:ext cx="4572000" cy="365760"/>
          </a:xfrm>
          <a:prstGeom prst="roundRect">
            <a:avLst>
              <a:gd name="adj" fmla="val 10000"/>
            </a:avLst>
          </a:prstGeom>
          <a:solidFill>
            <a:srgbClr val="141B36"/>
          </a:solidFill>
          <a:ln w="6350">
            <a:solidFill>
              <a:srgbClr val="2A3560"/>
            </a:solidFill>
            <a:prstDash val="solid"/>
          </a:ln>
        </p:spPr>
      </p:sp>
      <p:sp>
        <p:nvSpPr>
          <p:cNvPr id="16" name="Text 14"/>
          <p:cNvSpPr/>
          <p:nvPr/>
        </p:nvSpPr>
        <p:spPr>
          <a:xfrm>
            <a:off x="1463040" y="4160520"/>
            <a:ext cx="4389120" cy="365760"/>
          </a:xfrm>
          <a:prstGeom prst="rect">
            <a:avLst/>
          </a:prstGeom>
          <a:noFill/>
          <a:ln/>
        </p:spPr>
        <p:txBody>
          <a:bodyPr wrap="square" lIns="0" tIns="0" rIns="0" bIns="0" rtlCol="0" anchor="ctr"/>
          <a:lstStyle/>
          <a:p>
            <a:pPr indent="0" marL="0">
              <a:buNone/>
            </a:pPr>
            <a:r>
              <a:rPr lang="en-US" sz="1000" dirty="0">
                <a:solidFill>
                  <a:srgbClr val="FFFFFF"/>
                </a:solidFill>
              </a:rPr>
              <a:t>ahmed.samir@ejada.com</a:t>
            </a:r>
            <a:endParaRPr lang="en-US" sz="1000" dirty="0"/>
          </a:p>
        </p:txBody>
      </p:sp>
      <p:sp>
        <p:nvSpPr>
          <p:cNvPr id="17" name="Text 15"/>
          <p:cNvSpPr/>
          <p:nvPr/>
        </p:nvSpPr>
        <p:spPr>
          <a:xfrm>
            <a:off x="1371600" y="4617720"/>
            <a:ext cx="4572000" cy="228600"/>
          </a:xfrm>
          <a:prstGeom prst="rect">
            <a:avLst/>
          </a:prstGeom>
          <a:noFill/>
          <a:ln/>
        </p:spPr>
        <p:txBody>
          <a:bodyPr wrap="square" lIns="0" tIns="0" rIns="0" bIns="0" rtlCol="0" anchor="ctr"/>
          <a:lstStyle/>
          <a:p>
            <a:pPr indent="0" marL="0">
              <a:buNone/>
            </a:pPr>
            <a:r>
              <a:rPr lang="en-US" sz="900" b="1" dirty="0">
                <a:solidFill>
                  <a:srgbClr val="CADCFC"/>
                </a:solidFill>
              </a:rPr>
              <a:t>Password</a:t>
            </a:r>
            <a:endParaRPr lang="en-US" sz="900" dirty="0"/>
          </a:p>
        </p:txBody>
      </p:sp>
      <p:sp>
        <p:nvSpPr>
          <p:cNvPr id="18" name="Shape 16"/>
          <p:cNvSpPr/>
          <p:nvPr/>
        </p:nvSpPr>
        <p:spPr>
          <a:xfrm>
            <a:off x="1371600" y="4846320"/>
            <a:ext cx="4572000" cy="365760"/>
          </a:xfrm>
          <a:prstGeom prst="roundRect">
            <a:avLst>
              <a:gd name="adj" fmla="val 10000"/>
            </a:avLst>
          </a:prstGeom>
          <a:solidFill>
            <a:srgbClr val="141B36"/>
          </a:solidFill>
          <a:ln w="6350">
            <a:solidFill>
              <a:srgbClr val="2A3560"/>
            </a:solidFill>
            <a:prstDash val="solid"/>
          </a:ln>
        </p:spPr>
      </p:sp>
      <p:sp>
        <p:nvSpPr>
          <p:cNvPr id="19" name="Text 17"/>
          <p:cNvSpPr/>
          <p:nvPr/>
        </p:nvSpPr>
        <p:spPr>
          <a:xfrm>
            <a:off x="1463040" y="4846320"/>
            <a:ext cx="4389120" cy="365760"/>
          </a:xfrm>
          <a:prstGeom prst="rect">
            <a:avLst/>
          </a:prstGeom>
          <a:noFill/>
          <a:ln/>
        </p:spPr>
        <p:txBody>
          <a:bodyPr wrap="square" lIns="0" tIns="0" rIns="0" bIns="0" rtlCol="0" anchor="ctr"/>
          <a:lstStyle/>
          <a:p>
            <a:pPr indent="0" marL="0">
              <a:buNone/>
            </a:pPr>
            <a:r>
              <a:rPr lang="en-US" sz="1000" dirty="0">
                <a:solidFill>
                  <a:srgbClr val="FFFFFF"/>
                </a:solidFill>
              </a:rPr>
              <a:t>•••••••••</a:t>
            </a:r>
            <a:endParaRPr lang="en-US" sz="1000" dirty="0"/>
          </a:p>
        </p:txBody>
      </p:sp>
      <p:sp>
        <p:nvSpPr>
          <p:cNvPr id="20" name="Shape 18"/>
          <p:cNvSpPr/>
          <p:nvPr/>
        </p:nvSpPr>
        <p:spPr>
          <a:xfrm>
            <a:off x="1371600" y="5394960"/>
            <a:ext cx="4572000" cy="457200"/>
          </a:xfrm>
          <a:prstGeom prst="roundRect">
            <a:avLst>
              <a:gd name="adj" fmla="val 12000"/>
            </a:avLst>
          </a:prstGeom>
          <a:solidFill>
            <a:srgbClr val="6366F1"/>
          </a:solidFill>
          <a:ln w="12700">
            <a:solidFill>
              <a:srgbClr val="6366F1"/>
            </a:solidFill>
            <a:prstDash val="solid"/>
          </a:ln>
        </p:spPr>
      </p:sp>
      <p:sp>
        <p:nvSpPr>
          <p:cNvPr id="21" name="Text 19"/>
          <p:cNvSpPr/>
          <p:nvPr/>
        </p:nvSpPr>
        <p:spPr>
          <a:xfrm>
            <a:off x="1371600" y="5394960"/>
            <a:ext cx="45720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Sign In</a:t>
            </a:r>
            <a:endParaRPr lang="en-US" sz="1300" dirty="0"/>
          </a:p>
        </p:txBody>
      </p:sp>
      <p:sp>
        <p:nvSpPr>
          <p:cNvPr id="22" name="Text 20"/>
          <p:cNvSpPr/>
          <p:nvPr/>
        </p:nvSpPr>
        <p:spPr>
          <a:xfrm>
            <a:off x="1371600" y="5897880"/>
            <a:ext cx="4572000" cy="274320"/>
          </a:xfrm>
          <a:prstGeom prst="rect">
            <a:avLst/>
          </a:prstGeom>
          <a:noFill/>
          <a:ln/>
        </p:spPr>
        <p:txBody>
          <a:bodyPr wrap="square" lIns="0" tIns="0" rIns="0" bIns="0" rtlCol="0" anchor="ctr"/>
          <a:lstStyle/>
          <a:p>
            <a:pPr algn="ctr" indent="0" marL="0">
              <a:buNone/>
            </a:pPr>
            <a:r>
              <a:rPr lang="en-US" sz="1000" dirty="0">
                <a:solidFill>
                  <a:srgbClr val="94A3B8"/>
                </a:solidFill>
              </a:rPr>
              <a:t>New here? </a:t>
            </a:r>
            <a:pPr algn="ctr" indent="0" marL="0">
              <a:buNone/>
            </a:pPr>
            <a:r>
              <a:rPr lang="en-US" sz="1000" b="1" dirty="0">
                <a:solidFill>
                  <a:srgbClr val="818CF8"/>
                </a:solidFill>
              </a:rPr>
              <a:t>Sign up</a:t>
            </a:r>
            <a:endParaRPr lang="en-US" sz="1000" dirty="0"/>
          </a:p>
        </p:txBody>
      </p:sp>
      <p:sp>
        <p:nvSpPr>
          <p:cNvPr id="23" name="Shape 21"/>
          <p:cNvSpPr/>
          <p:nvPr/>
        </p:nvSpPr>
        <p:spPr>
          <a:xfrm>
            <a:off x="7040880" y="1737360"/>
            <a:ext cx="4617720" cy="4663440"/>
          </a:xfrm>
          <a:prstGeom prst="roundRect">
            <a:avLst>
              <a:gd name="adj" fmla="val 1584"/>
            </a:avLst>
          </a:prstGeom>
          <a:solidFill>
            <a:srgbClr val="1A2244"/>
          </a:solidFill>
          <a:ln w="12700">
            <a:solidFill>
              <a:srgbClr val="2A3560"/>
            </a:solidFill>
            <a:prstDash val="solid"/>
          </a:ln>
        </p:spPr>
      </p:sp>
      <p:sp>
        <p:nvSpPr>
          <p:cNvPr id="24" name="Text 22"/>
          <p:cNvSpPr/>
          <p:nvPr/>
        </p:nvSpPr>
        <p:spPr>
          <a:xfrm>
            <a:off x="7178040" y="1874520"/>
            <a:ext cx="438912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Trouble logging in?</a:t>
            </a:r>
            <a:endParaRPr lang="en-US" sz="1600" dirty="0"/>
          </a:p>
        </p:txBody>
      </p:sp>
      <p:sp>
        <p:nvSpPr>
          <p:cNvPr id="25" name="Shape 23"/>
          <p:cNvSpPr/>
          <p:nvPr/>
        </p:nvSpPr>
        <p:spPr>
          <a:xfrm>
            <a:off x="7178040" y="2331720"/>
            <a:ext cx="4343400" cy="822960"/>
          </a:xfrm>
          <a:prstGeom prst="roundRect">
            <a:avLst>
              <a:gd name="adj" fmla="val 8889"/>
            </a:avLst>
          </a:prstGeom>
          <a:solidFill>
            <a:srgbClr val="141B36"/>
          </a:solidFill>
          <a:ln w="12700">
            <a:solidFill>
              <a:srgbClr val="2A3560"/>
            </a:solidFill>
            <a:prstDash val="solid"/>
          </a:ln>
        </p:spPr>
      </p:sp>
      <p:sp>
        <p:nvSpPr>
          <p:cNvPr id="26" name="Shape 24"/>
          <p:cNvSpPr/>
          <p:nvPr/>
        </p:nvSpPr>
        <p:spPr>
          <a:xfrm>
            <a:off x="7178040" y="2331720"/>
            <a:ext cx="73152" cy="822960"/>
          </a:xfrm>
          <a:prstGeom prst="rect">
            <a:avLst/>
          </a:prstGeom>
          <a:solidFill>
            <a:srgbClr val="EF4444"/>
          </a:solidFill>
          <a:ln w="12700">
            <a:solidFill>
              <a:srgbClr val="EF4444"/>
            </a:solidFill>
            <a:prstDash val="solid"/>
          </a:ln>
        </p:spPr>
      </p:sp>
      <p:sp>
        <p:nvSpPr>
          <p:cNvPr id="27" name="Text 25"/>
          <p:cNvSpPr/>
          <p:nvPr/>
        </p:nvSpPr>
        <p:spPr>
          <a:xfrm>
            <a:off x="7315200" y="2423160"/>
            <a:ext cx="41605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Invalid login credentials</a:t>
            </a:r>
            <a:endParaRPr lang="en-US" sz="1100" dirty="0"/>
          </a:p>
        </p:txBody>
      </p:sp>
      <p:sp>
        <p:nvSpPr>
          <p:cNvPr id="28" name="Text 26"/>
          <p:cNvSpPr/>
          <p:nvPr/>
        </p:nvSpPr>
        <p:spPr>
          <a:xfrm>
            <a:off x="7315200" y="2697480"/>
            <a:ext cx="4160520" cy="4114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Check email spelling — no typos. Ask admin to reset if stuck.</a:t>
            </a:r>
            <a:endParaRPr lang="en-US" sz="900" dirty="0"/>
          </a:p>
        </p:txBody>
      </p:sp>
      <p:sp>
        <p:nvSpPr>
          <p:cNvPr id="29" name="Shape 27"/>
          <p:cNvSpPr/>
          <p:nvPr/>
        </p:nvSpPr>
        <p:spPr>
          <a:xfrm>
            <a:off x="7178040" y="3291840"/>
            <a:ext cx="4343400" cy="822960"/>
          </a:xfrm>
          <a:prstGeom prst="roundRect">
            <a:avLst>
              <a:gd name="adj" fmla="val 8889"/>
            </a:avLst>
          </a:prstGeom>
          <a:solidFill>
            <a:srgbClr val="141B36"/>
          </a:solidFill>
          <a:ln w="12700">
            <a:solidFill>
              <a:srgbClr val="2A3560"/>
            </a:solidFill>
            <a:prstDash val="solid"/>
          </a:ln>
        </p:spPr>
      </p:sp>
      <p:sp>
        <p:nvSpPr>
          <p:cNvPr id="30" name="Shape 28"/>
          <p:cNvSpPr/>
          <p:nvPr/>
        </p:nvSpPr>
        <p:spPr>
          <a:xfrm>
            <a:off x="7178040" y="3291840"/>
            <a:ext cx="73152" cy="822960"/>
          </a:xfrm>
          <a:prstGeom prst="rect">
            <a:avLst/>
          </a:prstGeom>
          <a:solidFill>
            <a:srgbClr val="F59E0B"/>
          </a:solidFill>
          <a:ln w="12700">
            <a:solidFill>
              <a:srgbClr val="F59E0B"/>
            </a:solidFill>
            <a:prstDash val="solid"/>
          </a:ln>
        </p:spPr>
      </p:sp>
      <p:sp>
        <p:nvSpPr>
          <p:cNvPr id="31" name="Text 29"/>
          <p:cNvSpPr/>
          <p:nvPr/>
        </p:nvSpPr>
        <p:spPr>
          <a:xfrm>
            <a:off x="7315200" y="3383280"/>
            <a:ext cx="41605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Stuck on 'Checking auth…'</a:t>
            </a:r>
            <a:endParaRPr lang="en-US" sz="1100" dirty="0"/>
          </a:p>
        </p:txBody>
      </p:sp>
      <p:sp>
        <p:nvSpPr>
          <p:cNvPr id="32" name="Text 30"/>
          <p:cNvSpPr/>
          <p:nvPr/>
        </p:nvSpPr>
        <p:spPr>
          <a:xfrm>
            <a:off x="7315200" y="3657600"/>
            <a:ext cx="4160520" cy="4114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Clear cache and try an incognito window.</a:t>
            </a:r>
            <a:endParaRPr lang="en-US" sz="900" dirty="0"/>
          </a:p>
        </p:txBody>
      </p:sp>
      <p:sp>
        <p:nvSpPr>
          <p:cNvPr id="33" name="Shape 31"/>
          <p:cNvSpPr/>
          <p:nvPr/>
        </p:nvSpPr>
        <p:spPr>
          <a:xfrm>
            <a:off x="7178040" y="4251960"/>
            <a:ext cx="4343400" cy="822960"/>
          </a:xfrm>
          <a:prstGeom prst="roundRect">
            <a:avLst>
              <a:gd name="adj" fmla="val 8889"/>
            </a:avLst>
          </a:prstGeom>
          <a:solidFill>
            <a:srgbClr val="141B36"/>
          </a:solidFill>
          <a:ln w="12700">
            <a:solidFill>
              <a:srgbClr val="2A3560"/>
            </a:solidFill>
            <a:prstDash val="solid"/>
          </a:ln>
        </p:spPr>
      </p:sp>
      <p:sp>
        <p:nvSpPr>
          <p:cNvPr id="34" name="Shape 32"/>
          <p:cNvSpPr/>
          <p:nvPr/>
        </p:nvSpPr>
        <p:spPr>
          <a:xfrm>
            <a:off x="7178040" y="4251960"/>
            <a:ext cx="73152" cy="822960"/>
          </a:xfrm>
          <a:prstGeom prst="rect">
            <a:avLst/>
          </a:prstGeom>
          <a:solidFill>
            <a:srgbClr val="818CF8"/>
          </a:solidFill>
          <a:ln w="12700">
            <a:solidFill>
              <a:srgbClr val="818CF8"/>
            </a:solidFill>
            <a:prstDash val="solid"/>
          </a:ln>
        </p:spPr>
      </p:sp>
      <p:sp>
        <p:nvSpPr>
          <p:cNvPr id="35" name="Text 33"/>
          <p:cNvSpPr/>
          <p:nvPr/>
        </p:nvSpPr>
        <p:spPr>
          <a:xfrm>
            <a:off x="7315200" y="4343400"/>
            <a:ext cx="41605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Kicked back to login</a:t>
            </a:r>
            <a:endParaRPr lang="en-US" sz="1100" dirty="0"/>
          </a:p>
        </p:txBody>
      </p:sp>
      <p:sp>
        <p:nvSpPr>
          <p:cNvPr id="36" name="Text 34"/>
          <p:cNvSpPr/>
          <p:nvPr/>
        </p:nvSpPr>
        <p:spPr>
          <a:xfrm>
            <a:off x="7315200" y="4617720"/>
            <a:ext cx="4160520" cy="4114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Session expired — sign in again.</a:t>
            </a:r>
            <a:endParaRPr lang="en-US" sz="900" dirty="0"/>
          </a:p>
        </p:txBody>
      </p:sp>
      <p:sp>
        <p:nvSpPr>
          <p:cNvPr id="37" name="Shape 35"/>
          <p:cNvSpPr/>
          <p:nvPr/>
        </p:nvSpPr>
        <p:spPr>
          <a:xfrm>
            <a:off x="7178040" y="5212080"/>
            <a:ext cx="4343400" cy="822960"/>
          </a:xfrm>
          <a:prstGeom prst="roundRect">
            <a:avLst>
              <a:gd name="adj" fmla="val 8889"/>
            </a:avLst>
          </a:prstGeom>
          <a:solidFill>
            <a:srgbClr val="141B36"/>
          </a:solidFill>
          <a:ln w="12700">
            <a:solidFill>
              <a:srgbClr val="2A3560"/>
            </a:solidFill>
            <a:prstDash val="solid"/>
          </a:ln>
        </p:spPr>
      </p:sp>
      <p:sp>
        <p:nvSpPr>
          <p:cNvPr id="38" name="Shape 36"/>
          <p:cNvSpPr/>
          <p:nvPr/>
        </p:nvSpPr>
        <p:spPr>
          <a:xfrm>
            <a:off x="7178040" y="5212080"/>
            <a:ext cx="73152" cy="822960"/>
          </a:xfrm>
          <a:prstGeom prst="rect">
            <a:avLst/>
          </a:prstGeom>
          <a:solidFill>
            <a:srgbClr val="3B82F6"/>
          </a:solidFill>
          <a:ln w="12700">
            <a:solidFill>
              <a:srgbClr val="3B82F6"/>
            </a:solidFill>
            <a:prstDash val="solid"/>
          </a:ln>
        </p:spPr>
      </p:sp>
      <p:sp>
        <p:nvSpPr>
          <p:cNvPr id="39" name="Text 37"/>
          <p:cNvSpPr/>
          <p:nvPr/>
        </p:nvSpPr>
        <p:spPr>
          <a:xfrm>
            <a:off x="7315200" y="5303520"/>
            <a:ext cx="41605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Forgot password</a:t>
            </a:r>
            <a:endParaRPr lang="en-US" sz="1100" dirty="0"/>
          </a:p>
        </p:txBody>
      </p:sp>
      <p:sp>
        <p:nvSpPr>
          <p:cNvPr id="40" name="Text 38"/>
          <p:cNvSpPr/>
          <p:nvPr/>
        </p:nvSpPr>
        <p:spPr>
          <a:xfrm>
            <a:off x="7315200" y="5577840"/>
            <a:ext cx="4160520" cy="4114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Email oibrahim@ejada.com to reset.</a:t>
            </a:r>
            <a:endParaRPr lang="en-US" sz="900" dirty="0"/>
          </a:p>
        </p:txBody>
      </p:sp>
      <p:sp>
        <p:nvSpPr>
          <p:cNvPr id="41" name="Text 39"/>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42" name="Text 40"/>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5 / 28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3 — Dashboard at a glance</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Six live charts plus a 4-week forecast — updates as tasks are logged.</a:t>
            </a:r>
            <a:endParaRPr lang="en-US" sz="1400" dirty="0"/>
          </a:p>
        </p:txBody>
      </p:sp>
      <p:sp>
        <p:nvSpPr>
          <p:cNvPr id="4" name="Shape 2"/>
          <p:cNvSpPr/>
          <p:nvPr/>
        </p:nvSpPr>
        <p:spPr>
          <a:xfrm>
            <a:off x="502920" y="1691640"/>
            <a:ext cx="8229600" cy="4800600"/>
          </a:xfrm>
          <a:prstGeom prst="roundRect">
            <a:avLst>
              <a:gd name="adj" fmla="val 1905"/>
            </a:avLst>
          </a:prstGeom>
          <a:solidFill>
            <a:srgbClr val="0B1223"/>
          </a:solidFill>
          <a:ln w="12700">
            <a:solidFill>
              <a:srgbClr val="CADCFC"/>
            </a:solidFill>
            <a:prstDash val="solid"/>
          </a:ln>
        </p:spPr>
      </p:sp>
      <p:sp>
        <p:nvSpPr>
          <p:cNvPr id="5" name="Shape 3"/>
          <p:cNvSpPr/>
          <p:nvPr/>
        </p:nvSpPr>
        <p:spPr>
          <a:xfrm>
            <a:off x="548640" y="1737360"/>
            <a:ext cx="8138160" cy="274320"/>
          </a:xfrm>
          <a:prstGeom prst="rect">
            <a:avLst/>
          </a:prstGeom>
          <a:solidFill>
            <a:srgbClr val="111833"/>
          </a:solidFill>
          <a:ln w="12700">
            <a:solidFill>
              <a:srgbClr val="111833"/>
            </a:solidFill>
            <a:prstDash val="solid"/>
          </a:ln>
        </p:spPr>
      </p:sp>
      <p:sp>
        <p:nvSpPr>
          <p:cNvPr id="6" name="Shape 4"/>
          <p:cNvSpPr/>
          <p:nvPr/>
        </p:nvSpPr>
        <p:spPr>
          <a:xfrm>
            <a:off x="640080" y="1801368"/>
            <a:ext cx="109728" cy="109728"/>
          </a:xfrm>
          <a:prstGeom prst="ellipse">
            <a:avLst/>
          </a:prstGeom>
          <a:solidFill>
            <a:srgbClr val="EF4444"/>
          </a:solidFill>
          <a:ln w="12700">
            <a:solidFill>
              <a:srgbClr val="EF4444"/>
            </a:solidFill>
            <a:prstDash val="solid"/>
          </a:ln>
        </p:spPr>
      </p:sp>
      <p:sp>
        <p:nvSpPr>
          <p:cNvPr id="7" name="Shape 5"/>
          <p:cNvSpPr/>
          <p:nvPr/>
        </p:nvSpPr>
        <p:spPr>
          <a:xfrm>
            <a:off x="786384" y="1801368"/>
            <a:ext cx="109728" cy="109728"/>
          </a:xfrm>
          <a:prstGeom prst="ellipse">
            <a:avLst/>
          </a:prstGeom>
          <a:solidFill>
            <a:srgbClr val="F59E0B"/>
          </a:solidFill>
          <a:ln w="12700">
            <a:solidFill>
              <a:srgbClr val="F59E0B"/>
            </a:solidFill>
            <a:prstDash val="solid"/>
          </a:ln>
        </p:spPr>
      </p:sp>
      <p:sp>
        <p:nvSpPr>
          <p:cNvPr id="8" name="Shape 6"/>
          <p:cNvSpPr/>
          <p:nvPr/>
        </p:nvSpPr>
        <p:spPr>
          <a:xfrm>
            <a:off x="932688" y="1801368"/>
            <a:ext cx="109728" cy="109728"/>
          </a:xfrm>
          <a:prstGeom prst="ellipse">
            <a:avLst/>
          </a:prstGeom>
          <a:solidFill>
            <a:srgbClr val="10B981"/>
          </a:solidFill>
          <a:ln w="12700">
            <a:solidFill>
              <a:srgbClr val="10B981"/>
            </a:solidFill>
            <a:prstDash val="solid"/>
          </a:ln>
        </p:spPr>
      </p:sp>
      <p:sp>
        <p:nvSpPr>
          <p:cNvPr id="9" name="Shape 7"/>
          <p:cNvSpPr/>
          <p:nvPr/>
        </p:nvSpPr>
        <p:spPr>
          <a:xfrm>
            <a:off x="548640" y="2011680"/>
            <a:ext cx="1188720" cy="4434840"/>
          </a:xfrm>
          <a:prstGeom prst="rect">
            <a:avLst/>
          </a:prstGeom>
          <a:solidFill>
            <a:srgbClr val="1A2244"/>
          </a:solidFill>
          <a:ln w="12700">
            <a:solidFill>
              <a:srgbClr val="1A2244"/>
            </a:solidFill>
            <a:prstDash val="solid"/>
          </a:ln>
        </p:spPr>
      </p:sp>
      <p:sp>
        <p:nvSpPr>
          <p:cNvPr id="10" name="Shape 8"/>
          <p:cNvSpPr/>
          <p:nvPr/>
        </p:nvSpPr>
        <p:spPr>
          <a:xfrm>
            <a:off x="548640" y="2084832"/>
            <a:ext cx="1188720" cy="384048"/>
          </a:xfrm>
          <a:prstGeom prst="rect">
            <a:avLst/>
          </a:prstGeom>
          <a:solidFill>
            <a:srgbClr val="6366F1"/>
          </a:solidFill>
          <a:ln w="12700">
            <a:solidFill>
              <a:srgbClr val="6366F1"/>
            </a:solidFill>
            <a:prstDash val="solid"/>
          </a:ln>
        </p:spPr>
      </p:sp>
      <p:sp>
        <p:nvSpPr>
          <p:cNvPr id="11" name="Text 9"/>
          <p:cNvSpPr/>
          <p:nvPr/>
        </p:nvSpPr>
        <p:spPr>
          <a:xfrm>
            <a:off x="594360" y="2121408"/>
            <a:ext cx="1143000" cy="365760"/>
          </a:xfrm>
          <a:prstGeom prst="rect">
            <a:avLst/>
          </a:prstGeom>
          <a:noFill/>
          <a:ln/>
        </p:spPr>
        <p:txBody>
          <a:bodyPr wrap="square" lIns="0" tIns="0" rIns="0" bIns="0" rtlCol="0" anchor="ctr"/>
          <a:lstStyle/>
          <a:p>
            <a:pPr indent="0" marL="0">
              <a:buNone/>
            </a:pPr>
            <a:r>
              <a:rPr lang="en-US" sz="800" b="1" dirty="0">
                <a:solidFill>
                  <a:srgbClr val="FFFFFF"/>
                </a:solidFill>
              </a:rPr>
              <a:t>Dashboard</a:t>
            </a:r>
            <a:endParaRPr lang="en-US" sz="800" dirty="0"/>
          </a:p>
        </p:txBody>
      </p:sp>
      <p:sp>
        <p:nvSpPr>
          <p:cNvPr id="12" name="Text 10"/>
          <p:cNvSpPr/>
          <p:nvPr/>
        </p:nvSpPr>
        <p:spPr>
          <a:xfrm>
            <a:off x="594360" y="2532888"/>
            <a:ext cx="1143000" cy="365760"/>
          </a:xfrm>
          <a:prstGeom prst="rect">
            <a:avLst/>
          </a:prstGeom>
          <a:noFill/>
          <a:ln/>
        </p:spPr>
        <p:txBody>
          <a:bodyPr wrap="square" lIns="0" tIns="0" rIns="0" bIns="0" rtlCol="0" anchor="ctr"/>
          <a:lstStyle/>
          <a:p>
            <a:pPr indent="0" marL="0">
              <a:buNone/>
            </a:pPr>
            <a:r>
              <a:rPr lang="en-US" sz="800" dirty="0">
                <a:solidFill>
                  <a:srgbClr val="CADCFC"/>
                </a:solidFill>
              </a:rPr>
              <a:t>Leaderboard</a:t>
            </a:r>
            <a:endParaRPr lang="en-US" sz="800" dirty="0"/>
          </a:p>
        </p:txBody>
      </p:sp>
      <p:sp>
        <p:nvSpPr>
          <p:cNvPr id="13" name="Text 11"/>
          <p:cNvSpPr/>
          <p:nvPr/>
        </p:nvSpPr>
        <p:spPr>
          <a:xfrm>
            <a:off x="594360" y="2944368"/>
            <a:ext cx="1143000" cy="365760"/>
          </a:xfrm>
          <a:prstGeom prst="rect">
            <a:avLst/>
          </a:prstGeom>
          <a:noFill/>
          <a:ln/>
        </p:spPr>
        <p:txBody>
          <a:bodyPr wrap="square" lIns="0" tIns="0" rIns="0" bIns="0" rtlCol="0" anchor="ctr"/>
          <a:lstStyle/>
          <a:p>
            <a:pPr indent="0" marL="0">
              <a:buNone/>
            </a:pPr>
            <a:r>
              <a:rPr lang="en-US" sz="800" dirty="0">
                <a:solidFill>
                  <a:srgbClr val="CADCFC"/>
                </a:solidFill>
              </a:rPr>
              <a:t>Use Cases</a:t>
            </a:r>
            <a:endParaRPr lang="en-US" sz="800" dirty="0"/>
          </a:p>
        </p:txBody>
      </p:sp>
      <p:sp>
        <p:nvSpPr>
          <p:cNvPr id="14" name="Text 12"/>
          <p:cNvSpPr/>
          <p:nvPr/>
        </p:nvSpPr>
        <p:spPr>
          <a:xfrm>
            <a:off x="594360" y="3355848"/>
            <a:ext cx="1143000" cy="365760"/>
          </a:xfrm>
          <a:prstGeom prst="rect">
            <a:avLst/>
          </a:prstGeom>
          <a:noFill/>
          <a:ln/>
        </p:spPr>
        <p:txBody>
          <a:bodyPr wrap="square" lIns="0" tIns="0" rIns="0" bIns="0" rtlCol="0" anchor="ctr"/>
          <a:lstStyle/>
          <a:p>
            <a:pPr indent="0" marL="0">
              <a:buNone/>
            </a:pPr>
            <a:r>
              <a:rPr lang="en-US" sz="800" dirty="0">
                <a:solidFill>
                  <a:srgbClr val="CADCFC"/>
                </a:solidFill>
              </a:rPr>
              <a:t>My Tasks</a:t>
            </a:r>
            <a:endParaRPr lang="en-US" sz="800" dirty="0"/>
          </a:p>
        </p:txBody>
      </p:sp>
      <p:sp>
        <p:nvSpPr>
          <p:cNvPr id="15" name="Text 13"/>
          <p:cNvSpPr/>
          <p:nvPr/>
        </p:nvSpPr>
        <p:spPr>
          <a:xfrm>
            <a:off x="594360" y="3767328"/>
            <a:ext cx="1143000" cy="365760"/>
          </a:xfrm>
          <a:prstGeom prst="rect">
            <a:avLst/>
          </a:prstGeom>
          <a:noFill/>
          <a:ln/>
        </p:spPr>
        <p:txBody>
          <a:bodyPr wrap="square" lIns="0" tIns="0" rIns="0" bIns="0" rtlCol="0" anchor="ctr"/>
          <a:lstStyle/>
          <a:p>
            <a:pPr indent="0" marL="0">
              <a:buNone/>
            </a:pPr>
            <a:r>
              <a:rPr lang="en-US" sz="800" dirty="0">
                <a:solidFill>
                  <a:srgbClr val="CADCFC"/>
                </a:solidFill>
              </a:rPr>
              <a:t>Task Status</a:t>
            </a:r>
            <a:endParaRPr lang="en-US" sz="800" dirty="0"/>
          </a:p>
        </p:txBody>
      </p:sp>
      <p:sp>
        <p:nvSpPr>
          <p:cNvPr id="16" name="Text 14"/>
          <p:cNvSpPr/>
          <p:nvPr/>
        </p:nvSpPr>
        <p:spPr>
          <a:xfrm>
            <a:off x="594360" y="4178808"/>
            <a:ext cx="1143000" cy="365760"/>
          </a:xfrm>
          <a:prstGeom prst="rect">
            <a:avLst/>
          </a:prstGeom>
          <a:noFill/>
          <a:ln/>
        </p:spPr>
        <p:txBody>
          <a:bodyPr wrap="square" lIns="0" tIns="0" rIns="0" bIns="0" rtlCol="0" anchor="ctr"/>
          <a:lstStyle/>
          <a:p>
            <a:pPr indent="0" marL="0">
              <a:buNone/>
            </a:pPr>
            <a:r>
              <a:rPr lang="en-US" sz="800" dirty="0">
                <a:solidFill>
                  <a:srgbClr val="CADCFC"/>
                </a:solidFill>
              </a:rPr>
              <a:t>Export Ctr.</a:t>
            </a:r>
            <a:endParaRPr lang="en-US" sz="800" dirty="0"/>
          </a:p>
        </p:txBody>
      </p:sp>
      <p:sp>
        <p:nvSpPr>
          <p:cNvPr id="17" name="Text 15"/>
          <p:cNvSpPr/>
          <p:nvPr/>
        </p:nvSpPr>
        <p:spPr>
          <a:xfrm>
            <a:off x="1874520" y="2011680"/>
            <a:ext cx="2743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Dashboard</a:t>
            </a:r>
            <a:endParaRPr lang="en-US" sz="1300" dirty="0"/>
          </a:p>
        </p:txBody>
      </p:sp>
      <p:sp>
        <p:nvSpPr>
          <p:cNvPr id="18" name="Shape 16"/>
          <p:cNvSpPr/>
          <p:nvPr/>
        </p:nvSpPr>
        <p:spPr>
          <a:xfrm>
            <a:off x="4663440" y="1965960"/>
            <a:ext cx="1051560" cy="256032"/>
          </a:xfrm>
          <a:prstGeom prst="roundRect">
            <a:avLst>
              <a:gd name="adj" fmla="val 50000"/>
            </a:avLst>
          </a:prstGeom>
          <a:solidFill>
            <a:srgbClr val="1A2244"/>
          </a:solidFill>
          <a:ln w="12700">
            <a:solidFill>
              <a:srgbClr val="1A2244"/>
            </a:solidFill>
            <a:prstDash val="solid"/>
          </a:ln>
        </p:spPr>
      </p:sp>
      <p:sp>
        <p:nvSpPr>
          <p:cNvPr id="19" name="Text 17"/>
          <p:cNvSpPr/>
          <p:nvPr/>
        </p:nvSpPr>
        <p:spPr>
          <a:xfrm>
            <a:off x="4663440" y="1965960"/>
            <a:ext cx="10515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Q2 2026 ▾</a:t>
            </a:r>
            <a:endParaRPr lang="en-US" sz="900" dirty="0"/>
          </a:p>
        </p:txBody>
      </p:sp>
      <p:sp>
        <p:nvSpPr>
          <p:cNvPr id="20" name="Shape 18"/>
          <p:cNvSpPr/>
          <p:nvPr/>
        </p:nvSpPr>
        <p:spPr>
          <a:xfrm>
            <a:off x="5806440" y="1965960"/>
            <a:ext cx="1097280" cy="256032"/>
          </a:xfrm>
          <a:prstGeom prst="roundRect">
            <a:avLst>
              <a:gd name="adj" fmla="val 50000"/>
            </a:avLst>
          </a:prstGeom>
          <a:solidFill>
            <a:srgbClr val="6366F1"/>
          </a:solidFill>
          <a:ln w="12700">
            <a:solidFill>
              <a:srgbClr val="6366F1"/>
            </a:solidFill>
            <a:prstDash val="solid"/>
          </a:ln>
        </p:spPr>
      </p:sp>
      <p:sp>
        <p:nvSpPr>
          <p:cNvPr id="21" name="Text 19"/>
          <p:cNvSpPr/>
          <p:nvPr/>
        </p:nvSpPr>
        <p:spPr>
          <a:xfrm>
            <a:off x="5806440" y="1965960"/>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Log Task</a:t>
            </a:r>
            <a:endParaRPr lang="en-US" sz="900" dirty="0"/>
          </a:p>
        </p:txBody>
      </p:sp>
      <p:sp>
        <p:nvSpPr>
          <p:cNvPr id="22" name="Shape 20"/>
          <p:cNvSpPr/>
          <p:nvPr/>
        </p:nvSpPr>
        <p:spPr>
          <a:xfrm>
            <a:off x="6949440" y="1965960"/>
            <a:ext cx="1005840" cy="256032"/>
          </a:xfrm>
          <a:prstGeom prst="roundRect">
            <a:avLst>
              <a:gd name="adj" fmla="val 50000"/>
            </a:avLst>
          </a:prstGeom>
          <a:solidFill>
            <a:srgbClr val="3B82F6"/>
          </a:solidFill>
          <a:ln w="12700">
            <a:solidFill>
              <a:srgbClr val="3B82F6"/>
            </a:solidFill>
            <a:prstDash val="solid"/>
          </a:ln>
        </p:spPr>
      </p:sp>
      <p:sp>
        <p:nvSpPr>
          <p:cNvPr id="23" name="Text 21"/>
          <p:cNvSpPr/>
          <p:nvPr/>
        </p:nvSpPr>
        <p:spPr>
          <a:xfrm>
            <a:off x="6949440" y="1965960"/>
            <a:ext cx="10058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Add Win</a:t>
            </a:r>
            <a:endParaRPr lang="en-US" sz="900" dirty="0"/>
          </a:p>
        </p:txBody>
      </p:sp>
      <p:sp>
        <p:nvSpPr>
          <p:cNvPr id="24" name="Shape 22"/>
          <p:cNvSpPr/>
          <p:nvPr/>
        </p:nvSpPr>
        <p:spPr>
          <a:xfrm>
            <a:off x="8046720" y="1965960"/>
            <a:ext cx="548640" cy="256032"/>
          </a:xfrm>
          <a:prstGeom prst="roundRect">
            <a:avLst>
              <a:gd name="adj" fmla="val 50000"/>
            </a:avLst>
          </a:prstGeom>
          <a:solidFill>
            <a:srgbClr val="1A2244"/>
          </a:solidFill>
          <a:ln w="12700">
            <a:solidFill>
              <a:srgbClr val="1A2244"/>
            </a:solidFill>
            <a:prstDash val="solid"/>
          </a:ln>
        </p:spPr>
      </p:sp>
      <p:sp>
        <p:nvSpPr>
          <p:cNvPr id="25" name="Text 23"/>
          <p:cNvSpPr/>
          <p:nvPr/>
        </p:nvSpPr>
        <p:spPr>
          <a:xfrm>
            <a:off x="8046720" y="1965960"/>
            <a:ext cx="5486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Export</a:t>
            </a:r>
            <a:endParaRPr lang="en-US" sz="900" dirty="0"/>
          </a:p>
        </p:txBody>
      </p:sp>
      <p:sp>
        <p:nvSpPr>
          <p:cNvPr id="26" name="Shape 24"/>
          <p:cNvSpPr/>
          <p:nvPr/>
        </p:nvSpPr>
        <p:spPr>
          <a:xfrm>
            <a:off x="1874520" y="2377440"/>
            <a:ext cx="2194560" cy="1828800"/>
          </a:xfrm>
          <a:prstGeom prst="roundRect">
            <a:avLst>
              <a:gd name="adj" fmla="val 4000"/>
            </a:avLst>
          </a:prstGeom>
          <a:solidFill>
            <a:srgbClr val="1A2244"/>
          </a:solidFill>
          <a:ln w="12700">
            <a:solidFill>
              <a:srgbClr val="2A3560"/>
            </a:solidFill>
            <a:prstDash val="solid"/>
          </a:ln>
        </p:spPr>
      </p:sp>
      <p:sp>
        <p:nvSpPr>
          <p:cNvPr id="27" name="Text 25"/>
          <p:cNvSpPr/>
          <p:nvPr/>
        </p:nvSpPr>
        <p:spPr>
          <a:xfrm>
            <a:off x="1965960" y="2468880"/>
            <a:ext cx="2103120" cy="22860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Tasks by Practice</a:t>
            </a:r>
            <a:endParaRPr lang="en-US" sz="900" dirty="0"/>
          </a:p>
        </p:txBody>
      </p:sp>
      <p:sp>
        <p:nvSpPr>
          <p:cNvPr id="28" name="Shape 26"/>
          <p:cNvSpPr/>
          <p:nvPr/>
        </p:nvSpPr>
        <p:spPr>
          <a:xfrm>
            <a:off x="2057400" y="3145536"/>
            <a:ext cx="228600" cy="877824"/>
          </a:xfrm>
          <a:prstGeom prst="rect">
            <a:avLst/>
          </a:prstGeom>
          <a:solidFill>
            <a:srgbClr val="6366F1"/>
          </a:solidFill>
          <a:ln w="12700">
            <a:solidFill>
              <a:srgbClr val="6366F1"/>
            </a:solidFill>
            <a:prstDash val="solid"/>
          </a:ln>
        </p:spPr>
      </p:sp>
      <p:sp>
        <p:nvSpPr>
          <p:cNvPr id="29" name="Shape 27"/>
          <p:cNvSpPr/>
          <p:nvPr/>
        </p:nvSpPr>
        <p:spPr>
          <a:xfrm>
            <a:off x="2359152" y="3419856"/>
            <a:ext cx="228600" cy="603504"/>
          </a:xfrm>
          <a:prstGeom prst="rect">
            <a:avLst/>
          </a:prstGeom>
          <a:solidFill>
            <a:srgbClr val="6366F1"/>
          </a:solidFill>
          <a:ln w="12700">
            <a:solidFill>
              <a:srgbClr val="6366F1"/>
            </a:solidFill>
            <a:prstDash val="solid"/>
          </a:ln>
        </p:spPr>
      </p:sp>
      <p:sp>
        <p:nvSpPr>
          <p:cNvPr id="30" name="Shape 28"/>
          <p:cNvSpPr/>
          <p:nvPr/>
        </p:nvSpPr>
        <p:spPr>
          <a:xfrm>
            <a:off x="2660904" y="2980944"/>
            <a:ext cx="228600" cy="1042416"/>
          </a:xfrm>
          <a:prstGeom prst="rect">
            <a:avLst/>
          </a:prstGeom>
          <a:solidFill>
            <a:srgbClr val="6366F1"/>
          </a:solidFill>
          <a:ln w="12700">
            <a:solidFill>
              <a:srgbClr val="6366F1"/>
            </a:solidFill>
            <a:prstDash val="solid"/>
          </a:ln>
        </p:spPr>
      </p:sp>
      <p:sp>
        <p:nvSpPr>
          <p:cNvPr id="31" name="Shape 29"/>
          <p:cNvSpPr/>
          <p:nvPr/>
        </p:nvSpPr>
        <p:spPr>
          <a:xfrm>
            <a:off x="2962656" y="3310128"/>
            <a:ext cx="228600" cy="713232"/>
          </a:xfrm>
          <a:prstGeom prst="rect">
            <a:avLst/>
          </a:prstGeom>
          <a:solidFill>
            <a:srgbClr val="6366F1"/>
          </a:solidFill>
          <a:ln w="12700">
            <a:solidFill>
              <a:srgbClr val="6366F1"/>
            </a:solidFill>
            <a:prstDash val="solid"/>
          </a:ln>
        </p:spPr>
      </p:sp>
      <p:sp>
        <p:nvSpPr>
          <p:cNvPr id="32" name="Shape 30"/>
          <p:cNvSpPr/>
          <p:nvPr/>
        </p:nvSpPr>
        <p:spPr>
          <a:xfrm>
            <a:off x="3264408" y="3200400"/>
            <a:ext cx="228600" cy="822960"/>
          </a:xfrm>
          <a:prstGeom prst="rect">
            <a:avLst/>
          </a:prstGeom>
          <a:solidFill>
            <a:srgbClr val="6366F1"/>
          </a:solidFill>
          <a:ln w="12700">
            <a:solidFill>
              <a:srgbClr val="6366F1"/>
            </a:solidFill>
            <a:prstDash val="solid"/>
          </a:ln>
        </p:spPr>
      </p:sp>
      <p:sp>
        <p:nvSpPr>
          <p:cNvPr id="33" name="Shape 31"/>
          <p:cNvSpPr/>
          <p:nvPr/>
        </p:nvSpPr>
        <p:spPr>
          <a:xfrm>
            <a:off x="3566160" y="3529584"/>
            <a:ext cx="228600" cy="493776"/>
          </a:xfrm>
          <a:prstGeom prst="rect">
            <a:avLst/>
          </a:prstGeom>
          <a:solidFill>
            <a:srgbClr val="6366F1"/>
          </a:solidFill>
          <a:ln w="12700">
            <a:solidFill>
              <a:srgbClr val="6366F1"/>
            </a:solidFill>
            <a:prstDash val="solid"/>
          </a:ln>
        </p:spPr>
      </p:sp>
      <p:sp>
        <p:nvSpPr>
          <p:cNvPr id="34" name="Shape 32"/>
          <p:cNvSpPr/>
          <p:nvPr/>
        </p:nvSpPr>
        <p:spPr>
          <a:xfrm>
            <a:off x="4160520" y="2377440"/>
            <a:ext cx="2194560" cy="1828800"/>
          </a:xfrm>
          <a:prstGeom prst="roundRect">
            <a:avLst>
              <a:gd name="adj" fmla="val 4000"/>
            </a:avLst>
          </a:prstGeom>
          <a:solidFill>
            <a:srgbClr val="1A2244"/>
          </a:solidFill>
          <a:ln w="12700">
            <a:solidFill>
              <a:srgbClr val="2A3560"/>
            </a:solidFill>
            <a:prstDash val="solid"/>
          </a:ln>
        </p:spPr>
      </p:sp>
      <p:sp>
        <p:nvSpPr>
          <p:cNvPr id="35" name="Text 33"/>
          <p:cNvSpPr/>
          <p:nvPr/>
        </p:nvSpPr>
        <p:spPr>
          <a:xfrm>
            <a:off x="4251960" y="2468880"/>
            <a:ext cx="2103120" cy="22860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Time Saved (hrs)</a:t>
            </a:r>
            <a:endParaRPr lang="en-US" sz="900" dirty="0"/>
          </a:p>
        </p:txBody>
      </p:sp>
      <p:sp>
        <p:nvSpPr>
          <p:cNvPr id="36" name="Shape 34"/>
          <p:cNvSpPr/>
          <p:nvPr/>
        </p:nvSpPr>
        <p:spPr>
          <a:xfrm>
            <a:off x="4343400" y="3145536"/>
            <a:ext cx="228600" cy="877824"/>
          </a:xfrm>
          <a:prstGeom prst="rect">
            <a:avLst/>
          </a:prstGeom>
          <a:solidFill>
            <a:srgbClr val="3B82F6"/>
          </a:solidFill>
          <a:ln w="12700">
            <a:solidFill>
              <a:srgbClr val="3B82F6"/>
            </a:solidFill>
            <a:prstDash val="solid"/>
          </a:ln>
        </p:spPr>
      </p:sp>
      <p:sp>
        <p:nvSpPr>
          <p:cNvPr id="37" name="Shape 35"/>
          <p:cNvSpPr/>
          <p:nvPr/>
        </p:nvSpPr>
        <p:spPr>
          <a:xfrm>
            <a:off x="4645152" y="3419856"/>
            <a:ext cx="228600" cy="603504"/>
          </a:xfrm>
          <a:prstGeom prst="rect">
            <a:avLst/>
          </a:prstGeom>
          <a:solidFill>
            <a:srgbClr val="3B82F6"/>
          </a:solidFill>
          <a:ln w="12700">
            <a:solidFill>
              <a:srgbClr val="3B82F6"/>
            </a:solidFill>
            <a:prstDash val="solid"/>
          </a:ln>
        </p:spPr>
      </p:sp>
      <p:sp>
        <p:nvSpPr>
          <p:cNvPr id="38" name="Shape 36"/>
          <p:cNvSpPr/>
          <p:nvPr/>
        </p:nvSpPr>
        <p:spPr>
          <a:xfrm>
            <a:off x="4946904" y="2980944"/>
            <a:ext cx="228600" cy="1042416"/>
          </a:xfrm>
          <a:prstGeom prst="rect">
            <a:avLst/>
          </a:prstGeom>
          <a:solidFill>
            <a:srgbClr val="3B82F6"/>
          </a:solidFill>
          <a:ln w="12700">
            <a:solidFill>
              <a:srgbClr val="3B82F6"/>
            </a:solidFill>
            <a:prstDash val="solid"/>
          </a:ln>
        </p:spPr>
      </p:sp>
      <p:sp>
        <p:nvSpPr>
          <p:cNvPr id="39" name="Shape 37"/>
          <p:cNvSpPr/>
          <p:nvPr/>
        </p:nvSpPr>
        <p:spPr>
          <a:xfrm>
            <a:off x="5248656" y="3310128"/>
            <a:ext cx="228600" cy="713232"/>
          </a:xfrm>
          <a:prstGeom prst="rect">
            <a:avLst/>
          </a:prstGeom>
          <a:solidFill>
            <a:srgbClr val="3B82F6"/>
          </a:solidFill>
          <a:ln w="12700">
            <a:solidFill>
              <a:srgbClr val="3B82F6"/>
            </a:solidFill>
            <a:prstDash val="solid"/>
          </a:ln>
        </p:spPr>
      </p:sp>
      <p:sp>
        <p:nvSpPr>
          <p:cNvPr id="40" name="Shape 38"/>
          <p:cNvSpPr/>
          <p:nvPr/>
        </p:nvSpPr>
        <p:spPr>
          <a:xfrm>
            <a:off x="5550408" y="3200400"/>
            <a:ext cx="228600" cy="822960"/>
          </a:xfrm>
          <a:prstGeom prst="rect">
            <a:avLst/>
          </a:prstGeom>
          <a:solidFill>
            <a:srgbClr val="3B82F6"/>
          </a:solidFill>
          <a:ln w="12700">
            <a:solidFill>
              <a:srgbClr val="3B82F6"/>
            </a:solidFill>
            <a:prstDash val="solid"/>
          </a:ln>
        </p:spPr>
      </p:sp>
      <p:sp>
        <p:nvSpPr>
          <p:cNvPr id="41" name="Shape 39"/>
          <p:cNvSpPr/>
          <p:nvPr/>
        </p:nvSpPr>
        <p:spPr>
          <a:xfrm>
            <a:off x="5852160" y="3529584"/>
            <a:ext cx="228600" cy="493776"/>
          </a:xfrm>
          <a:prstGeom prst="rect">
            <a:avLst/>
          </a:prstGeom>
          <a:solidFill>
            <a:srgbClr val="3B82F6"/>
          </a:solidFill>
          <a:ln w="12700">
            <a:solidFill>
              <a:srgbClr val="3B82F6"/>
            </a:solidFill>
            <a:prstDash val="solid"/>
          </a:ln>
        </p:spPr>
      </p:sp>
      <p:sp>
        <p:nvSpPr>
          <p:cNvPr id="42" name="Shape 40"/>
          <p:cNvSpPr/>
          <p:nvPr/>
        </p:nvSpPr>
        <p:spPr>
          <a:xfrm>
            <a:off x="6446520" y="2377440"/>
            <a:ext cx="2194560" cy="1828800"/>
          </a:xfrm>
          <a:prstGeom prst="roundRect">
            <a:avLst>
              <a:gd name="adj" fmla="val 4000"/>
            </a:avLst>
          </a:prstGeom>
          <a:solidFill>
            <a:srgbClr val="1A2244"/>
          </a:solidFill>
          <a:ln w="12700">
            <a:solidFill>
              <a:srgbClr val="2A3560"/>
            </a:solidFill>
            <a:prstDash val="solid"/>
          </a:ln>
        </p:spPr>
      </p:sp>
      <p:sp>
        <p:nvSpPr>
          <p:cNvPr id="43" name="Text 41"/>
          <p:cNvSpPr/>
          <p:nvPr/>
        </p:nvSpPr>
        <p:spPr>
          <a:xfrm>
            <a:off x="6537960" y="2468880"/>
            <a:ext cx="2103120" cy="22860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Efficiency % by Practice</a:t>
            </a:r>
            <a:endParaRPr lang="en-US" sz="900" dirty="0"/>
          </a:p>
        </p:txBody>
      </p:sp>
      <p:sp>
        <p:nvSpPr>
          <p:cNvPr id="44" name="Shape 42"/>
          <p:cNvSpPr/>
          <p:nvPr/>
        </p:nvSpPr>
        <p:spPr>
          <a:xfrm>
            <a:off x="6629400" y="3145536"/>
            <a:ext cx="228600" cy="877824"/>
          </a:xfrm>
          <a:prstGeom prst="rect">
            <a:avLst/>
          </a:prstGeom>
          <a:solidFill>
            <a:srgbClr val="14B8A6"/>
          </a:solidFill>
          <a:ln w="12700">
            <a:solidFill>
              <a:srgbClr val="14B8A6"/>
            </a:solidFill>
            <a:prstDash val="solid"/>
          </a:ln>
        </p:spPr>
      </p:sp>
      <p:sp>
        <p:nvSpPr>
          <p:cNvPr id="45" name="Shape 43"/>
          <p:cNvSpPr/>
          <p:nvPr/>
        </p:nvSpPr>
        <p:spPr>
          <a:xfrm>
            <a:off x="6931152" y="3419856"/>
            <a:ext cx="228600" cy="603504"/>
          </a:xfrm>
          <a:prstGeom prst="rect">
            <a:avLst/>
          </a:prstGeom>
          <a:solidFill>
            <a:srgbClr val="14B8A6"/>
          </a:solidFill>
          <a:ln w="12700">
            <a:solidFill>
              <a:srgbClr val="14B8A6"/>
            </a:solidFill>
            <a:prstDash val="solid"/>
          </a:ln>
        </p:spPr>
      </p:sp>
      <p:sp>
        <p:nvSpPr>
          <p:cNvPr id="46" name="Shape 44"/>
          <p:cNvSpPr/>
          <p:nvPr/>
        </p:nvSpPr>
        <p:spPr>
          <a:xfrm>
            <a:off x="7232904" y="2980944"/>
            <a:ext cx="228600" cy="1042416"/>
          </a:xfrm>
          <a:prstGeom prst="rect">
            <a:avLst/>
          </a:prstGeom>
          <a:solidFill>
            <a:srgbClr val="14B8A6"/>
          </a:solidFill>
          <a:ln w="12700">
            <a:solidFill>
              <a:srgbClr val="14B8A6"/>
            </a:solidFill>
            <a:prstDash val="solid"/>
          </a:ln>
        </p:spPr>
      </p:sp>
      <p:sp>
        <p:nvSpPr>
          <p:cNvPr id="47" name="Shape 45"/>
          <p:cNvSpPr/>
          <p:nvPr/>
        </p:nvSpPr>
        <p:spPr>
          <a:xfrm>
            <a:off x="7534656" y="3310128"/>
            <a:ext cx="228600" cy="713232"/>
          </a:xfrm>
          <a:prstGeom prst="rect">
            <a:avLst/>
          </a:prstGeom>
          <a:solidFill>
            <a:srgbClr val="14B8A6"/>
          </a:solidFill>
          <a:ln w="12700">
            <a:solidFill>
              <a:srgbClr val="14B8A6"/>
            </a:solidFill>
            <a:prstDash val="solid"/>
          </a:ln>
        </p:spPr>
      </p:sp>
      <p:sp>
        <p:nvSpPr>
          <p:cNvPr id="48" name="Shape 46"/>
          <p:cNvSpPr/>
          <p:nvPr/>
        </p:nvSpPr>
        <p:spPr>
          <a:xfrm>
            <a:off x="7836408" y="3200400"/>
            <a:ext cx="228600" cy="822960"/>
          </a:xfrm>
          <a:prstGeom prst="rect">
            <a:avLst/>
          </a:prstGeom>
          <a:solidFill>
            <a:srgbClr val="14B8A6"/>
          </a:solidFill>
          <a:ln w="12700">
            <a:solidFill>
              <a:srgbClr val="14B8A6"/>
            </a:solidFill>
            <a:prstDash val="solid"/>
          </a:ln>
        </p:spPr>
      </p:sp>
      <p:sp>
        <p:nvSpPr>
          <p:cNvPr id="49" name="Shape 47"/>
          <p:cNvSpPr/>
          <p:nvPr/>
        </p:nvSpPr>
        <p:spPr>
          <a:xfrm>
            <a:off x="8138160" y="3529584"/>
            <a:ext cx="228600" cy="493776"/>
          </a:xfrm>
          <a:prstGeom prst="rect">
            <a:avLst/>
          </a:prstGeom>
          <a:solidFill>
            <a:srgbClr val="14B8A6"/>
          </a:solidFill>
          <a:ln w="12700">
            <a:solidFill>
              <a:srgbClr val="14B8A6"/>
            </a:solidFill>
            <a:prstDash val="solid"/>
          </a:ln>
        </p:spPr>
      </p:sp>
      <p:sp>
        <p:nvSpPr>
          <p:cNvPr id="50" name="Shape 48"/>
          <p:cNvSpPr/>
          <p:nvPr/>
        </p:nvSpPr>
        <p:spPr>
          <a:xfrm>
            <a:off x="1874520" y="4343400"/>
            <a:ext cx="2194560" cy="1828800"/>
          </a:xfrm>
          <a:prstGeom prst="roundRect">
            <a:avLst>
              <a:gd name="adj" fmla="val 4000"/>
            </a:avLst>
          </a:prstGeom>
          <a:solidFill>
            <a:srgbClr val="1A2244"/>
          </a:solidFill>
          <a:ln w="12700">
            <a:solidFill>
              <a:srgbClr val="2A3560"/>
            </a:solidFill>
            <a:prstDash val="solid"/>
          </a:ln>
        </p:spPr>
      </p:sp>
      <p:sp>
        <p:nvSpPr>
          <p:cNvPr id="51" name="Text 49"/>
          <p:cNvSpPr/>
          <p:nvPr/>
        </p:nvSpPr>
        <p:spPr>
          <a:xfrm>
            <a:off x="1965960" y="4434840"/>
            <a:ext cx="2103120" cy="22860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AI Tools Usage</a:t>
            </a:r>
            <a:endParaRPr lang="en-US" sz="900" dirty="0"/>
          </a:p>
        </p:txBody>
      </p:sp>
      <p:sp>
        <p:nvSpPr>
          <p:cNvPr id="52" name="Shape 50"/>
          <p:cNvSpPr/>
          <p:nvPr/>
        </p:nvSpPr>
        <p:spPr>
          <a:xfrm>
            <a:off x="2651760" y="4800600"/>
            <a:ext cx="914400" cy="914400"/>
          </a:xfrm>
          <a:prstGeom prst="ellipse">
            <a:avLst/>
          </a:prstGeom>
          <a:solidFill>
            <a:srgbClr val="EC4899"/>
          </a:solidFill>
          <a:ln w="38100">
            <a:solidFill>
              <a:srgbClr val="1A2244"/>
            </a:solidFill>
            <a:prstDash val="solid"/>
          </a:ln>
        </p:spPr>
      </p:sp>
      <p:sp>
        <p:nvSpPr>
          <p:cNvPr id="53" name="Shape 51"/>
          <p:cNvSpPr/>
          <p:nvPr/>
        </p:nvSpPr>
        <p:spPr>
          <a:xfrm>
            <a:off x="2834640" y="4983480"/>
            <a:ext cx="548640" cy="548640"/>
          </a:xfrm>
          <a:prstGeom prst="ellipse">
            <a:avLst/>
          </a:prstGeom>
          <a:solidFill>
            <a:srgbClr val="1A2244"/>
          </a:solidFill>
          <a:ln w="12700">
            <a:solidFill>
              <a:srgbClr val="1A2244"/>
            </a:solidFill>
            <a:prstDash val="solid"/>
          </a:ln>
        </p:spPr>
      </p:sp>
      <p:sp>
        <p:nvSpPr>
          <p:cNvPr id="54" name="Shape 52"/>
          <p:cNvSpPr/>
          <p:nvPr/>
        </p:nvSpPr>
        <p:spPr>
          <a:xfrm>
            <a:off x="4160520" y="4343400"/>
            <a:ext cx="2194560" cy="1828800"/>
          </a:xfrm>
          <a:prstGeom prst="roundRect">
            <a:avLst>
              <a:gd name="adj" fmla="val 4000"/>
            </a:avLst>
          </a:prstGeom>
          <a:solidFill>
            <a:srgbClr val="1A2244"/>
          </a:solidFill>
          <a:ln w="12700">
            <a:solidFill>
              <a:srgbClr val="2A3560"/>
            </a:solidFill>
            <a:prstDash val="solid"/>
          </a:ln>
        </p:spPr>
      </p:sp>
      <p:sp>
        <p:nvSpPr>
          <p:cNvPr id="55" name="Text 53"/>
          <p:cNvSpPr/>
          <p:nvPr/>
        </p:nvSpPr>
        <p:spPr>
          <a:xfrm>
            <a:off x="4251960" y="4434840"/>
            <a:ext cx="2103120" cy="22860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Task Categories</a:t>
            </a:r>
            <a:endParaRPr lang="en-US" sz="900" dirty="0"/>
          </a:p>
        </p:txBody>
      </p:sp>
      <p:sp>
        <p:nvSpPr>
          <p:cNvPr id="56" name="Shape 54"/>
          <p:cNvSpPr/>
          <p:nvPr/>
        </p:nvSpPr>
        <p:spPr>
          <a:xfrm>
            <a:off x="4937760" y="4800600"/>
            <a:ext cx="914400" cy="914400"/>
          </a:xfrm>
          <a:prstGeom prst="ellipse">
            <a:avLst/>
          </a:prstGeom>
          <a:solidFill>
            <a:srgbClr val="818CF8"/>
          </a:solidFill>
          <a:ln w="38100">
            <a:solidFill>
              <a:srgbClr val="1A2244"/>
            </a:solidFill>
            <a:prstDash val="solid"/>
          </a:ln>
        </p:spPr>
      </p:sp>
      <p:sp>
        <p:nvSpPr>
          <p:cNvPr id="57" name="Shape 55"/>
          <p:cNvSpPr/>
          <p:nvPr/>
        </p:nvSpPr>
        <p:spPr>
          <a:xfrm>
            <a:off x="5120640" y="4983480"/>
            <a:ext cx="548640" cy="548640"/>
          </a:xfrm>
          <a:prstGeom prst="ellipse">
            <a:avLst/>
          </a:prstGeom>
          <a:solidFill>
            <a:srgbClr val="1A2244"/>
          </a:solidFill>
          <a:ln w="12700">
            <a:solidFill>
              <a:srgbClr val="1A2244"/>
            </a:solidFill>
            <a:prstDash val="solid"/>
          </a:ln>
        </p:spPr>
      </p:sp>
      <p:sp>
        <p:nvSpPr>
          <p:cNvPr id="58" name="Shape 56"/>
          <p:cNvSpPr/>
          <p:nvPr/>
        </p:nvSpPr>
        <p:spPr>
          <a:xfrm>
            <a:off x="6446520" y="4343400"/>
            <a:ext cx="2194560" cy="1828800"/>
          </a:xfrm>
          <a:prstGeom prst="roundRect">
            <a:avLst>
              <a:gd name="adj" fmla="val 4000"/>
            </a:avLst>
          </a:prstGeom>
          <a:solidFill>
            <a:srgbClr val="1A2244"/>
          </a:solidFill>
          <a:ln w="12700">
            <a:solidFill>
              <a:srgbClr val="2A3560"/>
            </a:solidFill>
            <a:prstDash val="solid"/>
          </a:ln>
        </p:spPr>
      </p:sp>
      <p:sp>
        <p:nvSpPr>
          <p:cNvPr id="59" name="Text 57"/>
          <p:cNvSpPr/>
          <p:nvPr/>
        </p:nvSpPr>
        <p:spPr>
          <a:xfrm>
            <a:off x="6537960" y="4434840"/>
            <a:ext cx="2103120" cy="22860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Weekly Trend</a:t>
            </a:r>
            <a:endParaRPr lang="en-US" sz="900" dirty="0"/>
          </a:p>
        </p:txBody>
      </p:sp>
      <p:sp>
        <p:nvSpPr>
          <p:cNvPr id="60" name="Shape 58"/>
          <p:cNvSpPr/>
          <p:nvPr/>
        </p:nvSpPr>
        <p:spPr>
          <a:xfrm>
            <a:off x="6629400" y="5715000"/>
            <a:ext cx="274320" cy="-274320"/>
          </a:xfrm>
          <a:prstGeom prst="line">
            <a:avLst/>
          </a:prstGeom>
          <a:noFill/>
          <a:ln w="27940">
            <a:solidFill>
              <a:srgbClr val="10B981"/>
            </a:solidFill>
            <a:prstDash val="solid"/>
          </a:ln>
        </p:spPr>
      </p:sp>
      <p:sp>
        <p:nvSpPr>
          <p:cNvPr id="61" name="Shape 59"/>
          <p:cNvSpPr/>
          <p:nvPr/>
        </p:nvSpPr>
        <p:spPr>
          <a:xfrm>
            <a:off x="6903720" y="5440680"/>
            <a:ext cx="365760" cy="182880"/>
          </a:xfrm>
          <a:prstGeom prst="line">
            <a:avLst/>
          </a:prstGeom>
          <a:noFill/>
          <a:ln w="27940">
            <a:solidFill>
              <a:srgbClr val="10B981"/>
            </a:solidFill>
            <a:prstDash val="solid"/>
          </a:ln>
        </p:spPr>
      </p:sp>
      <p:sp>
        <p:nvSpPr>
          <p:cNvPr id="62" name="Shape 60"/>
          <p:cNvSpPr/>
          <p:nvPr/>
        </p:nvSpPr>
        <p:spPr>
          <a:xfrm>
            <a:off x="7269480" y="5623560"/>
            <a:ext cx="365760" cy="-457200"/>
          </a:xfrm>
          <a:prstGeom prst="line">
            <a:avLst/>
          </a:prstGeom>
          <a:noFill/>
          <a:ln w="27940">
            <a:solidFill>
              <a:srgbClr val="10B981"/>
            </a:solidFill>
            <a:prstDash val="solid"/>
          </a:ln>
        </p:spPr>
      </p:sp>
      <p:sp>
        <p:nvSpPr>
          <p:cNvPr id="63" name="Shape 61"/>
          <p:cNvSpPr/>
          <p:nvPr/>
        </p:nvSpPr>
        <p:spPr>
          <a:xfrm>
            <a:off x="7635240" y="5166360"/>
            <a:ext cx="365760" cy="182880"/>
          </a:xfrm>
          <a:prstGeom prst="line">
            <a:avLst/>
          </a:prstGeom>
          <a:noFill/>
          <a:ln w="27940">
            <a:solidFill>
              <a:srgbClr val="10B981"/>
            </a:solidFill>
            <a:prstDash val="solid"/>
          </a:ln>
        </p:spPr>
      </p:sp>
      <p:sp>
        <p:nvSpPr>
          <p:cNvPr id="64" name="Shape 62"/>
          <p:cNvSpPr/>
          <p:nvPr/>
        </p:nvSpPr>
        <p:spPr>
          <a:xfrm>
            <a:off x="8001000" y="5349240"/>
            <a:ext cx="365760" cy="-457200"/>
          </a:xfrm>
          <a:prstGeom prst="line">
            <a:avLst/>
          </a:prstGeom>
          <a:noFill/>
          <a:ln w="27940">
            <a:solidFill>
              <a:srgbClr val="10B981"/>
            </a:solidFill>
            <a:prstDash val="solid"/>
          </a:ln>
        </p:spPr>
      </p:sp>
      <p:sp>
        <p:nvSpPr>
          <p:cNvPr id="65" name="Shape 63"/>
          <p:cNvSpPr/>
          <p:nvPr/>
        </p:nvSpPr>
        <p:spPr>
          <a:xfrm>
            <a:off x="8915400" y="1691640"/>
            <a:ext cx="2834640" cy="4800600"/>
          </a:xfrm>
          <a:prstGeom prst="roundRect">
            <a:avLst>
              <a:gd name="adj" fmla="val 2581"/>
            </a:avLst>
          </a:prstGeom>
          <a:solidFill>
            <a:srgbClr val="1A2244"/>
          </a:solidFill>
          <a:ln w="12700">
            <a:solidFill>
              <a:srgbClr val="2A3560"/>
            </a:solidFill>
            <a:prstDash val="solid"/>
          </a:ln>
        </p:spPr>
      </p:sp>
      <p:sp>
        <p:nvSpPr>
          <p:cNvPr id="66" name="Text 64"/>
          <p:cNvSpPr/>
          <p:nvPr/>
        </p:nvSpPr>
        <p:spPr>
          <a:xfrm>
            <a:off x="9052560" y="1828800"/>
            <a:ext cx="265176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5 things to notice</a:t>
            </a:r>
            <a:endParaRPr lang="en-US" sz="1500" dirty="0"/>
          </a:p>
        </p:txBody>
      </p:sp>
      <p:sp>
        <p:nvSpPr>
          <p:cNvPr id="67" name="Shape 65"/>
          <p:cNvSpPr/>
          <p:nvPr/>
        </p:nvSpPr>
        <p:spPr>
          <a:xfrm>
            <a:off x="9052560" y="2331720"/>
            <a:ext cx="292608" cy="292608"/>
          </a:xfrm>
          <a:prstGeom prst="ellipse">
            <a:avLst/>
          </a:prstGeom>
          <a:solidFill>
            <a:srgbClr val="6366F1"/>
          </a:solidFill>
          <a:ln w="19050">
            <a:solidFill>
              <a:srgbClr val="FFFFFF"/>
            </a:solidFill>
            <a:prstDash val="solid"/>
          </a:ln>
        </p:spPr>
      </p:sp>
      <p:sp>
        <p:nvSpPr>
          <p:cNvPr id="68" name="Text 66"/>
          <p:cNvSpPr/>
          <p:nvPr/>
        </p:nvSpPr>
        <p:spPr>
          <a:xfrm>
            <a:off x="9052560" y="23317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9" name="Text 67"/>
          <p:cNvSpPr/>
          <p:nvPr/>
        </p:nvSpPr>
        <p:spPr>
          <a:xfrm>
            <a:off x="9418320" y="2331720"/>
            <a:ext cx="233172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Role-aware sidebar</a:t>
            </a:r>
            <a:endParaRPr lang="en-US" sz="1100" dirty="0"/>
          </a:p>
        </p:txBody>
      </p:sp>
      <p:sp>
        <p:nvSpPr>
          <p:cNvPr id="70" name="Text 68"/>
          <p:cNvSpPr/>
          <p:nvPr/>
        </p:nvSpPr>
        <p:spPr>
          <a:xfrm>
            <a:off x="9418320" y="2587752"/>
            <a:ext cx="2331720" cy="411480"/>
          </a:xfrm>
          <a:prstGeom prst="rect">
            <a:avLst/>
          </a:prstGeom>
          <a:noFill/>
          <a:ln/>
        </p:spPr>
        <p:txBody>
          <a:bodyPr wrap="square" lIns="0" tIns="0" rIns="0" bIns="0" rtlCol="0" anchor="ctr"/>
          <a:lstStyle/>
          <a:p>
            <a:pPr indent="0" marL="0">
              <a:buNone/>
            </a:pPr>
            <a:r>
              <a:rPr lang="en-US" sz="850" dirty="0">
                <a:solidFill>
                  <a:srgbClr val="CADCFC"/>
                </a:solidFill>
                <a:latin typeface="Calibri" pitchFamily="34" charset="0"/>
                <a:ea typeface="Calibri" pitchFamily="34" charset="-122"/>
                <a:cs typeface="Calibri" pitchFamily="34" charset="-120"/>
              </a:rPr>
              <a:t>Filters pages by data-role</a:t>
            </a:r>
            <a:endParaRPr lang="en-US" sz="850" dirty="0"/>
          </a:p>
        </p:txBody>
      </p:sp>
      <p:sp>
        <p:nvSpPr>
          <p:cNvPr id="71" name="Shape 69"/>
          <p:cNvSpPr/>
          <p:nvPr/>
        </p:nvSpPr>
        <p:spPr>
          <a:xfrm>
            <a:off x="9052560" y="3108960"/>
            <a:ext cx="292608" cy="292608"/>
          </a:xfrm>
          <a:prstGeom prst="ellipse">
            <a:avLst/>
          </a:prstGeom>
          <a:solidFill>
            <a:srgbClr val="6366F1"/>
          </a:solidFill>
          <a:ln w="19050">
            <a:solidFill>
              <a:srgbClr val="FFFFFF"/>
            </a:solidFill>
            <a:prstDash val="solid"/>
          </a:ln>
        </p:spPr>
      </p:sp>
      <p:sp>
        <p:nvSpPr>
          <p:cNvPr id="72" name="Text 70"/>
          <p:cNvSpPr/>
          <p:nvPr/>
        </p:nvSpPr>
        <p:spPr>
          <a:xfrm>
            <a:off x="9052560" y="310896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73" name="Text 71"/>
          <p:cNvSpPr/>
          <p:nvPr/>
        </p:nvSpPr>
        <p:spPr>
          <a:xfrm>
            <a:off x="9418320" y="3108960"/>
            <a:ext cx="233172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Quarter selector</a:t>
            </a:r>
            <a:endParaRPr lang="en-US" sz="1100" dirty="0"/>
          </a:p>
        </p:txBody>
      </p:sp>
      <p:sp>
        <p:nvSpPr>
          <p:cNvPr id="74" name="Text 72"/>
          <p:cNvSpPr/>
          <p:nvPr/>
        </p:nvSpPr>
        <p:spPr>
          <a:xfrm>
            <a:off x="9418320" y="3364992"/>
            <a:ext cx="2331720" cy="411480"/>
          </a:xfrm>
          <a:prstGeom prst="rect">
            <a:avLst/>
          </a:prstGeom>
          <a:noFill/>
          <a:ln/>
        </p:spPr>
        <p:txBody>
          <a:bodyPr wrap="square" lIns="0" tIns="0" rIns="0" bIns="0" rtlCol="0" anchor="ctr"/>
          <a:lstStyle/>
          <a:p>
            <a:pPr indent="0" marL="0">
              <a:buNone/>
            </a:pPr>
            <a:r>
              <a:rPr lang="en-US" sz="850" dirty="0">
                <a:solidFill>
                  <a:srgbClr val="CADCFC"/>
                </a:solidFill>
                <a:latin typeface="Calibri" pitchFamily="34" charset="0"/>
                <a:ea typeface="Calibri" pitchFamily="34" charset="-122"/>
                <a:cs typeface="Calibri" pitchFamily="34" charset="-120"/>
              </a:rPr>
              <a:t>All Time · Q1–Q4 2026</a:t>
            </a:r>
            <a:endParaRPr lang="en-US" sz="850" dirty="0"/>
          </a:p>
        </p:txBody>
      </p:sp>
      <p:sp>
        <p:nvSpPr>
          <p:cNvPr id="75" name="Shape 73"/>
          <p:cNvSpPr/>
          <p:nvPr/>
        </p:nvSpPr>
        <p:spPr>
          <a:xfrm>
            <a:off x="9052560" y="3886200"/>
            <a:ext cx="292608" cy="292608"/>
          </a:xfrm>
          <a:prstGeom prst="ellipse">
            <a:avLst/>
          </a:prstGeom>
          <a:solidFill>
            <a:srgbClr val="6366F1"/>
          </a:solidFill>
          <a:ln w="19050">
            <a:solidFill>
              <a:srgbClr val="FFFFFF"/>
            </a:solidFill>
            <a:prstDash val="solid"/>
          </a:ln>
        </p:spPr>
      </p:sp>
      <p:sp>
        <p:nvSpPr>
          <p:cNvPr id="76" name="Text 74"/>
          <p:cNvSpPr/>
          <p:nvPr/>
        </p:nvSpPr>
        <p:spPr>
          <a:xfrm>
            <a:off x="9052560" y="388620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77" name="Text 75"/>
          <p:cNvSpPr/>
          <p:nvPr/>
        </p:nvSpPr>
        <p:spPr>
          <a:xfrm>
            <a:off x="9418320" y="3886200"/>
            <a:ext cx="233172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Log Task</a:t>
            </a:r>
            <a:endParaRPr lang="en-US" sz="1100" dirty="0"/>
          </a:p>
        </p:txBody>
      </p:sp>
      <p:sp>
        <p:nvSpPr>
          <p:cNvPr id="78" name="Text 76"/>
          <p:cNvSpPr/>
          <p:nvPr/>
        </p:nvSpPr>
        <p:spPr>
          <a:xfrm>
            <a:off x="9418320" y="4142232"/>
            <a:ext cx="2331720" cy="411480"/>
          </a:xfrm>
          <a:prstGeom prst="rect">
            <a:avLst/>
          </a:prstGeom>
          <a:noFill/>
          <a:ln/>
        </p:spPr>
        <p:txBody>
          <a:bodyPr wrap="square" lIns="0" tIns="0" rIns="0" bIns="0" rtlCol="0" anchor="ctr"/>
          <a:lstStyle/>
          <a:p>
            <a:pPr indent="0" marL="0">
              <a:buNone/>
            </a:pPr>
            <a:r>
              <a:rPr lang="en-US" sz="850" dirty="0">
                <a:solidFill>
                  <a:srgbClr val="CADCFC"/>
                </a:solidFill>
                <a:latin typeface="Calibri" pitchFamily="34" charset="0"/>
                <a:ea typeface="Calibri" pitchFamily="34" charset="-122"/>
                <a:cs typeface="Calibri" pitchFamily="34" charset="-120"/>
              </a:rPr>
              <a:t>Opens the task modal</a:t>
            </a:r>
            <a:endParaRPr lang="en-US" sz="850" dirty="0"/>
          </a:p>
        </p:txBody>
      </p:sp>
      <p:sp>
        <p:nvSpPr>
          <p:cNvPr id="79" name="Shape 77"/>
          <p:cNvSpPr/>
          <p:nvPr/>
        </p:nvSpPr>
        <p:spPr>
          <a:xfrm>
            <a:off x="9052560" y="4663440"/>
            <a:ext cx="292608" cy="292608"/>
          </a:xfrm>
          <a:prstGeom prst="ellipse">
            <a:avLst/>
          </a:prstGeom>
          <a:solidFill>
            <a:srgbClr val="6366F1"/>
          </a:solidFill>
          <a:ln w="19050">
            <a:solidFill>
              <a:srgbClr val="FFFFFF"/>
            </a:solidFill>
            <a:prstDash val="solid"/>
          </a:ln>
        </p:spPr>
      </p:sp>
      <p:sp>
        <p:nvSpPr>
          <p:cNvPr id="80" name="Text 78"/>
          <p:cNvSpPr/>
          <p:nvPr/>
        </p:nvSpPr>
        <p:spPr>
          <a:xfrm>
            <a:off x="9052560" y="466344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81" name="Text 79"/>
          <p:cNvSpPr/>
          <p:nvPr/>
        </p:nvSpPr>
        <p:spPr>
          <a:xfrm>
            <a:off x="9418320" y="4663440"/>
            <a:ext cx="233172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Add Win</a:t>
            </a:r>
            <a:endParaRPr lang="en-US" sz="1100" dirty="0"/>
          </a:p>
        </p:txBody>
      </p:sp>
      <p:sp>
        <p:nvSpPr>
          <p:cNvPr id="82" name="Text 80"/>
          <p:cNvSpPr/>
          <p:nvPr/>
        </p:nvSpPr>
        <p:spPr>
          <a:xfrm>
            <a:off x="9418320" y="4919472"/>
            <a:ext cx="2331720" cy="411480"/>
          </a:xfrm>
          <a:prstGeom prst="rect">
            <a:avLst/>
          </a:prstGeom>
          <a:noFill/>
          <a:ln/>
        </p:spPr>
        <p:txBody>
          <a:bodyPr wrap="square" lIns="0" tIns="0" rIns="0" bIns="0" rtlCol="0" anchor="ctr"/>
          <a:lstStyle/>
          <a:p>
            <a:pPr indent="0" marL="0">
              <a:buNone/>
            </a:pPr>
            <a:r>
              <a:rPr lang="en-US" sz="850" dirty="0">
                <a:solidFill>
                  <a:srgbClr val="CADCFC"/>
                </a:solidFill>
                <a:latin typeface="Calibri" pitchFamily="34" charset="0"/>
                <a:ea typeface="Calibri" pitchFamily="34" charset="-122"/>
                <a:cs typeface="Calibri" pitchFamily="34" charset="-120"/>
              </a:rPr>
              <a:t>Opens the accomplishment modal</a:t>
            </a:r>
            <a:endParaRPr lang="en-US" sz="850" dirty="0"/>
          </a:p>
        </p:txBody>
      </p:sp>
      <p:sp>
        <p:nvSpPr>
          <p:cNvPr id="83" name="Shape 81"/>
          <p:cNvSpPr/>
          <p:nvPr/>
        </p:nvSpPr>
        <p:spPr>
          <a:xfrm>
            <a:off x="9052560" y="5440680"/>
            <a:ext cx="292608" cy="292608"/>
          </a:xfrm>
          <a:prstGeom prst="ellipse">
            <a:avLst/>
          </a:prstGeom>
          <a:solidFill>
            <a:srgbClr val="6366F1"/>
          </a:solidFill>
          <a:ln w="19050">
            <a:solidFill>
              <a:srgbClr val="FFFFFF"/>
            </a:solidFill>
            <a:prstDash val="solid"/>
          </a:ln>
        </p:spPr>
      </p:sp>
      <p:sp>
        <p:nvSpPr>
          <p:cNvPr id="84" name="Text 82"/>
          <p:cNvSpPr/>
          <p:nvPr/>
        </p:nvSpPr>
        <p:spPr>
          <a:xfrm>
            <a:off x="9052560" y="54406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85" name="Text 83"/>
          <p:cNvSpPr/>
          <p:nvPr/>
        </p:nvSpPr>
        <p:spPr>
          <a:xfrm>
            <a:off x="9418320" y="5440680"/>
            <a:ext cx="233172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Export</a:t>
            </a:r>
            <a:endParaRPr lang="en-US" sz="1100" dirty="0"/>
          </a:p>
        </p:txBody>
      </p:sp>
      <p:sp>
        <p:nvSpPr>
          <p:cNvPr id="86" name="Text 84"/>
          <p:cNvSpPr/>
          <p:nvPr/>
        </p:nvSpPr>
        <p:spPr>
          <a:xfrm>
            <a:off x="9418320" y="5696712"/>
            <a:ext cx="2331720" cy="411480"/>
          </a:xfrm>
          <a:prstGeom prst="rect">
            <a:avLst/>
          </a:prstGeom>
          <a:noFill/>
          <a:ln/>
        </p:spPr>
        <p:txBody>
          <a:bodyPr wrap="square" lIns="0" tIns="0" rIns="0" bIns="0" rtlCol="0" anchor="ctr"/>
          <a:lstStyle/>
          <a:p>
            <a:pPr indent="0" marL="0">
              <a:buNone/>
            </a:pPr>
            <a:r>
              <a:rPr lang="en-US" sz="850" dirty="0">
                <a:solidFill>
                  <a:srgbClr val="CADCFC"/>
                </a:solidFill>
                <a:latin typeface="Calibri" pitchFamily="34" charset="0"/>
                <a:ea typeface="Calibri" pitchFamily="34" charset="-122"/>
                <a:cs typeface="Calibri" pitchFamily="34" charset="-120"/>
              </a:rPr>
              <a:t>Quick download of current page</a:t>
            </a:r>
            <a:endParaRPr lang="en-US" sz="850" dirty="0"/>
          </a:p>
        </p:txBody>
      </p:sp>
      <p:sp>
        <p:nvSpPr>
          <p:cNvPr id="87" name="Text 8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88" name="Text 86"/>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 / 28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4 — Quarter selector &amp; theme toggle</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Two global controls in the sidebar footer — persist across pages.</a:t>
            </a:r>
            <a:endParaRPr lang="en-US" sz="1400" dirty="0"/>
          </a:p>
        </p:txBody>
      </p:sp>
      <p:sp>
        <p:nvSpPr>
          <p:cNvPr id="4" name="Shape 2"/>
          <p:cNvSpPr/>
          <p:nvPr/>
        </p:nvSpPr>
        <p:spPr>
          <a:xfrm>
            <a:off x="548640" y="1783080"/>
            <a:ext cx="5577840" cy="4663440"/>
          </a:xfrm>
          <a:prstGeom prst="roundRect">
            <a:avLst>
              <a:gd name="adj" fmla="val 1569"/>
            </a:avLst>
          </a:prstGeom>
          <a:solidFill>
            <a:srgbClr val="1A2244"/>
          </a:solidFill>
          <a:ln w="12700">
            <a:solidFill>
              <a:srgbClr val="2A3560"/>
            </a:solidFill>
            <a:prstDash val="solid"/>
          </a:ln>
        </p:spPr>
      </p:sp>
      <p:sp>
        <p:nvSpPr>
          <p:cNvPr id="5" name="Text 3"/>
          <p:cNvSpPr/>
          <p:nvPr/>
        </p:nvSpPr>
        <p:spPr>
          <a:xfrm>
            <a:off x="731520" y="1920240"/>
            <a:ext cx="5303520" cy="3200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Quarter selector</a:t>
            </a:r>
            <a:endParaRPr lang="en-US" sz="1700" dirty="0"/>
          </a:p>
        </p:txBody>
      </p:sp>
      <p:sp>
        <p:nvSpPr>
          <p:cNvPr id="6" name="Text 4"/>
          <p:cNvSpPr/>
          <p:nvPr/>
        </p:nvSpPr>
        <p:spPr>
          <a:xfrm>
            <a:off x="731520" y="2240280"/>
            <a:ext cx="5303520" cy="27432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Filters every chart, table, KPI and export on the page.</a:t>
            </a:r>
            <a:endParaRPr lang="en-US" sz="1000" dirty="0"/>
          </a:p>
        </p:txBody>
      </p:sp>
      <p:sp>
        <p:nvSpPr>
          <p:cNvPr id="7" name="Shape 5"/>
          <p:cNvSpPr/>
          <p:nvPr/>
        </p:nvSpPr>
        <p:spPr>
          <a:xfrm>
            <a:off x="731520" y="2697480"/>
            <a:ext cx="5212080" cy="594360"/>
          </a:xfrm>
          <a:prstGeom prst="roundRect">
            <a:avLst>
              <a:gd name="adj" fmla="val 12308"/>
            </a:avLst>
          </a:prstGeom>
          <a:solidFill>
            <a:srgbClr val="141B36"/>
          </a:solidFill>
          <a:ln w="12700">
            <a:solidFill>
              <a:srgbClr val="2A3560"/>
            </a:solidFill>
            <a:prstDash val="solid"/>
          </a:ln>
        </p:spPr>
      </p:sp>
      <p:sp>
        <p:nvSpPr>
          <p:cNvPr id="8" name="Text 6"/>
          <p:cNvSpPr/>
          <p:nvPr/>
        </p:nvSpPr>
        <p:spPr>
          <a:xfrm>
            <a:off x="868680" y="2743200"/>
            <a:ext cx="25603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All Time</a:t>
            </a:r>
            <a:endParaRPr lang="en-US" sz="1200" dirty="0"/>
          </a:p>
        </p:txBody>
      </p:sp>
      <p:sp>
        <p:nvSpPr>
          <p:cNvPr id="9" name="Text 7"/>
          <p:cNvSpPr/>
          <p:nvPr/>
        </p:nvSpPr>
        <p:spPr>
          <a:xfrm>
            <a:off x="868680" y="2990088"/>
            <a:ext cx="4206240" cy="2743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Full history since the dashboard launched</a:t>
            </a:r>
            <a:endParaRPr lang="en-US" sz="900" dirty="0"/>
          </a:p>
        </p:txBody>
      </p:sp>
      <p:sp>
        <p:nvSpPr>
          <p:cNvPr id="10" name="Shape 8"/>
          <p:cNvSpPr/>
          <p:nvPr/>
        </p:nvSpPr>
        <p:spPr>
          <a:xfrm>
            <a:off x="731520" y="3410712"/>
            <a:ext cx="5212080" cy="594360"/>
          </a:xfrm>
          <a:prstGeom prst="roundRect">
            <a:avLst>
              <a:gd name="adj" fmla="val 12308"/>
            </a:avLst>
          </a:prstGeom>
          <a:solidFill>
            <a:srgbClr val="141B36"/>
          </a:solidFill>
          <a:ln w="12700">
            <a:solidFill>
              <a:srgbClr val="2A3560"/>
            </a:solidFill>
            <a:prstDash val="solid"/>
          </a:ln>
        </p:spPr>
      </p:sp>
      <p:sp>
        <p:nvSpPr>
          <p:cNvPr id="11" name="Text 9"/>
          <p:cNvSpPr/>
          <p:nvPr/>
        </p:nvSpPr>
        <p:spPr>
          <a:xfrm>
            <a:off x="868680" y="3456432"/>
            <a:ext cx="25603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Q1 2026</a:t>
            </a:r>
            <a:endParaRPr lang="en-US" sz="1200" dirty="0"/>
          </a:p>
        </p:txBody>
      </p:sp>
      <p:sp>
        <p:nvSpPr>
          <p:cNvPr id="12" name="Text 10"/>
          <p:cNvSpPr/>
          <p:nvPr/>
        </p:nvSpPr>
        <p:spPr>
          <a:xfrm>
            <a:off x="868680" y="3703320"/>
            <a:ext cx="4206240" cy="2743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Jan 1 – Mar 31</a:t>
            </a:r>
            <a:endParaRPr lang="en-US" sz="900" dirty="0"/>
          </a:p>
        </p:txBody>
      </p:sp>
      <p:sp>
        <p:nvSpPr>
          <p:cNvPr id="13" name="Shape 11"/>
          <p:cNvSpPr/>
          <p:nvPr/>
        </p:nvSpPr>
        <p:spPr>
          <a:xfrm>
            <a:off x="731520" y="4123944"/>
            <a:ext cx="5212080" cy="594360"/>
          </a:xfrm>
          <a:prstGeom prst="roundRect">
            <a:avLst>
              <a:gd name="adj" fmla="val 12308"/>
            </a:avLst>
          </a:prstGeom>
          <a:solidFill>
            <a:srgbClr val="141B36"/>
          </a:solidFill>
          <a:ln w="12700">
            <a:solidFill>
              <a:srgbClr val="2A3560"/>
            </a:solidFill>
            <a:prstDash val="solid"/>
          </a:ln>
        </p:spPr>
      </p:sp>
      <p:sp>
        <p:nvSpPr>
          <p:cNvPr id="14" name="Shape 12"/>
          <p:cNvSpPr/>
          <p:nvPr/>
        </p:nvSpPr>
        <p:spPr>
          <a:xfrm>
            <a:off x="731520" y="4123944"/>
            <a:ext cx="73152" cy="594360"/>
          </a:xfrm>
          <a:prstGeom prst="rect">
            <a:avLst/>
          </a:prstGeom>
          <a:solidFill>
            <a:srgbClr val="10B981"/>
          </a:solidFill>
          <a:ln w="12700">
            <a:solidFill>
              <a:srgbClr val="10B981"/>
            </a:solidFill>
            <a:prstDash val="solid"/>
          </a:ln>
        </p:spPr>
      </p:sp>
      <p:sp>
        <p:nvSpPr>
          <p:cNvPr id="15" name="Text 13"/>
          <p:cNvSpPr/>
          <p:nvPr/>
        </p:nvSpPr>
        <p:spPr>
          <a:xfrm>
            <a:off x="868680" y="4169664"/>
            <a:ext cx="256032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Q2 2026 (Current)</a:t>
            </a:r>
            <a:endParaRPr lang="en-US" sz="1200" dirty="0"/>
          </a:p>
        </p:txBody>
      </p:sp>
      <p:sp>
        <p:nvSpPr>
          <p:cNvPr id="16" name="Text 14"/>
          <p:cNvSpPr/>
          <p:nvPr/>
        </p:nvSpPr>
        <p:spPr>
          <a:xfrm>
            <a:off x="868680" y="4416552"/>
            <a:ext cx="4206240" cy="2743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Apr 1 – Jun 30</a:t>
            </a:r>
            <a:endParaRPr lang="en-US" sz="900" dirty="0"/>
          </a:p>
        </p:txBody>
      </p:sp>
      <p:sp>
        <p:nvSpPr>
          <p:cNvPr id="17" name="Shape 15"/>
          <p:cNvSpPr/>
          <p:nvPr/>
        </p:nvSpPr>
        <p:spPr>
          <a:xfrm>
            <a:off x="5029200" y="4279392"/>
            <a:ext cx="868680" cy="256032"/>
          </a:xfrm>
          <a:prstGeom prst="roundRect">
            <a:avLst>
              <a:gd name="adj" fmla="val 50000"/>
            </a:avLst>
          </a:prstGeom>
          <a:solidFill>
            <a:srgbClr val="10B981"/>
          </a:solidFill>
          <a:ln w="12700">
            <a:solidFill>
              <a:srgbClr val="10B981"/>
            </a:solidFill>
            <a:prstDash val="solid"/>
          </a:ln>
        </p:spPr>
      </p:sp>
      <p:sp>
        <p:nvSpPr>
          <p:cNvPr id="18" name="Text 16"/>
          <p:cNvSpPr/>
          <p:nvPr/>
        </p:nvSpPr>
        <p:spPr>
          <a:xfrm>
            <a:off x="5029200" y="4279392"/>
            <a:ext cx="8686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Active</a:t>
            </a:r>
            <a:endParaRPr lang="en-US" sz="900" dirty="0"/>
          </a:p>
        </p:txBody>
      </p:sp>
      <p:sp>
        <p:nvSpPr>
          <p:cNvPr id="19" name="Shape 17"/>
          <p:cNvSpPr/>
          <p:nvPr/>
        </p:nvSpPr>
        <p:spPr>
          <a:xfrm>
            <a:off x="731520" y="4837176"/>
            <a:ext cx="5212080" cy="594360"/>
          </a:xfrm>
          <a:prstGeom prst="roundRect">
            <a:avLst>
              <a:gd name="adj" fmla="val 12308"/>
            </a:avLst>
          </a:prstGeom>
          <a:solidFill>
            <a:srgbClr val="141B36"/>
          </a:solidFill>
          <a:ln w="12700">
            <a:solidFill>
              <a:srgbClr val="2A3560"/>
            </a:solidFill>
            <a:prstDash val="solid"/>
          </a:ln>
        </p:spPr>
      </p:sp>
      <p:sp>
        <p:nvSpPr>
          <p:cNvPr id="20" name="Text 18"/>
          <p:cNvSpPr/>
          <p:nvPr/>
        </p:nvSpPr>
        <p:spPr>
          <a:xfrm>
            <a:off x="868680" y="4882896"/>
            <a:ext cx="25603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Q3 2026</a:t>
            </a:r>
            <a:endParaRPr lang="en-US" sz="1200" dirty="0"/>
          </a:p>
        </p:txBody>
      </p:sp>
      <p:sp>
        <p:nvSpPr>
          <p:cNvPr id="21" name="Text 19"/>
          <p:cNvSpPr/>
          <p:nvPr/>
        </p:nvSpPr>
        <p:spPr>
          <a:xfrm>
            <a:off x="868680" y="5129784"/>
            <a:ext cx="4206240" cy="2743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Jul 1 – Sep 30</a:t>
            </a:r>
            <a:endParaRPr lang="en-US" sz="900" dirty="0"/>
          </a:p>
        </p:txBody>
      </p:sp>
      <p:sp>
        <p:nvSpPr>
          <p:cNvPr id="22" name="Shape 20"/>
          <p:cNvSpPr/>
          <p:nvPr/>
        </p:nvSpPr>
        <p:spPr>
          <a:xfrm>
            <a:off x="731520" y="5550408"/>
            <a:ext cx="5212080" cy="594360"/>
          </a:xfrm>
          <a:prstGeom prst="roundRect">
            <a:avLst>
              <a:gd name="adj" fmla="val 12308"/>
            </a:avLst>
          </a:prstGeom>
          <a:solidFill>
            <a:srgbClr val="141B36"/>
          </a:solidFill>
          <a:ln w="12700">
            <a:solidFill>
              <a:srgbClr val="2A3560"/>
            </a:solidFill>
            <a:prstDash val="solid"/>
          </a:ln>
        </p:spPr>
      </p:sp>
      <p:sp>
        <p:nvSpPr>
          <p:cNvPr id="23" name="Text 21"/>
          <p:cNvSpPr/>
          <p:nvPr/>
        </p:nvSpPr>
        <p:spPr>
          <a:xfrm>
            <a:off x="868680" y="5596128"/>
            <a:ext cx="25603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Q4 2026</a:t>
            </a:r>
            <a:endParaRPr lang="en-US" sz="1200" dirty="0"/>
          </a:p>
        </p:txBody>
      </p:sp>
      <p:sp>
        <p:nvSpPr>
          <p:cNvPr id="24" name="Text 22"/>
          <p:cNvSpPr/>
          <p:nvPr/>
        </p:nvSpPr>
        <p:spPr>
          <a:xfrm>
            <a:off x="868680" y="5843016"/>
            <a:ext cx="4206240" cy="2743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Oct 1 – Dec 31</a:t>
            </a:r>
            <a:endParaRPr lang="en-US" sz="900" dirty="0"/>
          </a:p>
        </p:txBody>
      </p:sp>
      <p:sp>
        <p:nvSpPr>
          <p:cNvPr id="25" name="Shape 23"/>
          <p:cNvSpPr/>
          <p:nvPr/>
        </p:nvSpPr>
        <p:spPr>
          <a:xfrm>
            <a:off x="6400800" y="1783080"/>
            <a:ext cx="5303520" cy="4663440"/>
          </a:xfrm>
          <a:prstGeom prst="roundRect">
            <a:avLst>
              <a:gd name="adj" fmla="val 1569"/>
            </a:avLst>
          </a:prstGeom>
          <a:solidFill>
            <a:srgbClr val="1A2244"/>
          </a:solidFill>
          <a:ln w="12700">
            <a:solidFill>
              <a:srgbClr val="2A3560"/>
            </a:solidFill>
            <a:prstDash val="solid"/>
          </a:ln>
        </p:spPr>
      </p:sp>
      <p:sp>
        <p:nvSpPr>
          <p:cNvPr id="26" name="Text 24"/>
          <p:cNvSpPr/>
          <p:nvPr/>
        </p:nvSpPr>
        <p:spPr>
          <a:xfrm>
            <a:off x="6583680" y="1920240"/>
            <a:ext cx="5029200" cy="3200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Theme toggle</a:t>
            </a:r>
            <a:endParaRPr lang="en-US" sz="1700" dirty="0"/>
          </a:p>
        </p:txBody>
      </p:sp>
      <p:sp>
        <p:nvSpPr>
          <p:cNvPr id="27" name="Text 25"/>
          <p:cNvSpPr/>
          <p:nvPr/>
        </p:nvSpPr>
        <p:spPr>
          <a:xfrm>
            <a:off x="6583680" y="2240280"/>
            <a:ext cx="5029200" cy="27432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Click the '☀ Light Mode' / '☾ Dark Mode' button in the sidebar footer.</a:t>
            </a:r>
            <a:endParaRPr lang="en-US" sz="1000" dirty="0"/>
          </a:p>
        </p:txBody>
      </p:sp>
      <p:sp>
        <p:nvSpPr>
          <p:cNvPr id="28" name="Shape 26"/>
          <p:cNvSpPr/>
          <p:nvPr/>
        </p:nvSpPr>
        <p:spPr>
          <a:xfrm>
            <a:off x="6583680" y="2697480"/>
            <a:ext cx="2331720" cy="2148840"/>
          </a:xfrm>
          <a:prstGeom prst="roundRect">
            <a:avLst>
              <a:gd name="adj" fmla="val 4255"/>
            </a:avLst>
          </a:prstGeom>
          <a:solidFill>
            <a:srgbClr val="0F1729"/>
          </a:solidFill>
          <a:ln w="12700">
            <a:solidFill>
              <a:srgbClr val="CADCFC"/>
            </a:solidFill>
            <a:prstDash val="solid"/>
          </a:ln>
        </p:spPr>
      </p:sp>
      <p:sp>
        <p:nvSpPr>
          <p:cNvPr id="29" name="Shape 27"/>
          <p:cNvSpPr/>
          <p:nvPr/>
        </p:nvSpPr>
        <p:spPr>
          <a:xfrm>
            <a:off x="6675120" y="2788920"/>
            <a:ext cx="2148840" cy="228600"/>
          </a:xfrm>
          <a:prstGeom prst="rect">
            <a:avLst/>
          </a:prstGeom>
          <a:solidFill>
            <a:srgbClr val="1A2244"/>
          </a:solidFill>
          <a:ln w="12700">
            <a:solidFill>
              <a:srgbClr val="333333"/>
            </a:solidFill>
            <a:prstDash val="solid"/>
          </a:ln>
        </p:spPr>
      </p:sp>
      <p:sp>
        <p:nvSpPr>
          <p:cNvPr id="30" name="Shape 28"/>
          <p:cNvSpPr/>
          <p:nvPr/>
        </p:nvSpPr>
        <p:spPr>
          <a:xfrm>
            <a:off x="6720840" y="3108960"/>
            <a:ext cx="640080" cy="640080"/>
          </a:xfrm>
          <a:prstGeom prst="rect">
            <a:avLst/>
          </a:prstGeom>
          <a:solidFill>
            <a:srgbClr val="1A2244"/>
          </a:solidFill>
          <a:ln w="6350">
            <a:solidFill>
              <a:srgbClr val="2A3560"/>
            </a:solidFill>
            <a:prstDash val="solid"/>
          </a:ln>
        </p:spPr>
      </p:sp>
      <p:sp>
        <p:nvSpPr>
          <p:cNvPr id="31" name="Text 29"/>
          <p:cNvSpPr/>
          <p:nvPr/>
        </p:nvSpPr>
        <p:spPr>
          <a:xfrm>
            <a:off x="6720840" y="310896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rPr>
              <a:t>12</a:t>
            </a:r>
            <a:endParaRPr lang="en-US" sz="1200" dirty="0"/>
          </a:p>
        </p:txBody>
      </p:sp>
      <p:sp>
        <p:nvSpPr>
          <p:cNvPr id="32" name="Shape 30"/>
          <p:cNvSpPr/>
          <p:nvPr/>
        </p:nvSpPr>
        <p:spPr>
          <a:xfrm>
            <a:off x="7434072" y="3108960"/>
            <a:ext cx="640080" cy="640080"/>
          </a:xfrm>
          <a:prstGeom prst="rect">
            <a:avLst/>
          </a:prstGeom>
          <a:solidFill>
            <a:srgbClr val="1A2244"/>
          </a:solidFill>
          <a:ln w="6350">
            <a:solidFill>
              <a:srgbClr val="2A3560"/>
            </a:solidFill>
            <a:prstDash val="solid"/>
          </a:ln>
        </p:spPr>
      </p:sp>
      <p:sp>
        <p:nvSpPr>
          <p:cNvPr id="33" name="Text 31"/>
          <p:cNvSpPr/>
          <p:nvPr/>
        </p:nvSpPr>
        <p:spPr>
          <a:xfrm>
            <a:off x="7434072" y="310896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rPr>
              <a:t>34</a:t>
            </a:r>
            <a:endParaRPr lang="en-US" sz="1200" dirty="0"/>
          </a:p>
        </p:txBody>
      </p:sp>
      <p:sp>
        <p:nvSpPr>
          <p:cNvPr id="34" name="Shape 32"/>
          <p:cNvSpPr/>
          <p:nvPr/>
        </p:nvSpPr>
        <p:spPr>
          <a:xfrm>
            <a:off x="8147304" y="3108960"/>
            <a:ext cx="640080" cy="640080"/>
          </a:xfrm>
          <a:prstGeom prst="rect">
            <a:avLst/>
          </a:prstGeom>
          <a:solidFill>
            <a:srgbClr val="1A2244"/>
          </a:solidFill>
          <a:ln w="6350">
            <a:solidFill>
              <a:srgbClr val="2A3560"/>
            </a:solidFill>
            <a:prstDash val="solid"/>
          </a:ln>
        </p:spPr>
      </p:sp>
      <p:sp>
        <p:nvSpPr>
          <p:cNvPr id="35" name="Text 33"/>
          <p:cNvSpPr/>
          <p:nvPr/>
        </p:nvSpPr>
        <p:spPr>
          <a:xfrm>
            <a:off x="8147304" y="310896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rPr>
              <a:t>56</a:t>
            </a:r>
            <a:endParaRPr lang="en-US" sz="1200" dirty="0"/>
          </a:p>
        </p:txBody>
      </p:sp>
      <p:sp>
        <p:nvSpPr>
          <p:cNvPr id="36" name="Shape 34"/>
          <p:cNvSpPr/>
          <p:nvPr/>
        </p:nvSpPr>
        <p:spPr>
          <a:xfrm>
            <a:off x="6766560" y="4251960"/>
            <a:ext cx="274320" cy="365760"/>
          </a:xfrm>
          <a:prstGeom prst="rect">
            <a:avLst/>
          </a:prstGeom>
          <a:solidFill>
            <a:srgbClr val="6366F1"/>
          </a:solidFill>
          <a:ln w="12700">
            <a:solidFill>
              <a:srgbClr val="6366F1"/>
            </a:solidFill>
            <a:prstDash val="solid"/>
          </a:ln>
        </p:spPr>
      </p:sp>
      <p:sp>
        <p:nvSpPr>
          <p:cNvPr id="37" name="Shape 35"/>
          <p:cNvSpPr/>
          <p:nvPr/>
        </p:nvSpPr>
        <p:spPr>
          <a:xfrm>
            <a:off x="7178040" y="4114800"/>
            <a:ext cx="274320" cy="502920"/>
          </a:xfrm>
          <a:prstGeom prst="rect">
            <a:avLst/>
          </a:prstGeom>
          <a:solidFill>
            <a:srgbClr val="6366F1"/>
          </a:solidFill>
          <a:ln w="12700">
            <a:solidFill>
              <a:srgbClr val="6366F1"/>
            </a:solidFill>
            <a:prstDash val="solid"/>
          </a:ln>
        </p:spPr>
      </p:sp>
      <p:sp>
        <p:nvSpPr>
          <p:cNvPr id="38" name="Shape 36"/>
          <p:cNvSpPr/>
          <p:nvPr/>
        </p:nvSpPr>
        <p:spPr>
          <a:xfrm>
            <a:off x="7589520" y="4297680"/>
            <a:ext cx="274320" cy="320040"/>
          </a:xfrm>
          <a:prstGeom prst="rect">
            <a:avLst/>
          </a:prstGeom>
          <a:solidFill>
            <a:srgbClr val="6366F1"/>
          </a:solidFill>
          <a:ln w="12700">
            <a:solidFill>
              <a:srgbClr val="6366F1"/>
            </a:solidFill>
            <a:prstDash val="solid"/>
          </a:ln>
        </p:spPr>
      </p:sp>
      <p:sp>
        <p:nvSpPr>
          <p:cNvPr id="39" name="Shape 37"/>
          <p:cNvSpPr/>
          <p:nvPr/>
        </p:nvSpPr>
        <p:spPr>
          <a:xfrm>
            <a:off x="8001000" y="4160520"/>
            <a:ext cx="274320" cy="457200"/>
          </a:xfrm>
          <a:prstGeom prst="rect">
            <a:avLst/>
          </a:prstGeom>
          <a:solidFill>
            <a:srgbClr val="6366F1"/>
          </a:solidFill>
          <a:ln w="12700">
            <a:solidFill>
              <a:srgbClr val="6366F1"/>
            </a:solidFill>
            <a:prstDash val="solid"/>
          </a:ln>
        </p:spPr>
      </p:sp>
      <p:sp>
        <p:nvSpPr>
          <p:cNvPr id="40" name="Shape 38"/>
          <p:cNvSpPr/>
          <p:nvPr/>
        </p:nvSpPr>
        <p:spPr>
          <a:xfrm>
            <a:off x="8412480" y="4343400"/>
            <a:ext cx="274320" cy="274320"/>
          </a:xfrm>
          <a:prstGeom prst="rect">
            <a:avLst/>
          </a:prstGeom>
          <a:solidFill>
            <a:srgbClr val="6366F1"/>
          </a:solidFill>
          <a:ln w="12700">
            <a:solidFill>
              <a:srgbClr val="6366F1"/>
            </a:solidFill>
            <a:prstDash val="solid"/>
          </a:ln>
        </p:spPr>
      </p:sp>
      <p:sp>
        <p:nvSpPr>
          <p:cNvPr id="41" name="Text 39"/>
          <p:cNvSpPr/>
          <p:nvPr/>
        </p:nvSpPr>
        <p:spPr>
          <a:xfrm>
            <a:off x="6583680" y="4892040"/>
            <a:ext cx="23317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Dark (default)</a:t>
            </a:r>
            <a:endParaRPr lang="en-US" sz="1100" dirty="0"/>
          </a:p>
        </p:txBody>
      </p:sp>
      <p:sp>
        <p:nvSpPr>
          <p:cNvPr id="42" name="Shape 40"/>
          <p:cNvSpPr/>
          <p:nvPr/>
        </p:nvSpPr>
        <p:spPr>
          <a:xfrm>
            <a:off x="9235440" y="2697480"/>
            <a:ext cx="2331720" cy="2148840"/>
          </a:xfrm>
          <a:prstGeom prst="roundRect">
            <a:avLst>
              <a:gd name="adj" fmla="val 4255"/>
            </a:avLst>
          </a:prstGeom>
          <a:solidFill>
            <a:srgbClr val="F5F7FB"/>
          </a:solidFill>
          <a:ln w="12700">
            <a:solidFill>
              <a:srgbClr val="2A3560"/>
            </a:solidFill>
            <a:prstDash val="solid"/>
          </a:ln>
        </p:spPr>
      </p:sp>
      <p:sp>
        <p:nvSpPr>
          <p:cNvPr id="43" name="Shape 41"/>
          <p:cNvSpPr/>
          <p:nvPr/>
        </p:nvSpPr>
        <p:spPr>
          <a:xfrm>
            <a:off x="9326880" y="2788920"/>
            <a:ext cx="2148840" cy="228600"/>
          </a:xfrm>
          <a:prstGeom prst="rect">
            <a:avLst/>
          </a:prstGeom>
          <a:solidFill>
            <a:srgbClr val="E2E8F0"/>
          </a:solidFill>
          <a:ln w="12700">
            <a:solidFill>
              <a:srgbClr val="333333"/>
            </a:solidFill>
            <a:prstDash val="solid"/>
          </a:ln>
        </p:spPr>
      </p:sp>
      <p:sp>
        <p:nvSpPr>
          <p:cNvPr id="44" name="Shape 42"/>
          <p:cNvSpPr/>
          <p:nvPr/>
        </p:nvSpPr>
        <p:spPr>
          <a:xfrm>
            <a:off x="9372600" y="3108960"/>
            <a:ext cx="640080" cy="640080"/>
          </a:xfrm>
          <a:prstGeom prst="rect">
            <a:avLst/>
          </a:prstGeom>
          <a:solidFill>
            <a:srgbClr val="FFFFFF"/>
          </a:solidFill>
          <a:ln w="6350">
            <a:solidFill>
              <a:srgbClr val="CBD5E1"/>
            </a:solidFill>
            <a:prstDash val="solid"/>
          </a:ln>
        </p:spPr>
      </p:sp>
      <p:sp>
        <p:nvSpPr>
          <p:cNvPr id="45" name="Text 43"/>
          <p:cNvSpPr/>
          <p:nvPr/>
        </p:nvSpPr>
        <p:spPr>
          <a:xfrm>
            <a:off x="9372600" y="3108960"/>
            <a:ext cx="640080" cy="640080"/>
          </a:xfrm>
          <a:prstGeom prst="rect">
            <a:avLst/>
          </a:prstGeom>
          <a:noFill/>
          <a:ln/>
        </p:spPr>
        <p:txBody>
          <a:bodyPr wrap="square" lIns="0" tIns="0" rIns="0" bIns="0" rtlCol="0" anchor="ctr"/>
          <a:lstStyle/>
          <a:p>
            <a:pPr algn="ctr" indent="0" marL="0">
              <a:buNone/>
            </a:pPr>
            <a:r>
              <a:rPr lang="en-US" sz="1200" b="1" dirty="0">
                <a:solidFill>
                  <a:srgbClr val="1E2761"/>
                </a:solidFill>
              </a:rPr>
              <a:t>12</a:t>
            </a:r>
            <a:endParaRPr lang="en-US" sz="1200" dirty="0"/>
          </a:p>
        </p:txBody>
      </p:sp>
      <p:sp>
        <p:nvSpPr>
          <p:cNvPr id="46" name="Shape 44"/>
          <p:cNvSpPr/>
          <p:nvPr/>
        </p:nvSpPr>
        <p:spPr>
          <a:xfrm>
            <a:off x="10085832" y="3108960"/>
            <a:ext cx="640080" cy="640080"/>
          </a:xfrm>
          <a:prstGeom prst="rect">
            <a:avLst/>
          </a:prstGeom>
          <a:solidFill>
            <a:srgbClr val="FFFFFF"/>
          </a:solidFill>
          <a:ln w="6350">
            <a:solidFill>
              <a:srgbClr val="CBD5E1"/>
            </a:solidFill>
            <a:prstDash val="solid"/>
          </a:ln>
        </p:spPr>
      </p:sp>
      <p:sp>
        <p:nvSpPr>
          <p:cNvPr id="47" name="Text 45"/>
          <p:cNvSpPr/>
          <p:nvPr/>
        </p:nvSpPr>
        <p:spPr>
          <a:xfrm>
            <a:off x="10085832" y="3108960"/>
            <a:ext cx="640080" cy="640080"/>
          </a:xfrm>
          <a:prstGeom prst="rect">
            <a:avLst/>
          </a:prstGeom>
          <a:noFill/>
          <a:ln/>
        </p:spPr>
        <p:txBody>
          <a:bodyPr wrap="square" lIns="0" tIns="0" rIns="0" bIns="0" rtlCol="0" anchor="ctr"/>
          <a:lstStyle/>
          <a:p>
            <a:pPr algn="ctr" indent="0" marL="0">
              <a:buNone/>
            </a:pPr>
            <a:r>
              <a:rPr lang="en-US" sz="1200" b="1" dirty="0">
                <a:solidFill>
                  <a:srgbClr val="1E2761"/>
                </a:solidFill>
              </a:rPr>
              <a:t>34</a:t>
            </a:r>
            <a:endParaRPr lang="en-US" sz="1200" dirty="0"/>
          </a:p>
        </p:txBody>
      </p:sp>
      <p:sp>
        <p:nvSpPr>
          <p:cNvPr id="48" name="Shape 46"/>
          <p:cNvSpPr/>
          <p:nvPr/>
        </p:nvSpPr>
        <p:spPr>
          <a:xfrm>
            <a:off x="10799064" y="3108960"/>
            <a:ext cx="640080" cy="640080"/>
          </a:xfrm>
          <a:prstGeom prst="rect">
            <a:avLst/>
          </a:prstGeom>
          <a:solidFill>
            <a:srgbClr val="FFFFFF"/>
          </a:solidFill>
          <a:ln w="6350">
            <a:solidFill>
              <a:srgbClr val="CBD5E1"/>
            </a:solidFill>
            <a:prstDash val="solid"/>
          </a:ln>
        </p:spPr>
      </p:sp>
      <p:sp>
        <p:nvSpPr>
          <p:cNvPr id="49" name="Text 47"/>
          <p:cNvSpPr/>
          <p:nvPr/>
        </p:nvSpPr>
        <p:spPr>
          <a:xfrm>
            <a:off x="10799064" y="3108960"/>
            <a:ext cx="640080" cy="640080"/>
          </a:xfrm>
          <a:prstGeom prst="rect">
            <a:avLst/>
          </a:prstGeom>
          <a:noFill/>
          <a:ln/>
        </p:spPr>
        <p:txBody>
          <a:bodyPr wrap="square" lIns="0" tIns="0" rIns="0" bIns="0" rtlCol="0" anchor="ctr"/>
          <a:lstStyle/>
          <a:p>
            <a:pPr algn="ctr" indent="0" marL="0">
              <a:buNone/>
            </a:pPr>
            <a:r>
              <a:rPr lang="en-US" sz="1200" b="1" dirty="0">
                <a:solidFill>
                  <a:srgbClr val="1E2761"/>
                </a:solidFill>
              </a:rPr>
              <a:t>56</a:t>
            </a:r>
            <a:endParaRPr lang="en-US" sz="1200" dirty="0"/>
          </a:p>
        </p:txBody>
      </p:sp>
      <p:sp>
        <p:nvSpPr>
          <p:cNvPr id="50" name="Shape 48"/>
          <p:cNvSpPr/>
          <p:nvPr/>
        </p:nvSpPr>
        <p:spPr>
          <a:xfrm>
            <a:off x="9418320" y="4251960"/>
            <a:ext cx="274320" cy="365760"/>
          </a:xfrm>
          <a:prstGeom prst="rect">
            <a:avLst/>
          </a:prstGeom>
          <a:solidFill>
            <a:srgbClr val="6366F1"/>
          </a:solidFill>
          <a:ln w="12700">
            <a:solidFill>
              <a:srgbClr val="6366F1"/>
            </a:solidFill>
            <a:prstDash val="solid"/>
          </a:ln>
        </p:spPr>
      </p:sp>
      <p:sp>
        <p:nvSpPr>
          <p:cNvPr id="51" name="Shape 49"/>
          <p:cNvSpPr/>
          <p:nvPr/>
        </p:nvSpPr>
        <p:spPr>
          <a:xfrm>
            <a:off x="9829800" y="4114800"/>
            <a:ext cx="274320" cy="502920"/>
          </a:xfrm>
          <a:prstGeom prst="rect">
            <a:avLst/>
          </a:prstGeom>
          <a:solidFill>
            <a:srgbClr val="6366F1"/>
          </a:solidFill>
          <a:ln w="12700">
            <a:solidFill>
              <a:srgbClr val="6366F1"/>
            </a:solidFill>
            <a:prstDash val="solid"/>
          </a:ln>
        </p:spPr>
      </p:sp>
      <p:sp>
        <p:nvSpPr>
          <p:cNvPr id="52" name="Shape 50"/>
          <p:cNvSpPr/>
          <p:nvPr/>
        </p:nvSpPr>
        <p:spPr>
          <a:xfrm>
            <a:off x="10241280" y="4297680"/>
            <a:ext cx="274320" cy="320040"/>
          </a:xfrm>
          <a:prstGeom prst="rect">
            <a:avLst/>
          </a:prstGeom>
          <a:solidFill>
            <a:srgbClr val="6366F1"/>
          </a:solidFill>
          <a:ln w="12700">
            <a:solidFill>
              <a:srgbClr val="6366F1"/>
            </a:solidFill>
            <a:prstDash val="solid"/>
          </a:ln>
        </p:spPr>
      </p:sp>
      <p:sp>
        <p:nvSpPr>
          <p:cNvPr id="53" name="Shape 51"/>
          <p:cNvSpPr/>
          <p:nvPr/>
        </p:nvSpPr>
        <p:spPr>
          <a:xfrm>
            <a:off x="10652760" y="4160520"/>
            <a:ext cx="274320" cy="457200"/>
          </a:xfrm>
          <a:prstGeom prst="rect">
            <a:avLst/>
          </a:prstGeom>
          <a:solidFill>
            <a:srgbClr val="6366F1"/>
          </a:solidFill>
          <a:ln w="12700">
            <a:solidFill>
              <a:srgbClr val="6366F1"/>
            </a:solidFill>
            <a:prstDash val="solid"/>
          </a:ln>
        </p:spPr>
      </p:sp>
      <p:sp>
        <p:nvSpPr>
          <p:cNvPr id="54" name="Shape 52"/>
          <p:cNvSpPr/>
          <p:nvPr/>
        </p:nvSpPr>
        <p:spPr>
          <a:xfrm>
            <a:off x="11064240" y="4343400"/>
            <a:ext cx="274320" cy="274320"/>
          </a:xfrm>
          <a:prstGeom prst="rect">
            <a:avLst/>
          </a:prstGeom>
          <a:solidFill>
            <a:srgbClr val="6366F1"/>
          </a:solidFill>
          <a:ln w="12700">
            <a:solidFill>
              <a:srgbClr val="6366F1"/>
            </a:solidFill>
            <a:prstDash val="solid"/>
          </a:ln>
        </p:spPr>
      </p:sp>
      <p:sp>
        <p:nvSpPr>
          <p:cNvPr id="55" name="Text 53"/>
          <p:cNvSpPr/>
          <p:nvPr/>
        </p:nvSpPr>
        <p:spPr>
          <a:xfrm>
            <a:off x="9235440" y="4892040"/>
            <a:ext cx="23317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Light</a:t>
            </a:r>
            <a:endParaRPr lang="en-US" sz="1100" dirty="0"/>
          </a:p>
        </p:txBody>
      </p:sp>
      <p:sp>
        <p:nvSpPr>
          <p:cNvPr id="56" name="Text 54"/>
          <p:cNvSpPr/>
          <p:nvPr/>
        </p:nvSpPr>
        <p:spPr>
          <a:xfrm>
            <a:off x="6583680" y="5349240"/>
            <a:ext cx="5029200" cy="274320"/>
          </a:xfrm>
          <a:prstGeom prst="rect">
            <a:avLst/>
          </a:prstGeom>
          <a:noFill/>
          <a:ln/>
        </p:spPr>
        <p:txBody>
          <a:bodyPr wrap="square" lIns="0" tIns="0" rIns="0" bIns="0" rtlCol="0" anchor="ctr"/>
          <a:lstStyle/>
          <a:p>
            <a:pPr indent="0" marL="0">
              <a:buNone/>
            </a:pPr>
            <a:r>
              <a:rPr lang="en-US" sz="1000" i="1" dirty="0">
                <a:solidFill>
                  <a:srgbClr val="CADCFC"/>
                </a:solidFill>
                <a:latin typeface="Calibri" pitchFamily="34" charset="0"/>
                <a:ea typeface="Calibri" pitchFamily="34" charset="-122"/>
                <a:cs typeface="Calibri" pitchFamily="34" charset="-120"/>
              </a:rPr>
              <a:t>Persists in localStorage — your choice sticks across sessions.</a:t>
            </a:r>
            <a:endParaRPr lang="en-US" sz="1000" dirty="0"/>
          </a:p>
        </p:txBody>
      </p:sp>
      <p:sp>
        <p:nvSpPr>
          <p:cNvPr id="57" name="Text 55"/>
          <p:cNvSpPr/>
          <p:nvPr/>
        </p:nvSpPr>
        <p:spPr>
          <a:xfrm>
            <a:off x="6583680" y="5623560"/>
            <a:ext cx="50292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WCAG 2.1 AA contrast on both themes.</a:t>
            </a:r>
            <a:endParaRPr lang="en-US" sz="1000" dirty="0"/>
          </a:p>
        </p:txBody>
      </p:sp>
      <p:sp>
        <p:nvSpPr>
          <p:cNvPr id="58" name="Text 56"/>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59" name="Text 57"/>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 / 28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5 — Sidebar navigation (the full map)</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Contributors see six items. SPOCs and Admins see additional rows (marked).</a:t>
            </a:r>
            <a:endParaRPr lang="en-US" sz="1400" dirty="0"/>
          </a:p>
        </p:txBody>
      </p:sp>
      <p:sp>
        <p:nvSpPr>
          <p:cNvPr id="4" name="Shape 2"/>
          <p:cNvSpPr/>
          <p:nvPr/>
        </p:nvSpPr>
        <p:spPr>
          <a:xfrm>
            <a:off x="548640" y="1691640"/>
            <a:ext cx="3657600" cy="1005840"/>
          </a:xfrm>
          <a:prstGeom prst="roundRect">
            <a:avLst>
              <a:gd name="adj" fmla="val 7273"/>
            </a:avLst>
          </a:prstGeom>
          <a:solidFill>
            <a:srgbClr val="1A2244"/>
          </a:solidFill>
          <a:ln w="12700">
            <a:solidFill>
              <a:srgbClr val="2A3560"/>
            </a:solidFill>
            <a:prstDash val="solid"/>
          </a:ln>
        </p:spPr>
      </p:sp>
      <p:sp>
        <p:nvSpPr>
          <p:cNvPr id="5" name="Shape 3"/>
          <p:cNvSpPr/>
          <p:nvPr/>
        </p:nvSpPr>
        <p:spPr>
          <a:xfrm>
            <a:off x="548640" y="1691640"/>
            <a:ext cx="73152" cy="1005840"/>
          </a:xfrm>
          <a:prstGeom prst="rect">
            <a:avLst/>
          </a:prstGeom>
          <a:solidFill>
            <a:srgbClr val="14B8A6"/>
          </a:solidFill>
          <a:ln w="12700">
            <a:solidFill>
              <a:srgbClr val="14B8A6"/>
            </a:solidFill>
            <a:prstDash val="solid"/>
          </a:ln>
        </p:spPr>
      </p:sp>
      <p:sp>
        <p:nvSpPr>
          <p:cNvPr id="6" name="Text 4"/>
          <p:cNvSpPr/>
          <p:nvPr/>
        </p:nvSpPr>
        <p:spPr>
          <a:xfrm>
            <a:off x="731520" y="1783080"/>
            <a:ext cx="3383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Dashboard</a:t>
            </a:r>
            <a:endParaRPr lang="en-US" sz="1300" dirty="0"/>
          </a:p>
        </p:txBody>
      </p:sp>
      <p:sp>
        <p:nvSpPr>
          <p:cNvPr id="7" name="Shape 5"/>
          <p:cNvSpPr/>
          <p:nvPr/>
        </p:nvSpPr>
        <p:spPr>
          <a:xfrm>
            <a:off x="731520" y="2103120"/>
            <a:ext cx="1097280" cy="219456"/>
          </a:xfrm>
          <a:prstGeom prst="roundRect">
            <a:avLst>
              <a:gd name="adj" fmla="val 50000"/>
            </a:avLst>
          </a:prstGeom>
          <a:solidFill>
            <a:srgbClr val="14B8A6"/>
          </a:solidFill>
          <a:ln w="12700">
            <a:solidFill>
              <a:srgbClr val="14B8A6"/>
            </a:solidFill>
            <a:prstDash val="solid"/>
          </a:ln>
        </p:spPr>
      </p:sp>
      <p:sp>
        <p:nvSpPr>
          <p:cNvPr id="8" name="Text 6"/>
          <p:cNvSpPr/>
          <p:nvPr/>
        </p:nvSpPr>
        <p:spPr>
          <a:xfrm>
            <a:off x="731520" y="2103120"/>
            <a:ext cx="109728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All</a:t>
            </a:r>
            <a:endParaRPr lang="en-US" sz="900" dirty="0"/>
          </a:p>
        </p:txBody>
      </p:sp>
      <p:sp>
        <p:nvSpPr>
          <p:cNvPr id="9" name="Text 7"/>
          <p:cNvSpPr/>
          <p:nvPr/>
        </p:nvSpPr>
        <p:spPr>
          <a:xfrm>
            <a:off x="731520" y="2350008"/>
            <a:ext cx="3383280" cy="3200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KPIs, 6 charts, forecast</a:t>
            </a:r>
            <a:endParaRPr lang="en-US" sz="900" dirty="0"/>
          </a:p>
        </p:txBody>
      </p:sp>
      <p:sp>
        <p:nvSpPr>
          <p:cNvPr id="10" name="Shape 8"/>
          <p:cNvSpPr/>
          <p:nvPr/>
        </p:nvSpPr>
        <p:spPr>
          <a:xfrm>
            <a:off x="4434840" y="1691640"/>
            <a:ext cx="3657600" cy="1005840"/>
          </a:xfrm>
          <a:prstGeom prst="roundRect">
            <a:avLst>
              <a:gd name="adj" fmla="val 7273"/>
            </a:avLst>
          </a:prstGeom>
          <a:solidFill>
            <a:srgbClr val="1A2244"/>
          </a:solidFill>
          <a:ln w="12700">
            <a:solidFill>
              <a:srgbClr val="2A3560"/>
            </a:solidFill>
            <a:prstDash val="solid"/>
          </a:ln>
        </p:spPr>
      </p:sp>
      <p:sp>
        <p:nvSpPr>
          <p:cNvPr id="11" name="Shape 9"/>
          <p:cNvSpPr/>
          <p:nvPr/>
        </p:nvSpPr>
        <p:spPr>
          <a:xfrm>
            <a:off x="4434840" y="1691640"/>
            <a:ext cx="73152" cy="1005840"/>
          </a:xfrm>
          <a:prstGeom prst="rect">
            <a:avLst/>
          </a:prstGeom>
          <a:solidFill>
            <a:srgbClr val="14B8A6"/>
          </a:solidFill>
          <a:ln w="12700">
            <a:solidFill>
              <a:srgbClr val="14B8A6"/>
            </a:solidFill>
            <a:prstDash val="solid"/>
          </a:ln>
        </p:spPr>
      </p:sp>
      <p:sp>
        <p:nvSpPr>
          <p:cNvPr id="12" name="Text 10"/>
          <p:cNvSpPr/>
          <p:nvPr/>
        </p:nvSpPr>
        <p:spPr>
          <a:xfrm>
            <a:off x="4617720" y="1783080"/>
            <a:ext cx="3383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Leaderboard</a:t>
            </a:r>
            <a:endParaRPr lang="en-US" sz="1300" dirty="0"/>
          </a:p>
        </p:txBody>
      </p:sp>
      <p:sp>
        <p:nvSpPr>
          <p:cNvPr id="13" name="Shape 11"/>
          <p:cNvSpPr/>
          <p:nvPr/>
        </p:nvSpPr>
        <p:spPr>
          <a:xfrm>
            <a:off x="4617720" y="2103120"/>
            <a:ext cx="1097280" cy="219456"/>
          </a:xfrm>
          <a:prstGeom prst="roundRect">
            <a:avLst>
              <a:gd name="adj" fmla="val 50000"/>
            </a:avLst>
          </a:prstGeom>
          <a:solidFill>
            <a:srgbClr val="14B8A6"/>
          </a:solidFill>
          <a:ln w="12700">
            <a:solidFill>
              <a:srgbClr val="14B8A6"/>
            </a:solidFill>
            <a:prstDash val="solid"/>
          </a:ln>
        </p:spPr>
      </p:sp>
      <p:sp>
        <p:nvSpPr>
          <p:cNvPr id="14" name="Text 12"/>
          <p:cNvSpPr/>
          <p:nvPr/>
        </p:nvSpPr>
        <p:spPr>
          <a:xfrm>
            <a:off x="4617720" y="2103120"/>
            <a:ext cx="109728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All</a:t>
            </a:r>
            <a:endParaRPr lang="en-US" sz="900" dirty="0"/>
          </a:p>
        </p:txBody>
      </p:sp>
      <p:sp>
        <p:nvSpPr>
          <p:cNvPr id="15" name="Text 13"/>
          <p:cNvSpPr/>
          <p:nvPr/>
        </p:nvSpPr>
        <p:spPr>
          <a:xfrm>
            <a:off x="4617720" y="2350008"/>
            <a:ext cx="3383280" cy="3200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Practice + individual rankings</a:t>
            </a:r>
            <a:endParaRPr lang="en-US" sz="900" dirty="0"/>
          </a:p>
        </p:txBody>
      </p:sp>
      <p:sp>
        <p:nvSpPr>
          <p:cNvPr id="16" name="Shape 14"/>
          <p:cNvSpPr/>
          <p:nvPr/>
        </p:nvSpPr>
        <p:spPr>
          <a:xfrm>
            <a:off x="8321040" y="1691640"/>
            <a:ext cx="3657600" cy="1005840"/>
          </a:xfrm>
          <a:prstGeom prst="roundRect">
            <a:avLst>
              <a:gd name="adj" fmla="val 7273"/>
            </a:avLst>
          </a:prstGeom>
          <a:solidFill>
            <a:srgbClr val="1A2244"/>
          </a:solidFill>
          <a:ln w="12700">
            <a:solidFill>
              <a:srgbClr val="2A3560"/>
            </a:solidFill>
            <a:prstDash val="solid"/>
          </a:ln>
        </p:spPr>
      </p:sp>
      <p:sp>
        <p:nvSpPr>
          <p:cNvPr id="17" name="Shape 15"/>
          <p:cNvSpPr/>
          <p:nvPr/>
        </p:nvSpPr>
        <p:spPr>
          <a:xfrm>
            <a:off x="8321040" y="1691640"/>
            <a:ext cx="73152" cy="1005840"/>
          </a:xfrm>
          <a:prstGeom prst="rect">
            <a:avLst/>
          </a:prstGeom>
          <a:solidFill>
            <a:srgbClr val="3B82F6"/>
          </a:solidFill>
          <a:ln w="12700">
            <a:solidFill>
              <a:srgbClr val="3B82F6"/>
            </a:solidFill>
            <a:prstDash val="solid"/>
          </a:ln>
        </p:spPr>
      </p:sp>
      <p:sp>
        <p:nvSpPr>
          <p:cNvPr id="18" name="Text 16"/>
          <p:cNvSpPr/>
          <p:nvPr/>
        </p:nvSpPr>
        <p:spPr>
          <a:xfrm>
            <a:off x="8503920" y="1783080"/>
            <a:ext cx="3383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My Tasks</a:t>
            </a:r>
            <a:endParaRPr lang="en-US" sz="1300" dirty="0"/>
          </a:p>
        </p:txBody>
      </p:sp>
      <p:sp>
        <p:nvSpPr>
          <p:cNvPr id="19" name="Shape 17"/>
          <p:cNvSpPr/>
          <p:nvPr/>
        </p:nvSpPr>
        <p:spPr>
          <a:xfrm>
            <a:off x="8503920" y="2103120"/>
            <a:ext cx="1097280" cy="219456"/>
          </a:xfrm>
          <a:prstGeom prst="roundRect">
            <a:avLst>
              <a:gd name="adj" fmla="val 50000"/>
            </a:avLst>
          </a:prstGeom>
          <a:solidFill>
            <a:srgbClr val="3B82F6"/>
          </a:solidFill>
          <a:ln w="12700">
            <a:solidFill>
              <a:srgbClr val="3B82F6"/>
            </a:solidFill>
            <a:prstDash val="solid"/>
          </a:ln>
        </p:spPr>
      </p:sp>
      <p:sp>
        <p:nvSpPr>
          <p:cNvPr id="20" name="Text 18"/>
          <p:cNvSpPr/>
          <p:nvPr/>
        </p:nvSpPr>
        <p:spPr>
          <a:xfrm>
            <a:off x="8503920" y="2103120"/>
            <a:ext cx="109728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You</a:t>
            </a:r>
            <a:endParaRPr lang="en-US" sz="900" dirty="0"/>
          </a:p>
        </p:txBody>
      </p:sp>
      <p:sp>
        <p:nvSpPr>
          <p:cNvPr id="21" name="Text 19"/>
          <p:cNvSpPr/>
          <p:nvPr/>
        </p:nvSpPr>
        <p:spPr>
          <a:xfrm>
            <a:off x="8503920" y="2350008"/>
            <a:ext cx="3383280" cy="3200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Your submissions + edit</a:t>
            </a:r>
            <a:endParaRPr lang="en-US" sz="900" dirty="0"/>
          </a:p>
        </p:txBody>
      </p:sp>
      <p:sp>
        <p:nvSpPr>
          <p:cNvPr id="22" name="Shape 20"/>
          <p:cNvSpPr/>
          <p:nvPr/>
        </p:nvSpPr>
        <p:spPr>
          <a:xfrm>
            <a:off x="548640" y="2862072"/>
            <a:ext cx="3657600" cy="1005840"/>
          </a:xfrm>
          <a:prstGeom prst="roundRect">
            <a:avLst>
              <a:gd name="adj" fmla="val 7273"/>
            </a:avLst>
          </a:prstGeom>
          <a:solidFill>
            <a:srgbClr val="1A2244"/>
          </a:solidFill>
          <a:ln w="12700">
            <a:solidFill>
              <a:srgbClr val="2A3560"/>
            </a:solidFill>
            <a:prstDash val="solid"/>
          </a:ln>
        </p:spPr>
      </p:sp>
      <p:sp>
        <p:nvSpPr>
          <p:cNvPr id="23" name="Shape 21"/>
          <p:cNvSpPr/>
          <p:nvPr/>
        </p:nvSpPr>
        <p:spPr>
          <a:xfrm>
            <a:off x="548640" y="2862072"/>
            <a:ext cx="73152" cy="1005840"/>
          </a:xfrm>
          <a:prstGeom prst="rect">
            <a:avLst/>
          </a:prstGeom>
          <a:solidFill>
            <a:srgbClr val="3B82F6"/>
          </a:solidFill>
          <a:ln w="12700">
            <a:solidFill>
              <a:srgbClr val="3B82F6"/>
            </a:solidFill>
            <a:prstDash val="solid"/>
          </a:ln>
        </p:spPr>
      </p:sp>
      <p:sp>
        <p:nvSpPr>
          <p:cNvPr id="24" name="Text 22"/>
          <p:cNvSpPr/>
          <p:nvPr/>
        </p:nvSpPr>
        <p:spPr>
          <a:xfrm>
            <a:off x="731520" y="2953512"/>
            <a:ext cx="3383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Task Status</a:t>
            </a:r>
            <a:endParaRPr lang="en-US" sz="1300" dirty="0"/>
          </a:p>
        </p:txBody>
      </p:sp>
      <p:sp>
        <p:nvSpPr>
          <p:cNvPr id="25" name="Shape 23"/>
          <p:cNvSpPr/>
          <p:nvPr/>
        </p:nvSpPr>
        <p:spPr>
          <a:xfrm>
            <a:off x="731520" y="3273552"/>
            <a:ext cx="1097280" cy="219456"/>
          </a:xfrm>
          <a:prstGeom prst="roundRect">
            <a:avLst>
              <a:gd name="adj" fmla="val 50000"/>
            </a:avLst>
          </a:prstGeom>
          <a:solidFill>
            <a:srgbClr val="3B82F6"/>
          </a:solidFill>
          <a:ln w="12700">
            <a:solidFill>
              <a:srgbClr val="3B82F6"/>
            </a:solidFill>
            <a:prstDash val="solid"/>
          </a:ln>
        </p:spPr>
      </p:sp>
      <p:sp>
        <p:nvSpPr>
          <p:cNvPr id="26" name="Text 24"/>
          <p:cNvSpPr/>
          <p:nvPr/>
        </p:nvSpPr>
        <p:spPr>
          <a:xfrm>
            <a:off x="731520" y="3273552"/>
            <a:ext cx="109728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You</a:t>
            </a:r>
            <a:endParaRPr lang="en-US" sz="900" dirty="0"/>
          </a:p>
        </p:txBody>
      </p:sp>
      <p:sp>
        <p:nvSpPr>
          <p:cNvPr id="27" name="Text 25"/>
          <p:cNvSpPr/>
          <p:nvPr/>
        </p:nvSpPr>
        <p:spPr>
          <a:xfrm>
            <a:off x="731520" y="3520440"/>
            <a:ext cx="3383280" cy="3200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Approval state tracker</a:t>
            </a:r>
            <a:endParaRPr lang="en-US" sz="900" dirty="0"/>
          </a:p>
        </p:txBody>
      </p:sp>
      <p:sp>
        <p:nvSpPr>
          <p:cNvPr id="28" name="Shape 26"/>
          <p:cNvSpPr/>
          <p:nvPr/>
        </p:nvSpPr>
        <p:spPr>
          <a:xfrm>
            <a:off x="4434840" y="2862072"/>
            <a:ext cx="3657600" cy="1005840"/>
          </a:xfrm>
          <a:prstGeom prst="roundRect">
            <a:avLst>
              <a:gd name="adj" fmla="val 7273"/>
            </a:avLst>
          </a:prstGeom>
          <a:solidFill>
            <a:srgbClr val="1A2244"/>
          </a:solidFill>
          <a:ln w="12700">
            <a:solidFill>
              <a:srgbClr val="2A3560"/>
            </a:solidFill>
            <a:prstDash val="solid"/>
          </a:ln>
        </p:spPr>
      </p:sp>
      <p:sp>
        <p:nvSpPr>
          <p:cNvPr id="29" name="Shape 27"/>
          <p:cNvSpPr/>
          <p:nvPr/>
        </p:nvSpPr>
        <p:spPr>
          <a:xfrm>
            <a:off x="4434840" y="2862072"/>
            <a:ext cx="73152" cy="1005840"/>
          </a:xfrm>
          <a:prstGeom prst="rect">
            <a:avLst/>
          </a:prstGeom>
          <a:solidFill>
            <a:srgbClr val="14B8A6"/>
          </a:solidFill>
          <a:ln w="12700">
            <a:solidFill>
              <a:srgbClr val="14B8A6"/>
            </a:solidFill>
            <a:prstDash val="solid"/>
          </a:ln>
        </p:spPr>
      </p:sp>
      <p:sp>
        <p:nvSpPr>
          <p:cNvPr id="30" name="Text 28"/>
          <p:cNvSpPr/>
          <p:nvPr/>
        </p:nvSpPr>
        <p:spPr>
          <a:xfrm>
            <a:off x="4617720" y="2953512"/>
            <a:ext cx="3383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Use Case Library</a:t>
            </a:r>
            <a:endParaRPr lang="en-US" sz="1300" dirty="0"/>
          </a:p>
        </p:txBody>
      </p:sp>
      <p:sp>
        <p:nvSpPr>
          <p:cNvPr id="31" name="Shape 29"/>
          <p:cNvSpPr/>
          <p:nvPr/>
        </p:nvSpPr>
        <p:spPr>
          <a:xfrm>
            <a:off x="4617720" y="3273552"/>
            <a:ext cx="1097280" cy="219456"/>
          </a:xfrm>
          <a:prstGeom prst="roundRect">
            <a:avLst>
              <a:gd name="adj" fmla="val 50000"/>
            </a:avLst>
          </a:prstGeom>
          <a:solidFill>
            <a:srgbClr val="14B8A6"/>
          </a:solidFill>
          <a:ln w="12700">
            <a:solidFill>
              <a:srgbClr val="14B8A6"/>
            </a:solidFill>
            <a:prstDash val="solid"/>
          </a:ln>
        </p:spPr>
      </p:sp>
      <p:sp>
        <p:nvSpPr>
          <p:cNvPr id="32" name="Text 30"/>
          <p:cNvSpPr/>
          <p:nvPr/>
        </p:nvSpPr>
        <p:spPr>
          <a:xfrm>
            <a:off x="4617720" y="3273552"/>
            <a:ext cx="109728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All</a:t>
            </a:r>
            <a:endParaRPr lang="en-US" sz="900" dirty="0"/>
          </a:p>
        </p:txBody>
      </p:sp>
      <p:sp>
        <p:nvSpPr>
          <p:cNvPr id="33" name="Text 31"/>
          <p:cNvSpPr/>
          <p:nvPr/>
        </p:nvSpPr>
        <p:spPr>
          <a:xfrm>
            <a:off x="4617720" y="3520440"/>
            <a:ext cx="3383280" cy="3200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Searchable AI use cases</a:t>
            </a:r>
            <a:endParaRPr lang="en-US" sz="900" dirty="0"/>
          </a:p>
        </p:txBody>
      </p:sp>
      <p:sp>
        <p:nvSpPr>
          <p:cNvPr id="34" name="Shape 32"/>
          <p:cNvSpPr/>
          <p:nvPr/>
        </p:nvSpPr>
        <p:spPr>
          <a:xfrm>
            <a:off x="8321040" y="2862072"/>
            <a:ext cx="3657600" cy="1005840"/>
          </a:xfrm>
          <a:prstGeom prst="roundRect">
            <a:avLst>
              <a:gd name="adj" fmla="val 7273"/>
            </a:avLst>
          </a:prstGeom>
          <a:solidFill>
            <a:srgbClr val="1A2244"/>
          </a:solidFill>
          <a:ln w="12700">
            <a:solidFill>
              <a:srgbClr val="2A3560"/>
            </a:solidFill>
            <a:prstDash val="solid"/>
          </a:ln>
        </p:spPr>
      </p:sp>
      <p:sp>
        <p:nvSpPr>
          <p:cNvPr id="35" name="Shape 33"/>
          <p:cNvSpPr/>
          <p:nvPr/>
        </p:nvSpPr>
        <p:spPr>
          <a:xfrm>
            <a:off x="8321040" y="2862072"/>
            <a:ext cx="73152" cy="1005840"/>
          </a:xfrm>
          <a:prstGeom prst="rect">
            <a:avLst/>
          </a:prstGeom>
          <a:solidFill>
            <a:srgbClr val="14B8A6"/>
          </a:solidFill>
          <a:ln w="12700">
            <a:solidFill>
              <a:srgbClr val="14B8A6"/>
            </a:solidFill>
            <a:prstDash val="solid"/>
          </a:ln>
        </p:spPr>
      </p:sp>
      <p:sp>
        <p:nvSpPr>
          <p:cNvPr id="36" name="Text 34"/>
          <p:cNvSpPr/>
          <p:nvPr/>
        </p:nvSpPr>
        <p:spPr>
          <a:xfrm>
            <a:off x="8503920" y="2953512"/>
            <a:ext cx="3383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Export Center</a:t>
            </a:r>
            <a:endParaRPr lang="en-US" sz="1300" dirty="0"/>
          </a:p>
        </p:txBody>
      </p:sp>
      <p:sp>
        <p:nvSpPr>
          <p:cNvPr id="37" name="Shape 35"/>
          <p:cNvSpPr/>
          <p:nvPr/>
        </p:nvSpPr>
        <p:spPr>
          <a:xfrm>
            <a:off x="8503920" y="3273552"/>
            <a:ext cx="1097280" cy="219456"/>
          </a:xfrm>
          <a:prstGeom prst="roundRect">
            <a:avLst>
              <a:gd name="adj" fmla="val 50000"/>
            </a:avLst>
          </a:prstGeom>
          <a:solidFill>
            <a:srgbClr val="14B8A6"/>
          </a:solidFill>
          <a:ln w="12700">
            <a:solidFill>
              <a:srgbClr val="14B8A6"/>
            </a:solidFill>
            <a:prstDash val="solid"/>
          </a:ln>
        </p:spPr>
      </p:sp>
      <p:sp>
        <p:nvSpPr>
          <p:cNvPr id="38" name="Text 36"/>
          <p:cNvSpPr/>
          <p:nvPr/>
        </p:nvSpPr>
        <p:spPr>
          <a:xfrm>
            <a:off x="8503920" y="3273552"/>
            <a:ext cx="109728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All</a:t>
            </a:r>
            <a:endParaRPr lang="en-US" sz="900" dirty="0"/>
          </a:p>
        </p:txBody>
      </p:sp>
      <p:sp>
        <p:nvSpPr>
          <p:cNvPr id="39" name="Text 37"/>
          <p:cNvSpPr/>
          <p:nvPr/>
        </p:nvSpPr>
        <p:spPr>
          <a:xfrm>
            <a:off x="8503920" y="3520440"/>
            <a:ext cx="3383280" cy="3200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Excel / PDF / PowerPoint</a:t>
            </a:r>
            <a:endParaRPr lang="en-US" sz="900" dirty="0"/>
          </a:p>
        </p:txBody>
      </p:sp>
      <p:sp>
        <p:nvSpPr>
          <p:cNvPr id="40" name="Shape 38"/>
          <p:cNvSpPr/>
          <p:nvPr/>
        </p:nvSpPr>
        <p:spPr>
          <a:xfrm>
            <a:off x="548640" y="4032504"/>
            <a:ext cx="3657600" cy="1005840"/>
          </a:xfrm>
          <a:prstGeom prst="roundRect">
            <a:avLst>
              <a:gd name="adj" fmla="val 7273"/>
            </a:avLst>
          </a:prstGeom>
          <a:solidFill>
            <a:srgbClr val="1A2244"/>
          </a:solidFill>
          <a:ln w="12700">
            <a:solidFill>
              <a:srgbClr val="2A3560"/>
            </a:solidFill>
            <a:prstDash val="solid"/>
          </a:ln>
        </p:spPr>
      </p:sp>
      <p:sp>
        <p:nvSpPr>
          <p:cNvPr id="41" name="Shape 39"/>
          <p:cNvSpPr/>
          <p:nvPr/>
        </p:nvSpPr>
        <p:spPr>
          <a:xfrm>
            <a:off x="548640" y="4032504"/>
            <a:ext cx="73152" cy="1005840"/>
          </a:xfrm>
          <a:prstGeom prst="rect">
            <a:avLst/>
          </a:prstGeom>
          <a:solidFill>
            <a:srgbClr val="6366F1"/>
          </a:solidFill>
          <a:ln w="12700">
            <a:solidFill>
              <a:srgbClr val="6366F1"/>
            </a:solidFill>
            <a:prstDash val="solid"/>
          </a:ln>
        </p:spPr>
      </p:sp>
      <p:sp>
        <p:nvSpPr>
          <p:cNvPr id="42" name="Text 40"/>
          <p:cNvSpPr/>
          <p:nvPr/>
        </p:nvSpPr>
        <p:spPr>
          <a:xfrm>
            <a:off x="731520" y="4123944"/>
            <a:ext cx="3383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My Practice</a:t>
            </a:r>
            <a:endParaRPr lang="en-US" sz="1300" dirty="0"/>
          </a:p>
        </p:txBody>
      </p:sp>
      <p:sp>
        <p:nvSpPr>
          <p:cNvPr id="43" name="Shape 41"/>
          <p:cNvSpPr/>
          <p:nvPr/>
        </p:nvSpPr>
        <p:spPr>
          <a:xfrm>
            <a:off x="731520" y="4443984"/>
            <a:ext cx="1097280" cy="219456"/>
          </a:xfrm>
          <a:prstGeom prst="roundRect">
            <a:avLst>
              <a:gd name="adj" fmla="val 50000"/>
            </a:avLst>
          </a:prstGeom>
          <a:solidFill>
            <a:srgbClr val="6366F1"/>
          </a:solidFill>
          <a:ln w="12700">
            <a:solidFill>
              <a:srgbClr val="6366F1"/>
            </a:solidFill>
            <a:prstDash val="solid"/>
          </a:ln>
        </p:spPr>
      </p:sp>
      <p:sp>
        <p:nvSpPr>
          <p:cNvPr id="44" name="Text 42"/>
          <p:cNvSpPr/>
          <p:nvPr/>
        </p:nvSpPr>
        <p:spPr>
          <a:xfrm>
            <a:off x="731520" y="4443984"/>
            <a:ext cx="109728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SPOC only</a:t>
            </a:r>
            <a:endParaRPr lang="en-US" sz="900" dirty="0"/>
          </a:p>
        </p:txBody>
      </p:sp>
      <p:sp>
        <p:nvSpPr>
          <p:cNvPr id="45" name="Text 43"/>
          <p:cNvSpPr/>
          <p:nvPr/>
        </p:nvSpPr>
        <p:spPr>
          <a:xfrm>
            <a:off x="731520" y="4690872"/>
            <a:ext cx="3383280" cy="3200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Team roster + inactive + nudge</a:t>
            </a:r>
            <a:endParaRPr lang="en-US" sz="900" dirty="0"/>
          </a:p>
        </p:txBody>
      </p:sp>
      <p:sp>
        <p:nvSpPr>
          <p:cNvPr id="46" name="Shape 44"/>
          <p:cNvSpPr/>
          <p:nvPr/>
        </p:nvSpPr>
        <p:spPr>
          <a:xfrm>
            <a:off x="4434840" y="4032504"/>
            <a:ext cx="3657600" cy="1005840"/>
          </a:xfrm>
          <a:prstGeom prst="roundRect">
            <a:avLst>
              <a:gd name="adj" fmla="val 7273"/>
            </a:avLst>
          </a:prstGeom>
          <a:solidFill>
            <a:srgbClr val="1A2244"/>
          </a:solidFill>
          <a:ln w="12700">
            <a:solidFill>
              <a:srgbClr val="2A3560"/>
            </a:solidFill>
            <a:prstDash val="solid"/>
          </a:ln>
        </p:spPr>
      </p:sp>
      <p:sp>
        <p:nvSpPr>
          <p:cNvPr id="47" name="Shape 45"/>
          <p:cNvSpPr/>
          <p:nvPr/>
        </p:nvSpPr>
        <p:spPr>
          <a:xfrm>
            <a:off x="4434840" y="4032504"/>
            <a:ext cx="73152" cy="1005840"/>
          </a:xfrm>
          <a:prstGeom prst="rect">
            <a:avLst/>
          </a:prstGeom>
          <a:solidFill>
            <a:srgbClr val="6366F1"/>
          </a:solidFill>
          <a:ln w="12700">
            <a:solidFill>
              <a:srgbClr val="6366F1"/>
            </a:solidFill>
            <a:prstDash val="solid"/>
          </a:ln>
        </p:spPr>
      </p:sp>
      <p:sp>
        <p:nvSpPr>
          <p:cNvPr id="48" name="Text 46"/>
          <p:cNvSpPr/>
          <p:nvPr/>
        </p:nvSpPr>
        <p:spPr>
          <a:xfrm>
            <a:off x="4617720" y="4123944"/>
            <a:ext cx="3383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All Tasks</a:t>
            </a:r>
            <a:endParaRPr lang="en-US" sz="1300" dirty="0"/>
          </a:p>
        </p:txBody>
      </p:sp>
      <p:sp>
        <p:nvSpPr>
          <p:cNvPr id="49" name="Shape 47"/>
          <p:cNvSpPr/>
          <p:nvPr/>
        </p:nvSpPr>
        <p:spPr>
          <a:xfrm>
            <a:off x="4617720" y="4443984"/>
            <a:ext cx="1097280" cy="219456"/>
          </a:xfrm>
          <a:prstGeom prst="roundRect">
            <a:avLst>
              <a:gd name="adj" fmla="val 50000"/>
            </a:avLst>
          </a:prstGeom>
          <a:solidFill>
            <a:srgbClr val="6366F1"/>
          </a:solidFill>
          <a:ln w="12700">
            <a:solidFill>
              <a:srgbClr val="6366F1"/>
            </a:solidFill>
            <a:prstDash val="solid"/>
          </a:ln>
        </p:spPr>
      </p:sp>
      <p:sp>
        <p:nvSpPr>
          <p:cNvPr id="50" name="Text 48"/>
          <p:cNvSpPr/>
          <p:nvPr/>
        </p:nvSpPr>
        <p:spPr>
          <a:xfrm>
            <a:off x="4617720" y="4443984"/>
            <a:ext cx="109728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SPOC only</a:t>
            </a:r>
            <a:endParaRPr lang="en-US" sz="900" dirty="0"/>
          </a:p>
        </p:txBody>
      </p:sp>
      <p:sp>
        <p:nvSpPr>
          <p:cNvPr id="51" name="Text 49"/>
          <p:cNvSpPr/>
          <p:nvPr/>
        </p:nvSpPr>
        <p:spPr>
          <a:xfrm>
            <a:off x="4617720" y="4690872"/>
            <a:ext cx="3383280" cy="3200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Full practice task log</a:t>
            </a:r>
            <a:endParaRPr lang="en-US" sz="900" dirty="0"/>
          </a:p>
        </p:txBody>
      </p:sp>
      <p:sp>
        <p:nvSpPr>
          <p:cNvPr id="52" name="Shape 50"/>
          <p:cNvSpPr/>
          <p:nvPr/>
        </p:nvSpPr>
        <p:spPr>
          <a:xfrm>
            <a:off x="8321040" y="4032504"/>
            <a:ext cx="3657600" cy="1005840"/>
          </a:xfrm>
          <a:prstGeom prst="roundRect">
            <a:avLst>
              <a:gd name="adj" fmla="val 7273"/>
            </a:avLst>
          </a:prstGeom>
          <a:solidFill>
            <a:srgbClr val="1A2244"/>
          </a:solidFill>
          <a:ln w="12700">
            <a:solidFill>
              <a:srgbClr val="2A3560"/>
            </a:solidFill>
            <a:prstDash val="solid"/>
          </a:ln>
        </p:spPr>
      </p:sp>
      <p:sp>
        <p:nvSpPr>
          <p:cNvPr id="53" name="Shape 51"/>
          <p:cNvSpPr/>
          <p:nvPr/>
        </p:nvSpPr>
        <p:spPr>
          <a:xfrm>
            <a:off x="8321040" y="4032504"/>
            <a:ext cx="73152" cy="1005840"/>
          </a:xfrm>
          <a:prstGeom prst="rect">
            <a:avLst/>
          </a:prstGeom>
          <a:solidFill>
            <a:srgbClr val="6366F1"/>
          </a:solidFill>
          <a:ln w="12700">
            <a:solidFill>
              <a:srgbClr val="6366F1"/>
            </a:solidFill>
            <a:prstDash val="solid"/>
          </a:ln>
        </p:spPr>
      </p:sp>
      <p:sp>
        <p:nvSpPr>
          <p:cNvPr id="54" name="Text 52"/>
          <p:cNvSpPr/>
          <p:nvPr/>
        </p:nvSpPr>
        <p:spPr>
          <a:xfrm>
            <a:off x="8503920" y="4123944"/>
            <a:ext cx="3383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Accomplishments</a:t>
            </a:r>
            <a:endParaRPr lang="en-US" sz="1300" dirty="0"/>
          </a:p>
        </p:txBody>
      </p:sp>
      <p:sp>
        <p:nvSpPr>
          <p:cNvPr id="55" name="Shape 53"/>
          <p:cNvSpPr/>
          <p:nvPr/>
        </p:nvSpPr>
        <p:spPr>
          <a:xfrm>
            <a:off x="8503920" y="4443984"/>
            <a:ext cx="1097280" cy="219456"/>
          </a:xfrm>
          <a:prstGeom prst="roundRect">
            <a:avLst>
              <a:gd name="adj" fmla="val 50000"/>
            </a:avLst>
          </a:prstGeom>
          <a:solidFill>
            <a:srgbClr val="6366F1"/>
          </a:solidFill>
          <a:ln w="12700">
            <a:solidFill>
              <a:srgbClr val="6366F1"/>
            </a:solidFill>
            <a:prstDash val="solid"/>
          </a:ln>
        </p:spPr>
      </p:sp>
      <p:sp>
        <p:nvSpPr>
          <p:cNvPr id="56" name="Text 54"/>
          <p:cNvSpPr/>
          <p:nvPr/>
        </p:nvSpPr>
        <p:spPr>
          <a:xfrm>
            <a:off x="8503920" y="4443984"/>
            <a:ext cx="109728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SPOC only</a:t>
            </a:r>
            <a:endParaRPr lang="en-US" sz="900" dirty="0"/>
          </a:p>
        </p:txBody>
      </p:sp>
      <p:sp>
        <p:nvSpPr>
          <p:cNvPr id="57" name="Text 55"/>
          <p:cNvSpPr/>
          <p:nvPr/>
        </p:nvSpPr>
        <p:spPr>
          <a:xfrm>
            <a:off x="8503920" y="4690872"/>
            <a:ext cx="3383280" cy="3200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AI wins, POCs, value-adds</a:t>
            </a:r>
            <a:endParaRPr lang="en-US" sz="900" dirty="0"/>
          </a:p>
        </p:txBody>
      </p:sp>
      <p:sp>
        <p:nvSpPr>
          <p:cNvPr id="58" name="Shape 56"/>
          <p:cNvSpPr/>
          <p:nvPr/>
        </p:nvSpPr>
        <p:spPr>
          <a:xfrm>
            <a:off x="548640" y="5202936"/>
            <a:ext cx="3657600" cy="1005840"/>
          </a:xfrm>
          <a:prstGeom prst="roundRect">
            <a:avLst>
              <a:gd name="adj" fmla="val 7273"/>
            </a:avLst>
          </a:prstGeom>
          <a:solidFill>
            <a:srgbClr val="1A2244"/>
          </a:solidFill>
          <a:ln w="12700">
            <a:solidFill>
              <a:srgbClr val="2A3560"/>
            </a:solidFill>
            <a:prstDash val="solid"/>
          </a:ln>
        </p:spPr>
      </p:sp>
      <p:sp>
        <p:nvSpPr>
          <p:cNvPr id="59" name="Shape 57"/>
          <p:cNvSpPr/>
          <p:nvPr/>
        </p:nvSpPr>
        <p:spPr>
          <a:xfrm>
            <a:off x="548640" y="5202936"/>
            <a:ext cx="73152" cy="1005840"/>
          </a:xfrm>
          <a:prstGeom prst="rect">
            <a:avLst/>
          </a:prstGeom>
          <a:solidFill>
            <a:srgbClr val="6366F1"/>
          </a:solidFill>
          <a:ln w="12700">
            <a:solidFill>
              <a:srgbClr val="6366F1"/>
            </a:solidFill>
            <a:prstDash val="solid"/>
          </a:ln>
        </p:spPr>
      </p:sp>
      <p:sp>
        <p:nvSpPr>
          <p:cNvPr id="60" name="Text 58"/>
          <p:cNvSpPr/>
          <p:nvPr/>
        </p:nvSpPr>
        <p:spPr>
          <a:xfrm>
            <a:off x="731520" y="5294376"/>
            <a:ext cx="3383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Approvals</a:t>
            </a:r>
            <a:endParaRPr lang="en-US" sz="1300" dirty="0"/>
          </a:p>
        </p:txBody>
      </p:sp>
      <p:sp>
        <p:nvSpPr>
          <p:cNvPr id="61" name="Shape 59"/>
          <p:cNvSpPr/>
          <p:nvPr/>
        </p:nvSpPr>
        <p:spPr>
          <a:xfrm>
            <a:off x="731520" y="5614416"/>
            <a:ext cx="1097280" cy="219456"/>
          </a:xfrm>
          <a:prstGeom prst="roundRect">
            <a:avLst>
              <a:gd name="adj" fmla="val 50000"/>
            </a:avLst>
          </a:prstGeom>
          <a:solidFill>
            <a:srgbClr val="6366F1"/>
          </a:solidFill>
          <a:ln w="12700">
            <a:solidFill>
              <a:srgbClr val="6366F1"/>
            </a:solidFill>
            <a:prstDash val="solid"/>
          </a:ln>
        </p:spPr>
      </p:sp>
      <p:sp>
        <p:nvSpPr>
          <p:cNvPr id="62" name="Text 60"/>
          <p:cNvSpPr/>
          <p:nvPr/>
        </p:nvSpPr>
        <p:spPr>
          <a:xfrm>
            <a:off x="731520" y="5614416"/>
            <a:ext cx="109728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SPOC only</a:t>
            </a:r>
            <a:endParaRPr lang="en-US" sz="900" dirty="0"/>
          </a:p>
        </p:txBody>
      </p:sp>
      <p:sp>
        <p:nvSpPr>
          <p:cNvPr id="63" name="Text 61"/>
          <p:cNvSpPr/>
          <p:nvPr/>
        </p:nvSpPr>
        <p:spPr>
          <a:xfrm>
            <a:off x="731520" y="5861304"/>
            <a:ext cx="3383280" cy="3200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Pending review queue</a:t>
            </a:r>
            <a:endParaRPr lang="en-US" sz="900" dirty="0"/>
          </a:p>
        </p:txBody>
      </p:sp>
      <p:sp>
        <p:nvSpPr>
          <p:cNvPr id="64" name="Shape 62"/>
          <p:cNvSpPr/>
          <p:nvPr/>
        </p:nvSpPr>
        <p:spPr>
          <a:xfrm>
            <a:off x="4434840" y="5202936"/>
            <a:ext cx="3657600" cy="1005840"/>
          </a:xfrm>
          <a:prstGeom prst="roundRect">
            <a:avLst>
              <a:gd name="adj" fmla="val 7273"/>
            </a:avLst>
          </a:prstGeom>
          <a:solidFill>
            <a:srgbClr val="1A2244"/>
          </a:solidFill>
          <a:ln w="12700">
            <a:solidFill>
              <a:srgbClr val="2A3560"/>
            </a:solidFill>
            <a:prstDash val="solid"/>
          </a:ln>
        </p:spPr>
      </p:sp>
      <p:sp>
        <p:nvSpPr>
          <p:cNvPr id="65" name="Shape 63"/>
          <p:cNvSpPr/>
          <p:nvPr/>
        </p:nvSpPr>
        <p:spPr>
          <a:xfrm>
            <a:off x="4434840" y="5202936"/>
            <a:ext cx="73152" cy="1005840"/>
          </a:xfrm>
          <a:prstGeom prst="rect">
            <a:avLst/>
          </a:prstGeom>
          <a:solidFill>
            <a:srgbClr val="6366F1"/>
          </a:solidFill>
          <a:ln w="12700">
            <a:solidFill>
              <a:srgbClr val="6366F1"/>
            </a:solidFill>
            <a:prstDash val="solid"/>
          </a:ln>
        </p:spPr>
      </p:sp>
      <p:sp>
        <p:nvSpPr>
          <p:cNvPr id="66" name="Text 64"/>
          <p:cNvSpPr/>
          <p:nvPr/>
        </p:nvSpPr>
        <p:spPr>
          <a:xfrm>
            <a:off x="4617720" y="5294376"/>
            <a:ext cx="3383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Copilot Access</a:t>
            </a:r>
            <a:endParaRPr lang="en-US" sz="1300" dirty="0"/>
          </a:p>
        </p:txBody>
      </p:sp>
      <p:sp>
        <p:nvSpPr>
          <p:cNvPr id="67" name="Shape 65"/>
          <p:cNvSpPr/>
          <p:nvPr/>
        </p:nvSpPr>
        <p:spPr>
          <a:xfrm>
            <a:off x="4617720" y="5614416"/>
            <a:ext cx="1097280" cy="219456"/>
          </a:xfrm>
          <a:prstGeom prst="roundRect">
            <a:avLst>
              <a:gd name="adj" fmla="val 50000"/>
            </a:avLst>
          </a:prstGeom>
          <a:solidFill>
            <a:srgbClr val="6366F1"/>
          </a:solidFill>
          <a:ln w="12700">
            <a:solidFill>
              <a:srgbClr val="6366F1"/>
            </a:solidFill>
            <a:prstDash val="solid"/>
          </a:ln>
        </p:spPr>
      </p:sp>
      <p:sp>
        <p:nvSpPr>
          <p:cNvPr id="68" name="Text 66"/>
          <p:cNvSpPr/>
          <p:nvPr/>
        </p:nvSpPr>
        <p:spPr>
          <a:xfrm>
            <a:off x="4617720" y="5614416"/>
            <a:ext cx="109728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SPOC only</a:t>
            </a:r>
            <a:endParaRPr lang="en-US" sz="900" dirty="0"/>
          </a:p>
        </p:txBody>
      </p:sp>
      <p:sp>
        <p:nvSpPr>
          <p:cNvPr id="69" name="Text 67"/>
          <p:cNvSpPr/>
          <p:nvPr/>
        </p:nvSpPr>
        <p:spPr>
          <a:xfrm>
            <a:off x="4617720" y="5861304"/>
            <a:ext cx="3383280" cy="3200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Licensed users — CRUD</a:t>
            </a:r>
            <a:endParaRPr lang="en-US" sz="900" dirty="0"/>
          </a:p>
        </p:txBody>
      </p:sp>
      <p:sp>
        <p:nvSpPr>
          <p:cNvPr id="70" name="Shape 68"/>
          <p:cNvSpPr/>
          <p:nvPr/>
        </p:nvSpPr>
        <p:spPr>
          <a:xfrm>
            <a:off x="8321040" y="5202936"/>
            <a:ext cx="3657600" cy="1005840"/>
          </a:xfrm>
          <a:prstGeom prst="roundRect">
            <a:avLst>
              <a:gd name="adj" fmla="val 7273"/>
            </a:avLst>
          </a:prstGeom>
          <a:solidFill>
            <a:srgbClr val="1A2244"/>
          </a:solidFill>
          <a:ln w="12700">
            <a:solidFill>
              <a:srgbClr val="2A3560"/>
            </a:solidFill>
            <a:prstDash val="solid"/>
          </a:ln>
        </p:spPr>
      </p:sp>
      <p:sp>
        <p:nvSpPr>
          <p:cNvPr id="71" name="Shape 69"/>
          <p:cNvSpPr/>
          <p:nvPr/>
        </p:nvSpPr>
        <p:spPr>
          <a:xfrm>
            <a:off x="8321040" y="5202936"/>
            <a:ext cx="73152" cy="1005840"/>
          </a:xfrm>
          <a:prstGeom prst="rect">
            <a:avLst/>
          </a:prstGeom>
          <a:solidFill>
            <a:srgbClr val="10B981"/>
          </a:solidFill>
          <a:ln w="12700">
            <a:solidFill>
              <a:srgbClr val="10B981"/>
            </a:solidFill>
            <a:prstDash val="solid"/>
          </a:ln>
        </p:spPr>
      </p:sp>
      <p:sp>
        <p:nvSpPr>
          <p:cNvPr id="72" name="Text 70"/>
          <p:cNvSpPr/>
          <p:nvPr/>
        </p:nvSpPr>
        <p:spPr>
          <a:xfrm>
            <a:off x="8503920" y="5294376"/>
            <a:ext cx="33832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Projects</a:t>
            </a:r>
            <a:endParaRPr lang="en-US" sz="1300" dirty="0"/>
          </a:p>
        </p:txBody>
      </p:sp>
      <p:sp>
        <p:nvSpPr>
          <p:cNvPr id="73" name="Shape 71"/>
          <p:cNvSpPr/>
          <p:nvPr/>
        </p:nvSpPr>
        <p:spPr>
          <a:xfrm>
            <a:off x="8503920" y="5614416"/>
            <a:ext cx="1097280" cy="219456"/>
          </a:xfrm>
          <a:prstGeom prst="roundRect">
            <a:avLst>
              <a:gd name="adj" fmla="val 50000"/>
            </a:avLst>
          </a:prstGeom>
          <a:solidFill>
            <a:srgbClr val="10B981"/>
          </a:solidFill>
          <a:ln w="12700">
            <a:solidFill>
              <a:srgbClr val="10B981"/>
            </a:solidFill>
            <a:prstDash val="solid"/>
          </a:ln>
        </p:spPr>
      </p:sp>
      <p:sp>
        <p:nvSpPr>
          <p:cNvPr id="74" name="Text 72"/>
          <p:cNvSpPr/>
          <p:nvPr/>
        </p:nvSpPr>
        <p:spPr>
          <a:xfrm>
            <a:off x="8503920" y="5614416"/>
            <a:ext cx="109728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Admin only</a:t>
            </a:r>
            <a:endParaRPr lang="en-US" sz="900" dirty="0"/>
          </a:p>
        </p:txBody>
      </p:sp>
      <p:sp>
        <p:nvSpPr>
          <p:cNvPr id="75" name="Text 73"/>
          <p:cNvSpPr/>
          <p:nvPr/>
        </p:nvSpPr>
        <p:spPr>
          <a:xfrm>
            <a:off x="8503920" y="5861304"/>
            <a:ext cx="3383280" cy="3200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Project catalog (22+)</a:t>
            </a:r>
            <a:endParaRPr lang="en-US" sz="900" dirty="0"/>
          </a:p>
        </p:txBody>
      </p:sp>
      <p:sp>
        <p:nvSpPr>
          <p:cNvPr id="76" name="Text 7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77" name="Text 75"/>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 / 28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6 — Open the Log Task form</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Three places to trigger it. The form is always the same.</a:t>
            </a:r>
            <a:endParaRPr lang="en-US" sz="1400" dirty="0"/>
          </a:p>
        </p:txBody>
      </p:sp>
      <p:sp>
        <p:nvSpPr>
          <p:cNvPr id="4" name="Shape 2"/>
          <p:cNvSpPr/>
          <p:nvPr/>
        </p:nvSpPr>
        <p:spPr>
          <a:xfrm>
            <a:off x="548640" y="1783080"/>
            <a:ext cx="3657600" cy="2103120"/>
          </a:xfrm>
          <a:prstGeom prst="roundRect">
            <a:avLst>
              <a:gd name="adj" fmla="val 3478"/>
            </a:avLst>
          </a:prstGeom>
          <a:solidFill>
            <a:srgbClr val="1A2244"/>
          </a:solidFill>
          <a:ln w="12700">
            <a:solidFill>
              <a:srgbClr val="2A3560"/>
            </a:solidFill>
            <a:prstDash val="solid"/>
          </a:ln>
        </p:spPr>
      </p:sp>
      <p:sp>
        <p:nvSpPr>
          <p:cNvPr id="5" name="Shape 3"/>
          <p:cNvSpPr/>
          <p:nvPr/>
        </p:nvSpPr>
        <p:spPr>
          <a:xfrm>
            <a:off x="548640" y="1783080"/>
            <a:ext cx="73152" cy="2103120"/>
          </a:xfrm>
          <a:prstGeom prst="rect">
            <a:avLst/>
          </a:prstGeom>
          <a:solidFill>
            <a:srgbClr val="6366F1"/>
          </a:solidFill>
          <a:ln w="12700">
            <a:solidFill>
              <a:srgbClr val="6366F1"/>
            </a:solidFill>
            <a:prstDash val="solid"/>
          </a:ln>
        </p:spPr>
      </p:sp>
      <p:sp>
        <p:nvSpPr>
          <p:cNvPr id="6" name="Shape 4"/>
          <p:cNvSpPr/>
          <p:nvPr/>
        </p:nvSpPr>
        <p:spPr>
          <a:xfrm>
            <a:off x="777240" y="1920240"/>
            <a:ext cx="457200" cy="457200"/>
          </a:xfrm>
          <a:prstGeom prst="ellipse">
            <a:avLst/>
          </a:prstGeom>
          <a:solidFill>
            <a:srgbClr val="6366F1"/>
          </a:solidFill>
          <a:ln w="19050">
            <a:solidFill>
              <a:srgbClr val="FFFFFF"/>
            </a:solidFill>
            <a:prstDash val="solid"/>
          </a:ln>
        </p:spPr>
      </p:sp>
      <p:sp>
        <p:nvSpPr>
          <p:cNvPr id="7" name="Text 5"/>
          <p:cNvSpPr/>
          <p:nvPr/>
        </p:nvSpPr>
        <p:spPr>
          <a:xfrm>
            <a:off x="777240" y="19202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371600" y="1920240"/>
            <a:ext cx="27432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Dashboard header</a:t>
            </a:r>
            <a:endParaRPr lang="en-US" sz="1600" dirty="0"/>
          </a:p>
        </p:txBody>
      </p:sp>
      <p:sp>
        <p:nvSpPr>
          <p:cNvPr id="9" name="Text 7"/>
          <p:cNvSpPr/>
          <p:nvPr/>
        </p:nvSpPr>
        <p:spPr>
          <a:xfrm>
            <a:off x="777240" y="2468880"/>
            <a:ext cx="3291840" cy="45720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Top-right corner, next to Export</a:t>
            </a:r>
            <a:endParaRPr lang="en-US" sz="1000" dirty="0"/>
          </a:p>
        </p:txBody>
      </p:sp>
      <p:sp>
        <p:nvSpPr>
          <p:cNvPr id="10" name="Shape 8"/>
          <p:cNvSpPr/>
          <p:nvPr/>
        </p:nvSpPr>
        <p:spPr>
          <a:xfrm>
            <a:off x="777240" y="3017520"/>
            <a:ext cx="3291840" cy="594360"/>
          </a:xfrm>
          <a:prstGeom prst="roundRect">
            <a:avLst>
              <a:gd name="adj" fmla="val 12308"/>
            </a:avLst>
          </a:prstGeom>
          <a:solidFill>
            <a:srgbClr val="141B36"/>
          </a:solidFill>
          <a:ln w="6350">
            <a:solidFill>
              <a:srgbClr val="2A3560"/>
            </a:solidFill>
            <a:prstDash val="solid"/>
          </a:ln>
        </p:spPr>
      </p:sp>
      <p:sp>
        <p:nvSpPr>
          <p:cNvPr id="11" name="Shape 9"/>
          <p:cNvSpPr/>
          <p:nvPr/>
        </p:nvSpPr>
        <p:spPr>
          <a:xfrm>
            <a:off x="960120" y="3154680"/>
            <a:ext cx="1234440" cy="320040"/>
          </a:xfrm>
          <a:prstGeom prst="roundRect">
            <a:avLst>
              <a:gd name="adj" fmla="val 50000"/>
            </a:avLst>
          </a:prstGeom>
          <a:solidFill>
            <a:srgbClr val="6366F1"/>
          </a:solidFill>
          <a:ln w="12700">
            <a:solidFill>
              <a:srgbClr val="6366F1"/>
            </a:solidFill>
            <a:prstDash val="solid"/>
          </a:ln>
        </p:spPr>
      </p:sp>
      <p:sp>
        <p:nvSpPr>
          <p:cNvPr id="12" name="Text 10"/>
          <p:cNvSpPr/>
          <p:nvPr/>
        </p:nvSpPr>
        <p:spPr>
          <a:xfrm>
            <a:off x="960120" y="3154680"/>
            <a:ext cx="123444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Log Task</a:t>
            </a:r>
            <a:endParaRPr lang="en-US" sz="900" dirty="0"/>
          </a:p>
        </p:txBody>
      </p:sp>
      <p:sp>
        <p:nvSpPr>
          <p:cNvPr id="13" name="Shape 11"/>
          <p:cNvSpPr/>
          <p:nvPr/>
        </p:nvSpPr>
        <p:spPr>
          <a:xfrm>
            <a:off x="2286000" y="3154680"/>
            <a:ext cx="822960" cy="320040"/>
          </a:xfrm>
          <a:prstGeom prst="roundRect">
            <a:avLst>
              <a:gd name="adj" fmla="val 50000"/>
            </a:avLst>
          </a:prstGeom>
          <a:solidFill>
            <a:srgbClr val="1A2244"/>
          </a:solidFill>
          <a:ln w="12700">
            <a:solidFill>
              <a:srgbClr val="1A2244"/>
            </a:solidFill>
            <a:prstDash val="solid"/>
          </a:ln>
        </p:spPr>
      </p:sp>
      <p:sp>
        <p:nvSpPr>
          <p:cNvPr id="14" name="Text 12"/>
          <p:cNvSpPr/>
          <p:nvPr/>
        </p:nvSpPr>
        <p:spPr>
          <a:xfrm>
            <a:off x="2286000" y="3154680"/>
            <a:ext cx="82296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Export</a:t>
            </a:r>
            <a:endParaRPr lang="en-US" sz="900" dirty="0"/>
          </a:p>
        </p:txBody>
      </p:sp>
      <p:sp>
        <p:nvSpPr>
          <p:cNvPr id="15" name="Shape 13"/>
          <p:cNvSpPr/>
          <p:nvPr/>
        </p:nvSpPr>
        <p:spPr>
          <a:xfrm>
            <a:off x="4434840" y="1783080"/>
            <a:ext cx="3657600" cy="2103120"/>
          </a:xfrm>
          <a:prstGeom prst="roundRect">
            <a:avLst>
              <a:gd name="adj" fmla="val 3478"/>
            </a:avLst>
          </a:prstGeom>
          <a:solidFill>
            <a:srgbClr val="1A2244"/>
          </a:solidFill>
          <a:ln w="12700">
            <a:solidFill>
              <a:srgbClr val="2A3560"/>
            </a:solidFill>
            <a:prstDash val="solid"/>
          </a:ln>
        </p:spPr>
      </p:sp>
      <p:sp>
        <p:nvSpPr>
          <p:cNvPr id="16" name="Shape 14"/>
          <p:cNvSpPr/>
          <p:nvPr/>
        </p:nvSpPr>
        <p:spPr>
          <a:xfrm>
            <a:off x="4434840" y="1783080"/>
            <a:ext cx="73152" cy="2103120"/>
          </a:xfrm>
          <a:prstGeom prst="rect">
            <a:avLst/>
          </a:prstGeom>
          <a:solidFill>
            <a:srgbClr val="3B82F6"/>
          </a:solidFill>
          <a:ln w="12700">
            <a:solidFill>
              <a:srgbClr val="3B82F6"/>
            </a:solidFill>
            <a:prstDash val="solid"/>
          </a:ln>
        </p:spPr>
      </p:sp>
      <p:sp>
        <p:nvSpPr>
          <p:cNvPr id="17" name="Shape 15"/>
          <p:cNvSpPr/>
          <p:nvPr/>
        </p:nvSpPr>
        <p:spPr>
          <a:xfrm>
            <a:off x="4663440" y="1920240"/>
            <a:ext cx="457200" cy="457200"/>
          </a:xfrm>
          <a:prstGeom prst="ellipse">
            <a:avLst/>
          </a:prstGeom>
          <a:solidFill>
            <a:srgbClr val="3B82F6"/>
          </a:solidFill>
          <a:ln w="19050">
            <a:solidFill>
              <a:srgbClr val="FFFFFF"/>
            </a:solidFill>
            <a:prstDash val="solid"/>
          </a:ln>
        </p:spPr>
      </p:sp>
      <p:sp>
        <p:nvSpPr>
          <p:cNvPr id="18" name="Text 16"/>
          <p:cNvSpPr/>
          <p:nvPr/>
        </p:nvSpPr>
        <p:spPr>
          <a:xfrm>
            <a:off x="4663440" y="19202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Text 17"/>
          <p:cNvSpPr/>
          <p:nvPr/>
        </p:nvSpPr>
        <p:spPr>
          <a:xfrm>
            <a:off x="5257800" y="1920240"/>
            <a:ext cx="27432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My Tasks page</a:t>
            </a:r>
            <a:endParaRPr lang="en-US" sz="1600" dirty="0"/>
          </a:p>
        </p:txBody>
      </p:sp>
      <p:sp>
        <p:nvSpPr>
          <p:cNvPr id="20" name="Text 18"/>
          <p:cNvSpPr/>
          <p:nvPr/>
        </p:nvSpPr>
        <p:spPr>
          <a:xfrm>
            <a:off x="4663440" y="2468880"/>
            <a:ext cx="3291840" cy="45720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Right of the page header on My Tasks</a:t>
            </a:r>
            <a:endParaRPr lang="en-US" sz="1000" dirty="0"/>
          </a:p>
        </p:txBody>
      </p:sp>
      <p:sp>
        <p:nvSpPr>
          <p:cNvPr id="21" name="Shape 19"/>
          <p:cNvSpPr/>
          <p:nvPr/>
        </p:nvSpPr>
        <p:spPr>
          <a:xfrm>
            <a:off x="4663440" y="3017520"/>
            <a:ext cx="3291840" cy="594360"/>
          </a:xfrm>
          <a:prstGeom prst="roundRect">
            <a:avLst>
              <a:gd name="adj" fmla="val 12308"/>
            </a:avLst>
          </a:prstGeom>
          <a:solidFill>
            <a:srgbClr val="141B36"/>
          </a:solidFill>
          <a:ln w="6350">
            <a:solidFill>
              <a:srgbClr val="2A3560"/>
            </a:solidFill>
            <a:prstDash val="solid"/>
          </a:ln>
        </p:spPr>
      </p:sp>
      <p:sp>
        <p:nvSpPr>
          <p:cNvPr id="22" name="Shape 20"/>
          <p:cNvSpPr/>
          <p:nvPr/>
        </p:nvSpPr>
        <p:spPr>
          <a:xfrm>
            <a:off x="4846320" y="3154680"/>
            <a:ext cx="1234440" cy="320040"/>
          </a:xfrm>
          <a:prstGeom prst="roundRect">
            <a:avLst>
              <a:gd name="adj" fmla="val 50000"/>
            </a:avLst>
          </a:prstGeom>
          <a:solidFill>
            <a:srgbClr val="3B82F6"/>
          </a:solidFill>
          <a:ln w="12700">
            <a:solidFill>
              <a:srgbClr val="3B82F6"/>
            </a:solidFill>
            <a:prstDash val="solid"/>
          </a:ln>
        </p:spPr>
      </p:sp>
      <p:sp>
        <p:nvSpPr>
          <p:cNvPr id="23" name="Text 21"/>
          <p:cNvSpPr/>
          <p:nvPr/>
        </p:nvSpPr>
        <p:spPr>
          <a:xfrm>
            <a:off x="4846320" y="3154680"/>
            <a:ext cx="123444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Log Task</a:t>
            </a:r>
            <a:endParaRPr lang="en-US" sz="900" dirty="0"/>
          </a:p>
        </p:txBody>
      </p:sp>
      <p:sp>
        <p:nvSpPr>
          <p:cNvPr id="24" name="Shape 22"/>
          <p:cNvSpPr/>
          <p:nvPr/>
        </p:nvSpPr>
        <p:spPr>
          <a:xfrm>
            <a:off x="6172200" y="3154680"/>
            <a:ext cx="822960" cy="320040"/>
          </a:xfrm>
          <a:prstGeom prst="roundRect">
            <a:avLst>
              <a:gd name="adj" fmla="val 50000"/>
            </a:avLst>
          </a:prstGeom>
          <a:solidFill>
            <a:srgbClr val="1A2244"/>
          </a:solidFill>
          <a:ln w="12700">
            <a:solidFill>
              <a:srgbClr val="1A2244"/>
            </a:solidFill>
            <a:prstDash val="solid"/>
          </a:ln>
        </p:spPr>
      </p:sp>
      <p:sp>
        <p:nvSpPr>
          <p:cNvPr id="25" name="Text 23"/>
          <p:cNvSpPr/>
          <p:nvPr/>
        </p:nvSpPr>
        <p:spPr>
          <a:xfrm>
            <a:off x="6172200" y="3154680"/>
            <a:ext cx="82296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Export</a:t>
            </a:r>
            <a:endParaRPr lang="en-US" sz="900" dirty="0"/>
          </a:p>
        </p:txBody>
      </p:sp>
      <p:sp>
        <p:nvSpPr>
          <p:cNvPr id="26" name="Shape 24"/>
          <p:cNvSpPr/>
          <p:nvPr/>
        </p:nvSpPr>
        <p:spPr>
          <a:xfrm>
            <a:off x="8321040" y="1783080"/>
            <a:ext cx="3657600" cy="2103120"/>
          </a:xfrm>
          <a:prstGeom prst="roundRect">
            <a:avLst>
              <a:gd name="adj" fmla="val 3478"/>
            </a:avLst>
          </a:prstGeom>
          <a:solidFill>
            <a:srgbClr val="1A2244"/>
          </a:solidFill>
          <a:ln w="12700">
            <a:solidFill>
              <a:srgbClr val="2A3560"/>
            </a:solidFill>
            <a:prstDash val="solid"/>
          </a:ln>
        </p:spPr>
      </p:sp>
      <p:sp>
        <p:nvSpPr>
          <p:cNvPr id="27" name="Shape 25"/>
          <p:cNvSpPr/>
          <p:nvPr/>
        </p:nvSpPr>
        <p:spPr>
          <a:xfrm>
            <a:off x="8321040" y="1783080"/>
            <a:ext cx="73152" cy="2103120"/>
          </a:xfrm>
          <a:prstGeom prst="rect">
            <a:avLst/>
          </a:prstGeom>
          <a:solidFill>
            <a:srgbClr val="14B8A6"/>
          </a:solidFill>
          <a:ln w="12700">
            <a:solidFill>
              <a:srgbClr val="14B8A6"/>
            </a:solidFill>
            <a:prstDash val="solid"/>
          </a:ln>
        </p:spPr>
      </p:sp>
      <p:sp>
        <p:nvSpPr>
          <p:cNvPr id="28" name="Shape 26"/>
          <p:cNvSpPr/>
          <p:nvPr/>
        </p:nvSpPr>
        <p:spPr>
          <a:xfrm>
            <a:off x="8549640" y="1920240"/>
            <a:ext cx="457200" cy="457200"/>
          </a:xfrm>
          <a:prstGeom prst="ellipse">
            <a:avLst/>
          </a:prstGeom>
          <a:solidFill>
            <a:srgbClr val="14B8A6"/>
          </a:solidFill>
          <a:ln w="19050">
            <a:solidFill>
              <a:srgbClr val="FFFFFF"/>
            </a:solidFill>
            <a:prstDash val="solid"/>
          </a:ln>
        </p:spPr>
      </p:sp>
      <p:sp>
        <p:nvSpPr>
          <p:cNvPr id="29" name="Text 27"/>
          <p:cNvSpPr/>
          <p:nvPr/>
        </p:nvSpPr>
        <p:spPr>
          <a:xfrm>
            <a:off x="8549640" y="19202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0" name="Text 28"/>
          <p:cNvSpPr/>
          <p:nvPr/>
        </p:nvSpPr>
        <p:spPr>
          <a:xfrm>
            <a:off x="9144000" y="1920240"/>
            <a:ext cx="27432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Task Status page</a:t>
            </a:r>
            <a:endParaRPr lang="en-US" sz="1600" dirty="0"/>
          </a:p>
        </p:txBody>
      </p:sp>
      <p:sp>
        <p:nvSpPr>
          <p:cNvPr id="31" name="Text 29"/>
          <p:cNvSpPr/>
          <p:nvPr/>
        </p:nvSpPr>
        <p:spPr>
          <a:xfrm>
            <a:off x="8549640" y="2468880"/>
            <a:ext cx="3291840" cy="45720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Right of the page header on Task Status</a:t>
            </a:r>
            <a:endParaRPr lang="en-US" sz="1000" dirty="0"/>
          </a:p>
        </p:txBody>
      </p:sp>
      <p:sp>
        <p:nvSpPr>
          <p:cNvPr id="32" name="Shape 30"/>
          <p:cNvSpPr/>
          <p:nvPr/>
        </p:nvSpPr>
        <p:spPr>
          <a:xfrm>
            <a:off x="8549640" y="3017520"/>
            <a:ext cx="3291840" cy="594360"/>
          </a:xfrm>
          <a:prstGeom prst="roundRect">
            <a:avLst>
              <a:gd name="adj" fmla="val 12308"/>
            </a:avLst>
          </a:prstGeom>
          <a:solidFill>
            <a:srgbClr val="141B36"/>
          </a:solidFill>
          <a:ln w="6350">
            <a:solidFill>
              <a:srgbClr val="2A3560"/>
            </a:solidFill>
            <a:prstDash val="solid"/>
          </a:ln>
        </p:spPr>
      </p:sp>
      <p:sp>
        <p:nvSpPr>
          <p:cNvPr id="33" name="Shape 31"/>
          <p:cNvSpPr/>
          <p:nvPr/>
        </p:nvSpPr>
        <p:spPr>
          <a:xfrm>
            <a:off x="8732520" y="3154680"/>
            <a:ext cx="1234440" cy="320040"/>
          </a:xfrm>
          <a:prstGeom prst="roundRect">
            <a:avLst>
              <a:gd name="adj" fmla="val 50000"/>
            </a:avLst>
          </a:prstGeom>
          <a:solidFill>
            <a:srgbClr val="14B8A6"/>
          </a:solidFill>
          <a:ln w="12700">
            <a:solidFill>
              <a:srgbClr val="14B8A6"/>
            </a:solidFill>
            <a:prstDash val="solid"/>
          </a:ln>
        </p:spPr>
      </p:sp>
      <p:sp>
        <p:nvSpPr>
          <p:cNvPr id="34" name="Text 32"/>
          <p:cNvSpPr/>
          <p:nvPr/>
        </p:nvSpPr>
        <p:spPr>
          <a:xfrm>
            <a:off x="8732520" y="3154680"/>
            <a:ext cx="123444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Log Task</a:t>
            </a:r>
            <a:endParaRPr lang="en-US" sz="900" dirty="0"/>
          </a:p>
        </p:txBody>
      </p:sp>
      <p:sp>
        <p:nvSpPr>
          <p:cNvPr id="35" name="Shape 33"/>
          <p:cNvSpPr/>
          <p:nvPr/>
        </p:nvSpPr>
        <p:spPr>
          <a:xfrm>
            <a:off x="10058400" y="3154680"/>
            <a:ext cx="822960" cy="320040"/>
          </a:xfrm>
          <a:prstGeom prst="roundRect">
            <a:avLst>
              <a:gd name="adj" fmla="val 50000"/>
            </a:avLst>
          </a:prstGeom>
          <a:solidFill>
            <a:srgbClr val="1A2244"/>
          </a:solidFill>
          <a:ln w="12700">
            <a:solidFill>
              <a:srgbClr val="1A2244"/>
            </a:solidFill>
            <a:prstDash val="solid"/>
          </a:ln>
        </p:spPr>
      </p:sp>
      <p:sp>
        <p:nvSpPr>
          <p:cNvPr id="36" name="Text 34"/>
          <p:cNvSpPr/>
          <p:nvPr/>
        </p:nvSpPr>
        <p:spPr>
          <a:xfrm>
            <a:off x="10058400" y="3154680"/>
            <a:ext cx="82296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Export</a:t>
            </a:r>
            <a:endParaRPr lang="en-US" sz="900" dirty="0"/>
          </a:p>
        </p:txBody>
      </p:sp>
      <p:sp>
        <p:nvSpPr>
          <p:cNvPr id="37" name="Shape 35"/>
          <p:cNvSpPr/>
          <p:nvPr/>
        </p:nvSpPr>
        <p:spPr>
          <a:xfrm>
            <a:off x="548640" y="4069080"/>
            <a:ext cx="11109960" cy="2331720"/>
          </a:xfrm>
          <a:prstGeom prst="roundRect">
            <a:avLst>
              <a:gd name="adj" fmla="val 3137"/>
            </a:avLst>
          </a:prstGeom>
          <a:solidFill>
            <a:srgbClr val="1A2244"/>
          </a:solidFill>
          <a:ln w="12700">
            <a:solidFill>
              <a:srgbClr val="2A3560"/>
            </a:solidFill>
            <a:prstDash val="solid"/>
          </a:ln>
        </p:spPr>
      </p:sp>
      <p:sp>
        <p:nvSpPr>
          <p:cNvPr id="38" name="Text 36"/>
          <p:cNvSpPr/>
          <p:nvPr/>
        </p:nvSpPr>
        <p:spPr>
          <a:xfrm>
            <a:off x="731520" y="4206240"/>
            <a:ext cx="100584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happens next</a:t>
            </a:r>
            <a:endParaRPr lang="en-US" sz="1600" dirty="0"/>
          </a:p>
        </p:txBody>
      </p:sp>
      <p:sp>
        <p:nvSpPr>
          <p:cNvPr id="39" name="Shape 37"/>
          <p:cNvSpPr/>
          <p:nvPr/>
        </p:nvSpPr>
        <p:spPr>
          <a:xfrm>
            <a:off x="731520" y="4572000"/>
            <a:ext cx="2606040" cy="1691640"/>
          </a:xfrm>
          <a:prstGeom prst="roundRect">
            <a:avLst>
              <a:gd name="adj" fmla="val 4324"/>
            </a:avLst>
          </a:prstGeom>
          <a:solidFill>
            <a:srgbClr val="141B36"/>
          </a:solidFill>
          <a:ln w="12700">
            <a:solidFill>
              <a:srgbClr val="2A3560"/>
            </a:solidFill>
            <a:prstDash val="solid"/>
          </a:ln>
        </p:spPr>
      </p:sp>
      <p:sp>
        <p:nvSpPr>
          <p:cNvPr id="40" name="Shape 38"/>
          <p:cNvSpPr/>
          <p:nvPr/>
        </p:nvSpPr>
        <p:spPr>
          <a:xfrm>
            <a:off x="868680" y="4709160"/>
            <a:ext cx="411480" cy="411480"/>
          </a:xfrm>
          <a:prstGeom prst="ellipse">
            <a:avLst/>
          </a:prstGeom>
          <a:solidFill>
            <a:srgbClr val="6366F1"/>
          </a:solidFill>
          <a:ln w="12700">
            <a:solidFill>
              <a:srgbClr val="FFFFFF"/>
            </a:solidFill>
            <a:prstDash val="solid"/>
          </a:ln>
        </p:spPr>
      </p:sp>
      <p:sp>
        <p:nvSpPr>
          <p:cNvPr id="41" name="Text 39"/>
          <p:cNvSpPr/>
          <p:nvPr/>
        </p:nvSpPr>
        <p:spPr>
          <a:xfrm>
            <a:off x="868680" y="4709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42" name="Text 40"/>
          <p:cNvSpPr/>
          <p:nvPr/>
        </p:nvSpPr>
        <p:spPr>
          <a:xfrm>
            <a:off x="1371600" y="4709160"/>
            <a:ext cx="192024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Modal opens</a:t>
            </a:r>
            <a:endParaRPr lang="en-US" sz="1100" dirty="0"/>
          </a:p>
        </p:txBody>
      </p:sp>
      <p:sp>
        <p:nvSpPr>
          <p:cNvPr id="43" name="Text 41"/>
          <p:cNvSpPr/>
          <p:nvPr/>
        </p:nvSpPr>
        <p:spPr>
          <a:xfrm>
            <a:off x="868680" y="5212080"/>
            <a:ext cx="2423160" cy="10058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Titled 'Log AI Task' with 15 fields across two columns</a:t>
            </a:r>
            <a:endParaRPr lang="en-US" sz="900" dirty="0"/>
          </a:p>
        </p:txBody>
      </p:sp>
      <p:sp>
        <p:nvSpPr>
          <p:cNvPr id="44" name="Shape 42"/>
          <p:cNvSpPr/>
          <p:nvPr/>
        </p:nvSpPr>
        <p:spPr>
          <a:xfrm>
            <a:off x="3474720" y="4572000"/>
            <a:ext cx="2606040" cy="1691640"/>
          </a:xfrm>
          <a:prstGeom prst="roundRect">
            <a:avLst>
              <a:gd name="adj" fmla="val 4324"/>
            </a:avLst>
          </a:prstGeom>
          <a:solidFill>
            <a:srgbClr val="141B36"/>
          </a:solidFill>
          <a:ln w="12700">
            <a:solidFill>
              <a:srgbClr val="2A3560"/>
            </a:solidFill>
            <a:prstDash val="solid"/>
          </a:ln>
        </p:spPr>
      </p:sp>
      <p:sp>
        <p:nvSpPr>
          <p:cNvPr id="45" name="Shape 43"/>
          <p:cNvSpPr/>
          <p:nvPr/>
        </p:nvSpPr>
        <p:spPr>
          <a:xfrm>
            <a:off x="3611880" y="4709160"/>
            <a:ext cx="411480" cy="411480"/>
          </a:xfrm>
          <a:prstGeom prst="ellipse">
            <a:avLst/>
          </a:prstGeom>
          <a:solidFill>
            <a:srgbClr val="6366F1"/>
          </a:solidFill>
          <a:ln w="12700">
            <a:solidFill>
              <a:srgbClr val="FFFFFF"/>
            </a:solidFill>
            <a:prstDash val="solid"/>
          </a:ln>
        </p:spPr>
      </p:sp>
      <p:sp>
        <p:nvSpPr>
          <p:cNvPr id="46" name="Text 44"/>
          <p:cNvSpPr/>
          <p:nvPr/>
        </p:nvSpPr>
        <p:spPr>
          <a:xfrm>
            <a:off x="3611880" y="4709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47" name="Text 45"/>
          <p:cNvSpPr/>
          <p:nvPr/>
        </p:nvSpPr>
        <p:spPr>
          <a:xfrm>
            <a:off x="4114800" y="4709160"/>
            <a:ext cx="192024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Week # auto-fills</a:t>
            </a:r>
            <a:endParaRPr lang="en-US" sz="1100" dirty="0"/>
          </a:p>
        </p:txBody>
      </p:sp>
      <p:sp>
        <p:nvSpPr>
          <p:cNvPr id="48" name="Text 46"/>
          <p:cNvSpPr/>
          <p:nvPr/>
        </p:nvSpPr>
        <p:spPr>
          <a:xfrm>
            <a:off x="3611880" y="5212080"/>
            <a:ext cx="2423160" cy="10058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Based on today's date — you don't type it</a:t>
            </a:r>
            <a:endParaRPr lang="en-US" sz="900" dirty="0"/>
          </a:p>
        </p:txBody>
      </p:sp>
      <p:sp>
        <p:nvSpPr>
          <p:cNvPr id="49" name="Shape 47"/>
          <p:cNvSpPr/>
          <p:nvPr/>
        </p:nvSpPr>
        <p:spPr>
          <a:xfrm>
            <a:off x="6217920" y="4572000"/>
            <a:ext cx="2606040" cy="1691640"/>
          </a:xfrm>
          <a:prstGeom prst="roundRect">
            <a:avLst>
              <a:gd name="adj" fmla="val 4324"/>
            </a:avLst>
          </a:prstGeom>
          <a:solidFill>
            <a:srgbClr val="141B36"/>
          </a:solidFill>
          <a:ln w="12700">
            <a:solidFill>
              <a:srgbClr val="2A3560"/>
            </a:solidFill>
            <a:prstDash val="solid"/>
          </a:ln>
        </p:spPr>
      </p:sp>
      <p:sp>
        <p:nvSpPr>
          <p:cNvPr id="50" name="Shape 48"/>
          <p:cNvSpPr/>
          <p:nvPr/>
        </p:nvSpPr>
        <p:spPr>
          <a:xfrm>
            <a:off x="6355080" y="4709160"/>
            <a:ext cx="411480" cy="411480"/>
          </a:xfrm>
          <a:prstGeom prst="ellipse">
            <a:avLst/>
          </a:prstGeom>
          <a:solidFill>
            <a:srgbClr val="6366F1"/>
          </a:solidFill>
          <a:ln w="12700">
            <a:solidFill>
              <a:srgbClr val="FFFFFF"/>
            </a:solidFill>
            <a:prstDash val="solid"/>
          </a:ln>
        </p:spPr>
      </p:sp>
      <p:sp>
        <p:nvSpPr>
          <p:cNvPr id="51" name="Text 49"/>
          <p:cNvSpPr/>
          <p:nvPr/>
        </p:nvSpPr>
        <p:spPr>
          <a:xfrm>
            <a:off x="6355080" y="4709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52" name="Text 50"/>
          <p:cNvSpPr/>
          <p:nvPr/>
        </p:nvSpPr>
        <p:spPr>
          <a:xfrm>
            <a:off x="6858000" y="4709160"/>
            <a:ext cx="192024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Your practice pre-selects</a:t>
            </a:r>
            <a:endParaRPr lang="en-US" sz="1100" dirty="0"/>
          </a:p>
        </p:txBody>
      </p:sp>
      <p:sp>
        <p:nvSpPr>
          <p:cNvPr id="53" name="Text 51"/>
          <p:cNvSpPr/>
          <p:nvPr/>
        </p:nvSpPr>
        <p:spPr>
          <a:xfrm>
            <a:off x="6355080" y="5212080"/>
            <a:ext cx="2423160" cy="10058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From your user profile (SPOCs can change it)</a:t>
            </a:r>
            <a:endParaRPr lang="en-US" sz="900" dirty="0"/>
          </a:p>
        </p:txBody>
      </p:sp>
      <p:sp>
        <p:nvSpPr>
          <p:cNvPr id="54" name="Shape 52"/>
          <p:cNvSpPr/>
          <p:nvPr/>
        </p:nvSpPr>
        <p:spPr>
          <a:xfrm>
            <a:off x="8961120" y="4572000"/>
            <a:ext cx="2606040" cy="1691640"/>
          </a:xfrm>
          <a:prstGeom prst="roundRect">
            <a:avLst>
              <a:gd name="adj" fmla="val 4324"/>
            </a:avLst>
          </a:prstGeom>
          <a:solidFill>
            <a:srgbClr val="141B36"/>
          </a:solidFill>
          <a:ln w="12700">
            <a:solidFill>
              <a:srgbClr val="2A3560"/>
            </a:solidFill>
            <a:prstDash val="solid"/>
          </a:ln>
        </p:spPr>
      </p:sp>
      <p:sp>
        <p:nvSpPr>
          <p:cNvPr id="55" name="Shape 53"/>
          <p:cNvSpPr/>
          <p:nvPr/>
        </p:nvSpPr>
        <p:spPr>
          <a:xfrm>
            <a:off x="9098280" y="4709160"/>
            <a:ext cx="411480" cy="411480"/>
          </a:xfrm>
          <a:prstGeom prst="ellipse">
            <a:avLst/>
          </a:prstGeom>
          <a:solidFill>
            <a:srgbClr val="6366F1"/>
          </a:solidFill>
          <a:ln w="12700">
            <a:solidFill>
              <a:srgbClr val="FFFFFF"/>
            </a:solidFill>
            <a:prstDash val="solid"/>
          </a:ln>
        </p:spPr>
      </p:sp>
      <p:sp>
        <p:nvSpPr>
          <p:cNvPr id="56" name="Text 54"/>
          <p:cNvSpPr/>
          <p:nvPr/>
        </p:nvSpPr>
        <p:spPr>
          <a:xfrm>
            <a:off x="9098280" y="4709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57" name="Text 55"/>
          <p:cNvSpPr/>
          <p:nvPr/>
        </p:nvSpPr>
        <p:spPr>
          <a:xfrm>
            <a:off x="9601200" y="4709160"/>
            <a:ext cx="192024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AI Suggestions button active</a:t>
            </a:r>
            <a:endParaRPr lang="en-US" sz="1100" dirty="0"/>
          </a:p>
        </p:txBody>
      </p:sp>
      <p:sp>
        <p:nvSpPr>
          <p:cNvPr id="58" name="Text 56"/>
          <p:cNvSpPr/>
          <p:nvPr/>
        </p:nvSpPr>
        <p:spPr>
          <a:xfrm>
            <a:off x="9098280" y="5212080"/>
            <a:ext cx="2423160" cy="10058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Sits above the 'Why is this important?' field</a:t>
            </a:r>
            <a:endParaRPr lang="en-US" sz="900" dirty="0"/>
          </a:p>
        </p:txBody>
      </p:sp>
      <p:sp>
        <p:nvSpPr>
          <p:cNvPr id="59" name="Text 57"/>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60" name="Text 58"/>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 / 28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7 — Log an AI task: all 15 real fields</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Verified live — these are exactly the labels on the modal.</a:t>
            </a:r>
            <a:endParaRPr lang="en-US" sz="1400" dirty="0"/>
          </a:p>
        </p:txBody>
      </p:sp>
      <p:sp>
        <p:nvSpPr>
          <p:cNvPr id="4" name="Shape 2"/>
          <p:cNvSpPr/>
          <p:nvPr/>
        </p:nvSpPr>
        <p:spPr>
          <a:xfrm>
            <a:off x="457200" y="1691640"/>
            <a:ext cx="7772400" cy="4754880"/>
          </a:xfrm>
          <a:prstGeom prst="roundRect">
            <a:avLst>
              <a:gd name="adj" fmla="val 1923"/>
            </a:avLst>
          </a:prstGeom>
          <a:solidFill>
            <a:srgbClr val="0B1223"/>
          </a:solidFill>
          <a:ln w="12700">
            <a:solidFill>
              <a:srgbClr val="CADCFC"/>
            </a:solidFill>
            <a:prstDash val="solid"/>
          </a:ln>
        </p:spPr>
      </p:sp>
      <p:sp>
        <p:nvSpPr>
          <p:cNvPr id="5" name="Shape 3"/>
          <p:cNvSpPr/>
          <p:nvPr/>
        </p:nvSpPr>
        <p:spPr>
          <a:xfrm>
            <a:off x="502920" y="1737360"/>
            <a:ext cx="7680960" cy="274320"/>
          </a:xfrm>
          <a:prstGeom prst="rect">
            <a:avLst/>
          </a:prstGeom>
          <a:solidFill>
            <a:srgbClr val="111833"/>
          </a:solidFill>
          <a:ln w="12700">
            <a:solidFill>
              <a:srgbClr val="111833"/>
            </a:solidFill>
            <a:prstDash val="solid"/>
          </a:ln>
        </p:spPr>
      </p:sp>
      <p:sp>
        <p:nvSpPr>
          <p:cNvPr id="6" name="Shape 4"/>
          <p:cNvSpPr/>
          <p:nvPr/>
        </p:nvSpPr>
        <p:spPr>
          <a:xfrm>
            <a:off x="594360" y="1801368"/>
            <a:ext cx="109728" cy="109728"/>
          </a:xfrm>
          <a:prstGeom prst="ellipse">
            <a:avLst/>
          </a:prstGeom>
          <a:solidFill>
            <a:srgbClr val="EF4444"/>
          </a:solidFill>
          <a:ln w="12700">
            <a:solidFill>
              <a:srgbClr val="EF4444"/>
            </a:solidFill>
            <a:prstDash val="solid"/>
          </a:ln>
        </p:spPr>
      </p:sp>
      <p:sp>
        <p:nvSpPr>
          <p:cNvPr id="7" name="Shape 5"/>
          <p:cNvSpPr/>
          <p:nvPr/>
        </p:nvSpPr>
        <p:spPr>
          <a:xfrm>
            <a:off x="740664" y="1801368"/>
            <a:ext cx="109728" cy="109728"/>
          </a:xfrm>
          <a:prstGeom prst="ellipse">
            <a:avLst/>
          </a:prstGeom>
          <a:solidFill>
            <a:srgbClr val="F59E0B"/>
          </a:solidFill>
          <a:ln w="12700">
            <a:solidFill>
              <a:srgbClr val="F59E0B"/>
            </a:solidFill>
            <a:prstDash val="solid"/>
          </a:ln>
        </p:spPr>
      </p:sp>
      <p:sp>
        <p:nvSpPr>
          <p:cNvPr id="8" name="Shape 6"/>
          <p:cNvSpPr/>
          <p:nvPr/>
        </p:nvSpPr>
        <p:spPr>
          <a:xfrm>
            <a:off x="886968" y="1801368"/>
            <a:ext cx="109728" cy="109728"/>
          </a:xfrm>
          <a:prstGeom prst="ellipse">
            <a:avLst/>
          </a:prstGeom>
          <a:solidFill>
            <a:srgbClr val="10B981"/>
          </a:solidFill>
          <a:ln w="12700">
            <a:solidFill>
              <a:srgbClr val="10B981"/>
            </a:solidFill>
            <a:prstDash val="solid"/>
          </a:ln>
        </p:spPr>
      </p:sp>
      <p:sp>
        <p:nvSpPr>
          <p:cNvPr id="9" name="Text 7"/>
          <p:cNvSpPr/>
          <p:nvPr/>
        </p:nvSpPr>
        <p:spPr>
          <a:xfrm>
            <a:off x="685800" y="1874520"/>
            <a:ext cx="73152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Log AI Task</a:t>
            </a:r>
            <a:endParaRPr lang="en-US" sz="1600" dirty="0"/>
          </a:p>
        </p:txBody>
      </p:sp>
      <p:sp>
        <p:nvSpPr>
          <p:cNvPr id="10" name="Text 8"/>
          <p:cNvSpPr/>
          <p:nvPr/>
        </p:nvSpPr>
        <p:spPr>
          <a:xfrm>
            <a:off x="685800" y="2212848"/>
            <a:ext cx="73152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Add a new task to your practice's log</a:t>
            </a:r>
            <a:endParaRPr lang="en-US" sz="1000" dirty="0"/>
          </a:p>
        </p:txBody>
      </p:sp>
      <p:sp>
        <p:nvSpPr>
          <p:cNvPr id="11" name="Text 9"/>
          <p:cNvSpPr/>
          <p:nvPr/>
        </p:nvSpPr>
        <p:spPr>
          <a:xfrm>
            <a:off x="685800" y="2560320"/>
            <a:ext cx="178308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Practice *</a:t>
            </a:r>
            <a:endParaRPr lang="en-US" sz="800" dirty="0"/>
          </a:p>
        </p:txBody>
      </p:sp>
      <p:sp>
        <p:nvSpPr>
          <p:cNvPr id="12" name="Shape 10"/>
          <p:cNvSpPr/>
          <p:nvPr/>
        </p:nvSpPr>
        <p:spPr>
          <a:xfrm>
            <a:off x="685800" y="2743200"/>
            <a:ext cx="1783080" cy="274320"/>
          </a:xfrm>
          <a:prstGeom prst="roundRect">
            <a:avLst>
              <a:gd name="adj" fmla="val 13333"/>
            </a:avLst>
          </a:prstGeom>
          <a:solidFill>
            <a:srgbClr val="141B36"/>
          </a:solidFill>
          <a:ln w="6350">
            <a:solidFill>
              <a:srgbClr val="2A3560"/>
            </a:solidFill>
            <a:prstDash val="solid"/>
          </a:ln>
        </p:spPr>
      </p:sp>
      <p:sp>
        <p:nvSpPr>
          <p:cNvPr id="13" name="Text 11"/>
          <p:cNvSpPr/>
          <p:nvPr/>
        </p:nvSpPr>
        <p:spPr>
          <a:xfrm>
            <a:off x="758952" y="2743200"/>
            <a:ext cx="1645920"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CES</a:t>
            </a:r>
            <a:endParaRPr lang="en-US" sz="900" dirty="0"/>
          </a:p>
        </p:txBody>
      </p:sp>
      <p:sp>
        <p:nvSpPr>
          <p:cNvPr id="14" name="Text 12"/>
          <p:cNvSpPr/>
          <p:nvPr/>
        </p:nvSpPr>
        <p:spPr>
          <a:xfrm>
            <a:off x="2587752" y="2560320"/>
            <a:ext cx="178308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Week # (auto)</a:t>
            </a:r>
            <a:endParaRPr lang="en-US" sz="800" dirty="0"/>
          </a:p>
        </p:txBody>
      </p:sp>
      <p:sp>
        <p:nvSpPr>
          <p:cNvPr id="15" name="Shape 13"/>
          <p:cNvSpPr/>
          <p:nvPr/>
        </p:nvSpPr>
        <p:spPr>
          <a:xfrm>
            <a:off x="2587752" y="2743200"/>
            <a:ext cx="1783080" cy="274320"/>
          </a:xfrm>
          <a:prstGeom prst="roundRect">
            <a:avLst>
              <a:gd name="adj" fmla="val 13333"/>
            </a:avLst>
          </a:prstGeom>
          <a:solidFill>
            <a:srgbClr val="141B36"/>
          </a:solidFill>
          <a:ln w="6350">
            <a:solidFill>
              <a:srgbClr val="2A3560"/>
            </a:solidFill>
            <a:prstDash val="solid"/>
          </a:ln>
        </p:spPr>
      </p:sp>
      <p:sp>
        <p:nvSpPr>
          <p:cNvPr id="16" name="Text 14"/>
          <p:cNvSpPr/>
          <p:nvPr/>
        </p:nvSpPr>
        <p:spPr>
          <a:xfrm>
            <a:off x="2660904" y="2743200"/>
            <a:ext cx="1645920"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Week 15</a:t>
            </a:r>
            <a:endParaRPr lang="en-US" sz="900" dirty="0"/>
          </a:p>
        </p:txBody>
      </p:sp>
      <p:sp>
        <p:nvSpPr>
          <p:cNvPr id="17" name="Text 15"/>
          <p:cNvSpPr/>
          <p:nvPr/>
        </p:nvSpPr>
        <p:spPr>
          <a:xfrm>
            <a:off x="4489704" y="2560320"/>
            <a:ext cx="178308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Week Start (opt)</a:t>
            </a:r>
            <a:endParaRPr lang="en-US" sz="800" dirty="0"/>
          </a:p>
        </p:txBody>
      </p:sp>
      <p:sp>
        <p:nvSpPr>
          <p:cNvPr id="18" name="Shape 16"/>
          <p:cNvSpPr/>
          <p:nvPr/>
        </p:nvSpPr>
        <p:spPr>
          <a:xfrm>
            <a:off x="4489704" y="2743200"/>
            <a:ext cx="1783080" cy="274320"/>
          </a:xfrm>
          <a:prstGeom prst="roundRect">
            <a:avLst>
              <a:gd name="adj" fmla="val 13333"/>
            </a:avLst>
          </a:prstGeom>
          <a:solidFill>
            <a:srgbClr val="141B36"/>
          </a:solidFill>
          <a:ln w="6350">
            <a:solidFill>
              <a:srgbClr val="2A3560"/>
            </a:solidFill>
            <a:prstDash val="solid"/>
          </a:ln>
        </p:spPr>
      </p:sp>
      <p:sp>
        <p:nvSpPr>
          <p:cNvPr id="19" name="Text 17"/>
          <p:cNvSpPr/>
          <p:nvPr/>
        </p:nvSpPr>
        <p:spPr>
          <a:xfrm>
            <a:off x="4562856" y="2743200"/>
            <a:ext cx="1645920"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Apr 7, 2026</a:t>
            </a:r>
            <a:endParaRPr lang="en-US" sz="900" dirty="0"/>
          </a:p>
        </p:txBody>
      </p:sp>
      <p:sp>
        <p:nvSpPr>
          <p:cNvPr id="20" name="Text 18"/>
          <p:cNvSpPr/>
          <p:nvPr/>
        </p:nvSpPr>
        <p:spPr>
          <a:xfrm>
            <a:off x="6391656" y="2560320"/>
            <a:ext cx="178308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Week End (opt)</a:t>
            </a:r>
            <a:endParaRPr lang="en-US" sz="800" dirty="0"/>
          </a:p>
        </p:txBody>
      </p:sp>
      <p:sp>
        <p:nvSpPr>
          <p:cNvPr id="21" name="Shape 19"/>
          <p:cNvSpPr/>
          <p:nvPr/>
        </p:nvSpPr>
        <p:spPr>
          <a:xfrm>
            <a:off x="6391656" y="2743200"/>
            <a:ext cx="1783080" cy="274320"/>
          </a:xfrm>
          <a:prstGeom prst="roundRect">
            <a:avLst>
              <a:gd name="adj" fmla="val 13333"/>
            </a:avLst>
          </a:prstGeom>
          <a:solidFill>
            <a:srgbClr val="141B36"/>
          </a:solidFill>
          <a:ln w="6350">
            <a:solidFill>
              <a:srgbClr val="2A3560"/>
            </a:solidFill>
            <a:prstDash val="solid"/>
          </a:ln>
        </p:spPr>
      </p:sp>
      <p:sp>
        <p:nvSpPr>
          <p:cNvPr id="22" name="Text 20"/>
          <p:cNvSpPr/>
          <p:nvPr/>
        </p:nvSpPr>
        <p:spPr>
          <a:xfrm>
            <a:off x="6464808" y="2743200"/>
            <a:ext cx="1645920"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Apr 11, 2026</a:t>
            </a:r>
            <a:endParaRPr lang="en-US" sz="900" dirty="0"/>
          </a:p>
        </p:txBody>
      </p:sp>
      <p:sp>
        <p:nvSpPr>
          <p:cNvPr id="23" name="Text 21"/>
          <p:cNvSpPr/>
          <p:nvPr/>
        </p:nvSpPr>
        <p:spPr>
          <a:xfrm>
            <a:off x="685800" y="3108960"/>
            <a:ext cx="365760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Project *</a:t>
            </a:r>
            <a:endParaRPr lang="en-US" sz="800" dirty="0"/>
          </a:p>
        </p:txBody>
      </p:sp>
      <p:sp>
        <p:nvSpPr>
          <p:cNvPr id="24" name="Shape 22"/>
          <p:cNvSpPr/>
          <p:nvPr/>
        </p:nvSpPr>
        <p:spPr>
          <a:xfrm>
            <a:off x="685800" y="3291840"/>
            <a:ext cx="3657600" cy="274320"/>
          </a:xfrm>
          <a:prstGeom prst="roundRect">
            <a:avLst>
              <a:gd name="adj" fmla="val 13333"/>
            </a:avLst>
          </a:prstGeom>
          <a:solidFill>
            <a:srgbClr val="141B36"/>
          </a:solidFill>
          <a:ln w="6350">
            <a:solidFill>
              <a:srgbClr val="2A3560"/>
            </a:solidFill>
            <a:prstDash val="solid"/>
          </a:ln>
        </p:spPr>
      </p:sp>
      <p:sp>
        <p:nvSpPr>
          <p:cNvPr id="25" name="Text 23"/>
          <p:cNvSpPr/>
          <p:nvPr/>
        </p:nvSpPr>
        <p:spPr>
          <a:xfrm>
            <a:off x="758952" y="3291840"/>
            <a:ext cx="3520440"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ANB EPS Corporate Module</a:t>
            </a:r>
            <a:endParaRPr lang="en-US" sz="900" dirty="0"/>
          </a:p>
        </p:txBody>
      </p:sp>
      <p:sp>
        <p:nvSpPr>
          <p:cNvPr id="26" name="Text 24"/>
          <p:cNvSpPr/>
          <p:nvPr/>
        </p:nvSpPr>
        <p:spPr>
          <a:xfrm>
            <a:off x="4526280" y="3108960"/>
            <a:ext cx="365760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Employee Name *</a:t>
            </a:r>
            <a:endParaRPr lang="en-US" sz="800" dirty="0"/>
          </a:p>
        </p:txBody>
      </p:sp>
      <p:sp>
        <p:nvSpPr>
          <p:cNvPr id="27" name="Shape 25"/>
          <p:cNvSpPr/>
          <p:nvPr/>
        </p:nvSpPr>
        <p:spPr>
          <a:xfrm>
            <a:off x="4526280" y="3291840"/>
            <a:ext cx="3657600" cy="274320"/>
          </a:xfrm>
          <a:prstGeom prst="roundRect">
            <a:avLst>
              <a:gd name="adj" fmla="val 13333"/>
            </a:avLst>
          </a:prstGeom>
          <a:solidFill>
            <a:srgbClr val="141B36"/>
          </a:solidFill>
          <a:ln w="6350">
            <a:solidFill>
              <a:srgbClr val="2A3560"/>
            </a:solidFill>
            <a:prstDash val="solid"/>
          </a:ln>
        </p:spPr>
      </p:sp>
      <p:sp>
        <p:nvSpPr>
          <p:cNvPr id="28" name="Text 26"/>
          <p:cNvSpPr/>
          <p:nvPr/>
        </p:nvSpPr>
        <p:spPr>
          <a:xfrm>
            <a:off x="4599432" y="3291840"/>
            <a:ext cx="3520440"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Ahmed Samir</a:t>
            </a:r>
            <a:endParaRPr lang="en-US" sz="900" dirty="0"/>
          </a:p>
        </p:txBody>
      </p:sp>
      <p:sp>
        <p:nvSpPr>
          <p:cNvPr id="29" name="Text 27"/>
          <p:cNvSpPr/>
          <p:nvPr/>
        </p:nvSpPr>
        <p:spPr>
          <a:xfrm>
            <a:off x="685800" y="3657600"/>
            <a:ext cx="749808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Task / Activity *</a:t>
            </a:r>
            <a:endParaRPr lang="en-US" sz="800" dirty="0"/>
          </a:p>
        </p:txBody>
      </p:sp>
      <p:sp>
        <p:nvSpPr>
          <p:cNvPr id="30" name="Shape 28"/>
          <p:cNvSpPr/>
          <p:nvPr/>
        </p:nvSpPr>
        <p:spPr>
          <a:xfrm>
            <a:off x="685800" y="3840480"/>
            <a:ext cx="7498080" cy="274320"/>
          </a:xfrm>
          <a:prstGeom prst="roundRect">
            <a:avLst>
              <a:gd name="adj" fmla="val 13333"/>
            </a:avLst>
          </a:prstGeom>
          <a:solidFill>
            <a:srgbClr val="141B36"/>
          </a:solidFill>
          <a:ln w="6350">
            <a:solidFill>
              <a:srgbClr val="2A3560"/>
            </a:solidFill>
            <a:prstDash val="solid"/>
          </a:ln>
        </p:spPr>
      </p:sp>
      <p:sp>
        <p:nvSpPr>
          <p:cNvPr id="31" name="Text 29"/>
          <p:cNvSpPr/>
          <p:nvPr/>
        </p:nvSpPr>
        <p:spPr>
          <a:xfrm>
            <a:off x="758952" y="3840480"/>
            <a:ext cx="7360920"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Scaffold claims-intake microservice</a:t>
            </a:r>
            <a:endParaRPr lang="en-US" sz="900" dirty="0"/>
          </a:p>
        </p:txBody>
      </p:sp>
      <p:sp>
        <p:nvSpPr>
          <p:cNvPr id="32" name="Text 30"/>
          <p:cNvSpPr/>
          <p:nvPr/>
        </p:nvSpPr>
        <p:spPr>
          <a:xfrm>
            <a:off x="685800" y="4206240"/>
            <a:ext cx="242316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Task Category</a:t>
            </a:r>
            <a:endParaRPr lang="en-US" sz="800" dirty="0"/>
          </a:p>
        </p:txBody>
      </p:sp>
      <p:sp>
        <p:nvSpPr>
          <p:cNvPr id="33" name="Shape 31"/>
          <p:cNvSpPr/>
          <p:nvPr/>
        </p:nvSpPr>
        <p:spPr>
          <a:xfrm>
            <a:off x="685800" y="4389120"/>
            <a:ext cx="2423160" cy="274320"/>
          </a:xfrm>
          <a:prstGeom prst="roundRect">
            <a:avLst>
              <a:gd name="adj" fmla="val 13333"/>
            </a:avLst>
          </a:prstGeom>
          <a:solidFill>
            <a:srgbClr val="141B36"/>
          </a:solidFill>
          <a:ln w="6350">
            <a:solidFill>
              <a:srgbClr val="2A3560"/>
            </a:solidFill>
            <a:prstDash val="solid"/>
          </a:ln>
        </p:spPr>
      </p:sp>
      <p:sp>
        <p:nvSpPr>
          <p:cNvPr id="34" name="Text 32"/>
          <p:cNvSpPr/>
          <p:nvPr/>
        </p:nvSpPr>
        <p:spPr>
          <a:xfrm>
            <a:off x="758952" y="4389120"/>
            <a:ext cx="2286000"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Development</a:t>
            </a:r>
            <a:endParaRPr lang="en-US" sz="900" dirty="0"/>
          </a:p>
        </p:txBody>
      </p:sp>
      <p:sp>
        <p:nvSpPr>
          <p:cNvPr id="35" name="Text 33"/>
          <p:cNvSpPr/>
          <p:nvPr/>
        </p:nvSpPr>
        <p:spPr>
          <a:xfrm>
            <a:off x="3227832" y="4206240"/>
            <a:ext cx="242316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AI Tool Used</a:t>
            </a:r>
            <a:endParaRPr lang="en-US" sz="800" dirty="0"/>
          </a:p>
        </p:txBody>
      </p:sp>
      <p:sp>
        <p:nvSpPr>
          <p:cNvPr id="36" name="Shape 34"/>
          <p:cNvSpPr/>
          <p:nvPr/>
        </p:nvSpPr>
        <p:spPr>
          <a:xfrm>
            <a:off x="3227832" y="4389120"/>
            <a:ext cx="2423160" cy="274320"/>
          </a:xfrm>
          <a:prstGeom prst="roundRect">
            <a:avLst>
              <a:gd name="adj" fmla="val 13333"/>
            </a:avLst>
          </a:prstGeom>
          <a:solidFill>
            <a:srgbClr val="141B36"/>
          </a:solidFill>
          <a:ln w="6350">
            <a:solidFill>
              <a:srgbClr val="2A3560"/>
            </a:solidFill>
            <a:prstDash val="solid"/>
          </a:ln>
        </p:spPr>
      </p:sp>
      <p:sp>
        <p:nvSpPr>
          <p:cNvPr id="37" name="Text 35"/>
          <p:cNvSpPr/>
          <p:nvPr/>
        </p:nvSpPr>
        <p:spPr>
          <a:xfrm>
            <a:off x="3300984" y="4389120"/>
            <a:ext cx="2286000"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Github Copilot</a:t>
            </a:r>
            <a:endParaRPr lang="en-US" sz="900" dirty="0"/>
          </a:p>
        </p:txBody>
      </p:sp>
      <p:sp>
        <p:nvSpPr>
          <p:cNvPr id="38" name="Text 36"/>
          <p:cNvSpPr/>
          <p:nvPr/>
        </p:nvSpPr>
        <p:spPr>
          <a:xfrm>
            <a:off x="5769864" y="4206240"/>
            <a:ext cx="242316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Quality (1-5)</a:t>
            </a:r>
            <a:endParaRPr lang="en-US" sz="800" dirty="0"/>
          </a:p>
        </p:txBody>
      </p:sp>
      <p:sp>
        <p:nvSpPr>
          <p:cNvPr id="39" name="Shape 37"/>
          <p:cNvSpPr/>
          <p:nvPr/>
        </p:nvSpPr>
        <p:spPr>
          <a:xfrm>
            <a:off x="5769864" y="4389120"/>
            <a:ext cx="2423160" cy="274320"/>
          </a:xfrm>
          <a:prstGeom prst="roundRect">
            <a:avLst>
              <a:gd name="adj" fmla="val 13333"/>
            </a:avLst>
          </a:prstGeom>
          <a:solidFill>
            <a:srgbClr val="141B36"/>
          </a:solidFill>
          <a:ln w="15240">
            <a:solidFill>
              <a:srgbClr val="10B981"/>
            </a:solidFill>
            <a:prstDash val="solid"/>
          </a:ln>
        </p:spPr>
      </p:sp>
      <p:sp>
        <p:nvSpPr>
          <p:cNvPr id="40" name="Text 38"/>
          <p:cNvSpPr/>
          <p:nvPr/>
        </p:nvSpPr>
        <p:spPr>
          <a:xfrm>
            <a:off x="5843016" y="4389120"/>
            <a:ext cx="2286000" cy="274320"/>
          </a:xfrm>
          <a:prstGeom prst="rect">
            <a:avLst/>
          </a:prstGeom>
          <a:noFill/>
          <a:ln/>
        </p:spPr>
        <p:txBody>
          <a:bodyPr wrap="square" lIns="0" tIns="0" rIns="0" bIns="0"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5</a:t>
            </a:r>
            <a:endParaRPr lang="en-US" sz="900" dirty="0"/>
          </a:p>
        </p:txBody>
      </p:sp>
      <p:sp>
        <p:nvSpPr>
          <p:cNvPr id="41" name="Text 39"/>
          <p:cNvSpPr/>
          <p:nvPr/>
        </p:nvSpPr>
        <p:spPr>
          <a:xfrm>
            <a:off x="685800" y="4754880"/>
            <a:ext cx="242316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Time Without AI (hrs) *</a:t>
            </a:r>
            <a:endParaRPr lang="en-US" sz="800" dirty="0"/>
          </a:p>
        </p:txBody>
      </p:sp>
      <p:sp>
        <p:nvSpPr>
          <p:cNvPr id="42" name="Shape 40"/>
          <p:cNvSpPr/>
          <p:nvPr/>
        </p:nvSpPr>
        <p:spPr>
          <a:xfrm>
            <a:off x="685800" y="4937760"/>
            <a:ext cx="2423160" cy="274320"/>
          </a:xfrm>
          <a:prstGeom prst="roundRect">
            <a:avLst>
              <a:gd name="adj" fmla="val 13333"/>
            </a:avLst>
          </a:prstGeom>
          <a:solidFill>
            <a:srgbClr val="141B36"/>
          </a:solidFill>
          <a:ln w="6350">
            <a:solidFill>
              <a:srgbClr val="2A3560"/>
            </a:solidFill>
            <a:prstDash val="solid"/>
          </a:ln>
        </p:spPr>
      </p:sp>
      <p:sp>
        <p:nvSpPr>
          <p:cNvPr id="43" name="Text 41"/>
          <p:cNvSpPr/>
          <p:nvPr/>
        </p:nvSpPr>
        <p:spPr>
          <a:xfrm>
            <a:off x="758952" y="4937760"/>
            <a:ext cx="2286000"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8.0</a:t>
            </a:r>
            <a:endParaRPr lang="en-US" sz="900" dirty="0"/>
          </a:p>
        </p:txBody>
      </p:sp>
      <p:sp>
        <p:nvSpPr>
          <p:cNvPr id="44" name="Text 42"/>
          <p:cNvSpPr/>
          <p:nvPr/>
        </p:nvSpPr>
        <p:spPr>
          <a:xfrm>
            <a:off x="3227832" y="4754880"/>
            <a:ext cx="242316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Time With AI (hrs) *</a:t>
            </a:r>
            <a:endParaRPr lang="en-US" sz="800" dirty="0"/>
          </a:p>
        </p:txBody>
      </p:sp>
      <p:sp>
        <p:nvSpPr>
          <p:cNvPr id="45" name="Shape 43"/>
          <p:cNvSpPr/>
          <p:nvPr/>
        </p:nvSpPr>
        <p:spPr>
          <a:xfrm>
            <a:off x="3227832" y="4937760"/>
            <a:ext cx="2423160" cy="274320"/>
          </a:xfrm>
          <a:prstGeom prst="roundRect">
            <a:avLst>
              <a:gd name="adj" fmla="val 13333"/>
            </a:avLst>
          </a:prstGeom>
          <a:solidFill>
            <a:srgbClr val="141B36"/>
          </a:solidFill>
          <a:ln w="6350">
            <a:solidFill>
              <a:srgbClr val="2A3560"/>
            </a:solidFill>
            <a:prstDash val="solid"/>
          </a:ln>
        </p:spPr>
      </p:sp>
      <p:sp>
        <p:nvSpPr>
          <p:cNvPr id="46" name="Text 44"/>
          <p:cNvSpPr/>
          <p:nvPr/>
        </p:nvSpPr>
        <p:spPr>
          <a:xfrm>
            <a:off x="3300984" y="4937760"/>
            <a:ext cx="2286000"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2.5</a:t>
            </a:r>
            <a:endParaRPr lang="en-US" sz="900" dirty="0"/>
          </a:p>
        </p:txBody>
      </p:sp>
      <p:sp>
        <p:nvSpPr>
          <p:cNvPr id="47" name="Text 45"/>
          <p:cNvSpPr/>
          <p:nvPr/>
        </p:nvSpPr>
        <p:spPr>
          <a:xfrm>
            <a:off x="5769864" y="4754880"/>
            <a:ext cx="242316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Status</a:t>
            </a:r>
            <a:endParaRPr lang="en-US" sz="800" dirty="0"/>
          </a:p>
        </p:txBody>
      </p:sp>
      <p:sp>
        <p:nvSpPr>
          <p:cNvPr id="48" name="Shape 46"/>
          <p:cNvSpPr/>
          <p:nvPr/>
        </p:nvSpPr>
        <p:spPr>
          <a:xfrm>
            <a:off x="5769864" y="4937760"/>
            <a:ext cx="2423160" cy="274320"/>
          </a:xfrm>
          <a:prstGeom prst="roundRect">
            <a:avLst>
              <a:gd name="adj" fmla="val 13333"/>
            </a:avLst>
          </a:prstGeom>
          <a:solidFill>
            <a:srgbClr val="141B36"/>
          </a:solidFill>
          <a:ln w="6350">
            <a:solidFill>
              <a:srgbClr val="2A3560"/>
            </a:solidFill>
            <a:prstDash val="solid"/>
          </a:ln>
        </p:spPr>
      </p:sp>
      <p:sp>
        <p:nvSpPr>
          <p:cNvPr id="49" name="Text 47"/>
          <p:cNvSpPr/>
          <p:nvPr/>
        </p:nvSpPr>
        <p:spPr>
          <a:xfrm>
            <a:off x="5843016" y="4937760"/>
            <a:ext cx="2286000"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Completed</a:t>
            </a:r>
            <a:endParaRPr lang="en-US" sz="900" dirty="0"/>
          </a:p>
        </p:txBody>
      </p:sp>
      <p:sp>
        <p:nvSpPr>
          <p:cNvPr id="50" name="Text 48"/>
          <p:cNvSpPr/>
          <p:nvPr/>
        </p:nvSpPr>
        <p:spPr>
          <a:xfrm>
            <a:off x="685800" y="5321808"/>
            <a:ext cx="5486400" cy="201168"/>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Why is this important? (context — helps AI validator)</a:t>
            </a:r>
            <a:endParaRPr lang="en-US" sz="800" dirty="0"/>
          </a:p>
        </p:txBody>
      </p:sp>
      <p:sp>
        <p:nvSpPr>
          <p:cNvPr id="51" name="Shape 49"/>
          <p:cNvSpPr/>
          <p:nvPr/>
        </p:nvSpPr>
        <p:spPr>
          <a:xfrm>
            <a:off x="6355080" y="5303520"/>
            <a:ext cx="1828800" cy="256032"/>
          </a:xfrm>
          <a:prstGeom prst="roundRect">
            <a:avLst>
              <a:gd name="adj" fmla="val 50000"/>
            </a:avLst>
          </a:prstGeom>
          <a:solidFill>
            <a:srgbClr val="6366F1"/>
          </a:solidFill>
          <a:ln w="12700">
            <a:solidFill>
              <a:srgbClr val="6366F1"/>
            </a:solidFill>
            <a:prstDash val="solid"/>
          </a:ln>
        </p:spPr>
      </p:sp>
      <p:sp>
        <p:nvSpPr>
          <p:cNvPr id="52" name="Text 50"/>
          <p:cNvSpPr/>
          <p:nvPr/>
        </p:nvSpPr>
        <p:spPr>
          <a:xfrm>
            <a:off x="6355080" y="5303520"/>
            <a:ext cx="182880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AI Suggestions</a:t>
            </a:r>
            <a:endParaRPr lang="en-US" sz="900" dirty="0"/>
          </a:p>
        </p:txBody>
      </p:sp>
      <p:sp>
        <p:nvSpPr>
          <p:cNvPr id="53" name="Shape 51"/>
          <p:cNvSpPr/>
          <p:nvPr/>
        </p:nvSpPr>
        <p:spPr>
          <a:xfrm>
            <a:off x="685800" y="5559552"/>
            <a:ext cx="7498080" cy="777240"/>
          </a:xfrm>
          <a:prstGeom prst="roundRect">
            <a:avLst>
              <a:gd name="adj" fmla="val 4706"/>
            </a:avLst>
          </a:prstGeom>
          <a:solidFill>
            <a:srgbClr val="141B36"/>
          </a:solidFill>
          <a:ln w="6350">
            <a:solidFill>
              <a:srgbClr val="2A3560"/>
            </a:solidFill>
            <a:prstDash val="solid"/>
          </a:ln>
        </p:spPr>
      </p:sp>
      <p:sp>
        <p:nvSpPr>
          <p:cNvPr id="54" name="Text 52"/>
          <p:cNvSpPr/>
          <p:nvPr/>
        </p:nvSpPr>
        <p:spPr>
          <a:xfrm>
            <a:off x="777240" y="5605272"/>
            <a:ext cx="7315200" cy="6858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Used Copilot to scaffold claims-intake. Cut boilerplate ~70%, review rounds 3→1, 100% endpoint coverage.</a:t>
            </a:r>
            <a:endParaRPr lang="en-US" sz="900" dirty="0"/>
          </a:p>
        </p:txBody>
      </p:sp>
      <p:sp>
        <p:nvSpPr>
          <p:cNvPr id="55" name="Shape 53"/>
          <p:cNvSpPr/>
          <p:nvPr/>
        </p:nvSpPr>
        <p:spPr>
          <a:xfrm>
            <a:off x="8458200" y="1691640"/>
            <a:ext cx="3246120" cy="4754880"/>
          </a:xfrm>
          <a:prstGeom prst="roundRect">
            <a:avLst>
              <a:gd name="adj" fmla="val 2254"/>
            </a:avLst>
          </a:prstGeom>
          <a:solidFill>
            <a:srgbClr val="1A2244"/>
          </a:solidFill>
          <a:ln w="12700">
            <a:solidFill>
              <a:srgbClr val="2A3560"/>
            </a:solidFill>
            <a:prstDash val="solid"/>
          </a:ln>
        </p:spPr>
      </p:sp>
      <p:sp>
        <p:nvSpPr>
          <p:cNvPr id="56" name="Text 54"/>
          <p:cNvSpPr/>
          <p:nvPr/>
        </p:nvSpPr>
        <p:spPr>
          <a:xfrm>
            <a:off x="8595360" y="1828800"/>
            <a:ext cx="301752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Notes</a:t>
            </a:r>
            <a:endParaRPr lang="en-US" sz="1600" dirty="0"/>
          </a:p>
        </p:txBody>
      </p:sp>
      <p:sp>
        <p:nvSpPr>
          <p:cNvPr id="57" name="Shape 55"/>
          <p:cNvSpPr/>
          <p:nvPr/>
        </p:nvSpPr>
        <p:spPr>
          <a:xfrm>
            <a:off x="8641080" y="2286000"/>
            <a:ext cx="182880" cy="182880"/>
          </a:xfrm>
          <a:prstGeom prst="ellipse">
            <a:avLst/>
          </a:prstGeom>
          <a:solidFill>
            <a:srgbClr val="6366F1"/>
          </a:solidFill>
          <a:ln w="12700">
            <a:solidFill>
              <a:srgbClr val="6366F1"/>
            </a:solidFill>
            <a:prstDash val="solid"/>
          </a:ln>
        </p:spPr>
      </p:sp>
      <p:sp>
        <p:nvSpPr>
          <p:cNvPr id="58" name="Text 56"/>
          <p:cNvSpPr/>
          <p:nvPr/>
        </p:nvSpPr>
        <p:spPr>
          <a:xfrm>
            <a:off x="8915400" y="2240280"/>
            <a:ext cx="27432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Saved hours</a:t>
            </a:r>
            <a:endParaRPr lang="en-US" sz="1000" dirty="0"/>
          </a:p>
        </p:txBody>
      </p:sp>
      <p:sp>
        <p:nvSpPr>
          <p:cNvPr id="59" name="Text 57"/>
          <p:cNvSpPr/>
          <p:nvPr/>
        </p:nvSpPr>
        <p:spPr>
          <a:xfrm>
            <a:off x="8915400" y="2496312"/>
            <a:ext cx="2743200" cy="411480"/>
          </a:xfrm>
          <a:prstGeom prst="rect">
            <a:avLst/>
          </a:prstGeom>
          <a:noFill/>
          <a:ln/>
        </p:spPr>
        <p:txBody>
          <a:bodyPr wrap="square" lIns="0" tIns="0" rIns="0" bIns="0" rtlCol="0" anchor="ctr"/>
          <a:lstStyle/>
          <a:p>
            <a:pPr indent="0" marL="0">
              <a:buNone/>
            </a:pPr>
            <a:r>
              <a:rPr lang="en-US" sz="800" dirty="0">
                <a:solidFill>
                  <a:srgbClr val="CADCFC"/>
                </a:solidFill>
                <a:latin typeface="Calibri" pitchFamily="34" charset="0"/>
                <a:ea typeface="Calibri" pitchFamily="34" charset="-122"/>
                <a:cs typeface="Calibri" pitchFamily="34" charset="-120"/>
              </a:rPr>
              <a:t>Auto — not a field. = Without − With</a:t>
            </a:r>
            <a:endParaRPr lang="en-US" sz="800" dirty="0"/>
          </a:p>
        </p:txBody>
      </p:sp>
      <p:sp>
        <p:nvSpPr>
          <p:cNvPr id="60" name="Shape 58"/>
          <p:cNvSpPr/>
          <p:nvPr/>
        </p:nvSpPr>
        <p:spPr>
          <a:xfrm>
            <a:off x="8641080" y="2999232"/>
            <a:ext cx="182880" cy="182880"/>
          </a:xfrm>
          <a:prstGeom prst="ellipse">
            <a:avLst/>
          </a:prstGeom>
          <a:solidFill>
            <a:srgbClr val="6366F1"/>
          </a:solidFill>
          <a:ln w="12700">
            <a:solidFill>
              <a:srgbClr val="6366F1"/>
            </a:solidFill>
            <a:prstDash val="solid"/>
          </a:ln>
        </p:spPr>
      </p:sp>
      <p:sp>
        <p:nvSpPr>
          <p:cNvPr id="61" name="Text 59"/>
          <p:cNvSpPr/>
          <p:nvPr/>
        </p:nvSpPr>
        <p:spPr>
          <a:xfrm>
            <a:off x="8915400" y="2953512"/>
            <a:ext cx="27432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Notes / Learnings</a:t>
            </a:r>
            <a:endParaRPr lang="en-US" sz="1000" dirty="0"/>
          </a:p>
        </p:txBody>
      </p:sp>
      <p:sp>
        <p:nvSpPr>
          <p:cNvPr id="62" name="Text 60"/>
          <p:cNvSpPr/>
          <p:nvPr/>
        </p:nvSpPr>
        <p:spPr>
          <a:xfrm>
            <a:off x="8915400" y="3209544"/>
            <a:ext cx="2743200" cy="411480"/>
          </a:xfrm>
          <a:prstGeom prst="rect">
            <a:avLst/>
          </a:prstGeom>
          <a:noFill/>
          <a:ln/>
        </p:spPr>
        <p:txBody>
          <a:bodyPr wrap="square" lIns="0" tIns="0" rIns="0" bIns="0" rtlCol="0" anchor="ctr"/>
          <a:lstStyle/>
          <a:p>
            <a:pPr indent="0" marL="0">
              <a:buNone/>
            </a:pPr>
            <a:r>
              <a:rPr lang="en-US" sz="800" dirty="0">
                <a:solidFill>
                  <a:srgbClr val="CADCFC"/>
                </a:solidFill>
                <a:latin typeface="Calibri" pitchFamily="34" charset="0"/>
                <a:ea typeface="Calibri" pitchFamily="34" charset="-122"/>
                <a:cs typeface="Calibri" pitchFamily="34" charset="-120"/>
              </a:rPr>
              <a:t>Optional free-text at the bottom</a:t>
            </a:r>
            <a:endParaRPr lang="en-US" sz="800" dirty="0"/>
          </a:p>
        </p:txBody>
      </p:sp>
      <p:sp>
        <p:nvSpPr>
          <p:cNvPr id="63" name="Shape 61"/>
          <p:cNvSpPr/>
          <p:nvPr/>
        </p:nvSpPr>
        <p:spPr>
          <a:xfrm>
            <a:off x="8641080" y="3712464"/>
            <a:ext cx="182880" cy="182880"/>
          </a:xfrm>
          <a:prstGeom prst="ellipse">
            <a:avLst/>
          </a:prstGeom>
          <a:solidFill>
            <a:srgbClr val="6366F1"/>
          </a:solidFill>
          <a:ln w="12700">
            <a:solidFill>
              <a:srgbClr val="6366F1"/>
            </a:solidFill>
            <a:prstDash val="solid"/>
          </a:ln>
        </p:spPr>
      </p:sp>
      <p:sp>
        <p:nvSpPr>
          <p:cNvPr id="64" name="Text 62"/>
          <p:cNvSpPr/>
          <p:nvPr/>
        </p:nvSpPr>
        <p:spPr>
          <a:xfrm>
            <a:off x="8915400" y="3666744"/>
            <a:ext cx="27432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Skip approval</a:t>
            </a:r>
            <a:endParaRPr lang="en-US" sz="1000" dirty="0"/>
          </a:p>
        </p:txBody>
      </p:sp>
      <p:sp>
        <p:nvSpPr>
          <p:cNvPr id="65" name="Text 63"/>
          <p:cNvSpPr/>
          <p:nvPr/>
        </p:nvSpPr>
        <p:spPr>
          <a:xfrm>
            <a:off x="8915400" y="3922776"/>
            <a:ext cx="2743200" cy="411480"/>
          </a:xfrm>
          <a:prstGeom prst="rect">
            <a:avLst/>
          </a:prstGeom>
          <a:noFill/>
          <a:ln/>
        </p:spPr>
        <p:txBody>
          <a:bodyPr wrap="square" lIns="0" tIns="0" rIns="0" bIns="0" rtlCol="0" anchor="ctr"/>
          <a:lstStyle/>
          <a:p>
            <a:pPr indent="0" marL="0">
              <a:buNone/>
            </a:pPr>
            <a:r>
              <a:rPr lang="en-US" sz="800" dirty="0">
                <a:solidFill>
                  <a:srgbClr val="CADCFC"/>
                </a:solidFill>
                <a:latin typeface="Calibri" pitchFamily="34" charset="0"/>
                <a:ea typeface="Calibri" pitchFamily="34" charset="-122"/>
                <a:cs typeface="Calibri" pitchFamily="34" charset="-120"/>
              </a:rPr>
              <a:t>Admin-only checkbox at the bottom</a:t>
            </a:r>
            <a:endParaRPr lang="en-US" sz="800" dirty="0"/>
          </a:p>
        </p:txBody>
      </p:sp>
      <p:sp>
        <p:nvSpPr>
          <p:cNvPr id="66" name="Shape 64"/>
          <p:cNvSpPr/>
          <p:nvPr/>
        </p:nvSpPr>
        <p:spPr>
          <a:xfrm>
            <a:off x="8641080" y="4425696"/>
            <a:ext cx="182880" cy="182880"/>
          </a:xfrm>
          <a:prstGeom prst="ellipse">
            <a:avLst/>
          </a:prstGeom>
          <a:solidFill>
            <a:srgbClr val="6366F1"/>
          </a:solidFill>
          <a:ln w="12700">
            <a:solidFill>
              <a:srgbClr val="6366F1"/>
            </a:solidFill>
            <a:prstDash val="solid"/>
          </a:ln>
        </p:spPr>
      </p:sp>
      <p:sp>
        <p:nvSpPr>
          <p:cNvPr id="67" name="Text 65"/>
          <p:cNvSpPr/>
          <p:nvPr/>
        </p:nvSpPr>
        <p:spPr>
          <a:xfrm>
            <a:off x="8915400" y="4379976"/>
            <a:ext cx="27432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Fields marked *</a:t>
            </a:r>
            <a:endParaRPr lang="en-US" sz="1000" dirty="0"/>
          </a:p>
        </p:txBody>
      </p:sp>
      <p:sp>
        <p:nvSpPr>
          <p:cNvPr id="68" name="Text 66"/>
          <p:cNvSpPr/>
          <p:nvPr/>
        </p:nvSpPr>
        <p:spPr>
          <a:xfrm>
            <a:off x="8915400" y="4636008"/>
            <a:ext cx="2743200" cy="411480"/>
          </a:xfrm>
          <a:prstGeom prst="rect">
            <a:avLst/>
          </a:prstGeom>
          <a:noFill/>
          <a:ln/>
        </p:spPr>
        <p:txBody>
          <a:bodyPr wrap="square" lIns="0" tIns="0" rIns="0" bIns="0" rtlCol="0" anchor="ctr"/>
          <a:lstStyle/>
          <a:p>
            <a:pPr indent="0" marL="0">
              <a:buNone/>
            </a:pPr>
            <a:r>
              <a:rPr lang="en-US" sz="800" dirty="0">
                <a:solidFill>
                  <a:srgbClr val="CADCFC"/>
                </a:solidFill>
                <a:latin typeface="Calibri" pitchFamily="34" charset="0"/>
                <a:ea typeface="Calibri" pitchFamily="34" charset="-122"/>
                <a:cs typeface="Calibri" pitchFamily="34" charset="-120"/>
              </a:rPr>
              <a:t>Required — modal blocks Save without them</a:t>
            </a:r>
            <a:endParaRPr lang="en-US" sz="800" dirty="0"/>
          </a:p>
        </p:txBody>
      </p:sp>
      <p:sp>
        <p:nvSpPr>
          <p:cNvPr id="69" name="Shape 67"/>
          <p:cNvSpPr/>
          <p:nvPr/>
        </p:nvSpPr>
        <p:spPr>
          <a:xfrm>
            <a:off x="8641080" y="5138928"/>
            <a:ext cx="182880" cy="182880"/>
          </a:xfrm>
          <a:prstGeom prst="ellipse">
            <a:avLst/>
          </a:prstGeom>
          <a:solidFill>
            <a:srgbClr val="6366F1"/>
          </a:solidFill>
          <a:ln w="12700">
            <a:solidFill>
              <a:srgbClr val="6366F1"/>
            </a:solidFill>
            <a:prstDash val="solid"/>
          </a:ln>
        </p:spPr>
      </p:sp>
      <p:sp>
        <p:nvSpPr>
          <p:cNvPr id="70" name="Text 68"/>
          <p:cNvSpPr/>
          <p:nvPr/>
        </p:nvSpPr>
        <p:spPr>
          <a:xfrm>
            <a:off x="8915400" y="5093208"/>
            <a:ext cx="27432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Categories</a:t>
            </a:r>
            <a:endParaRPr lang="en-US" sz="1000" dirty="0"/>
          </a:p>
        </p:txBody>
      </p:sp>
      <p:sp>
        <p:nvSpPr>
          <p:cNvPr id="71" name="Text 69"/>
          <p:cNvSpPr/>
          <p:nvPr/>
        </p:nvSpPr>
        <p:spPr>
          <a:xfrm>
            <a:off x="8915400" y="5349240"/>
            <a:ext cx="2743200" cy="411480"/>
          </a:xfrm>
          <a:prstGeom prst="rect">
            <a:avLst/>
          </a:prstGeom>
          <a:noFill/>
          <a:ln/>
        </p:spPr>
        <p:txBody>
          <a:bodyPr wrap="square" lIns="0" tIns="0" rIns="0" bIns="0" rtlCol="0" anchor="ctr"/>
          <a:lstStyle/>
          <a:p>
            <a:pPr indent="0" marL="0">
              <a:buNone/>
            </a:pPr>
            <a:r>
              <a:rPr lang="en-US" sz="800" dirty="0">
                <a:solidFill>
                  <a:srgbClr val="CADCFC"/>
                </a:solidFill>
                <a:latin typeface="Calibri" pitchFamily="34" charset="0"/>
                <a:ea typeface="Calibri" pitchFamily="34" charset="-122"/>
                <a:cs typeface="Calibri" pitchFamily="34" charset="-120"/>
              </a:rPr>
              <a:t>Dev, DB, Docs, Test, Code Review, App Dev/Config</a:t>
            </a:r>
            <a:endParaRPr lang="en-US" sz="800" dirty="0"/>
          </a:p>
        </p:txBody>
      </p:sp>
      <p:sp>
        <p:nvSpPr>
          <p:cNvPr id="72" name="Shape 70"/>
          <p:cNvSpPr/>
          <p:nvPr/>
        </p:nvSpPr>
        <p:spPr>
          <a:xfrm>
            <a:off x="8641080" y="5852160"/>
            <a:ext cx="182880" cy="182880"/>
          </a:xfrm>
          <a:prstGeom prst="ellipse">
            <a:avLst/>
          </a:prstGeom>
          <a:solidFill>
            <a:srgbClr val="6366F1"/>
          </a:solidFill>
          <a:ln w="12700">
            <a:solidFill>
              <a:srgbClr val="6366F1"/>
            </a:solidFill>
            <a:prstDash val="solid"/>
          </a:ln>
        </p:spPr>
      </p:sp>
      <p:sp>
        <p:nvSpPr>
          <p:cNvPr id="73" name="Text 71"/>
          <p:cNvSpPr/>
          <p:nvPr/>
        </p:nvSpPr>
        <p:spPr>
          <a:xfrm>
            <a:off x="8915400" y="5806440"/>
            <a:ext cx="27432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AI Tools</a:t>
            </a:r>
            <a:endParaRPr lang="en-US" sz="1000" dirty="0"/>
          </a:p>
        </p:txBody>
      </p:sp>
      <p:sp>
        <p:nvSpPr>
          <p:cNvPr id="74" name="Text 72"/>
          <p:cNvSpPr/>
          <p:nvPr/>
        </p:nvSpPr>
        <p:spPr>
          <a:xfrm>
            <a:off x="8915400" y="6062472"/>
            <a:ext cx="2743200" cy="411480"/>
          </a:xfrm>
          <a:prstGeom prst="rect">
            <a:avLst/>
          </a:prstGeom>
          <a:noFill/>
          <a:ln/>
        </p:spPr>
        <p:txBody>
          <a:bodyPr wrap="square" lIns="0" tIns="0" rIns="0" bIns="0" rtlCol="0" anchor="ctr"/>
          <a:lstStyle/>
          <a:p>
            <a:pPr indent="0" marL="0">
              <a:buNone/>
            </a:pPr>
            <a:r>
              <a:rPr lang="en-US" sz="800" dirty="0">
                <a:solidFill>
                  <a:srgbClr val="CADCFC"/>
                </a:solidFill>
                <a:latin typeface="Calibri" pitchFamily="34" charset="0"/>
                <a:ea typeface="Calibri" pitchFamily="34" charset="-122"/>
                <a:cs typeface="Calibri" pitchFamily="34" charset="-120"/>
              </a:rPr>
              <a:t>Copilot, Cursor, Codex, Claude, ChatGPT, Gemini, M365 Copilot</a:t>
            </a:r>
            <a:endParaRPr lang="en-US" sz="800" dirty="0"/>
          </a:p>
        </p:txBody>
      </p:sp>
      <p:sp>
        <p:nvSpPr>
          <p:cNvPr id="75" name="Text 73"/>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76" name="Text 74"/>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 / 28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8 — AI Suggestions (auto-draft)</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Click the ✧ AI Suggestions button — OpenAI GPT-4 drafts task, category, tool and context.</a:t>
            </a:r>
            <a:endParaRPr lang="en-US" sz="1400" dirty="0"/>
          </a:p>
        </p:txBody>
      </p:sp>
      <p:sp>
        <p:nvSpPr>
          <p:cNvPr id="4" name="Shape 2"/>
          <p:cNvSpPr/>
          <p:nvPr/>
        </p:nvSpPr>
        <p:spPr>
          <a:xfrm>
            <a:off x="548640" y="1783080"/>
            <a:ext cx="5486400" cy="4663440"/>
          </a:xfrm>
          <a:prstGeom prst="roundRect">
            <a:avLst>
              <a:gd name="adj" fmla="val 1569"/>
            </a:avLst>
          </a:prstGeom>
          <a:solidFill>
            <a:srgbClr val="1A2244"/>
          </a:solidFill>
          <a:ln w="12700">
            <a:solidFill>
              <a:srgbClr val="2A3560"/>
            </a:solidFill>
            <a:prstDash val="solid"/>
          </a:ln>
        </p:spPr>
      </p:sp>
      <p:sp>
        <p:nvSpPr>
          <p:cNvPr id="5" name="Shape 3"/>
          <p:cNvSpPr/>
          <p:nvPr/>
        </p:nvSpPr>
        <p:spPr>
          <a:xfrm>
            <a:off x="548640" y="1783080"/>
            <a:ext cx="73152" cy="4663440"/>
          </a:xfrm>
          <a:prstGeom prst="rect">
            <a:avLst/>
          </a:prstGeom>
          <a:solidFill>
            <a:srgbClr val="F59E0B"/>
          </a:solidFill>
          <a:ln w="12700">
            <a:solidFill>
              <a:srgbClr val="F59E0B"/>
            </a:solidFill>
            <a:prstDash val="solid"/>
          </a:ln>
        </p:spPr>
      </p:sp>
      <p:sp>
        <p:nvSpPr>
          <p:cNvPr id="6" name="Text 4"/>
          <p:cNvSpPr/>
          <p:nvPr/>
        </p:nvSpPr>
        <p:spPr>
          <a:xfrm>
            <a:off x="777240" y="1920240"/>
            <a:ext cx="5120640" cy="320040"/>
          </a:xfrm>
          <a:prstGeom prst="rect">
            <a:avLst/>
          </a:prstGeom>
          <a:noFill/>
          <a:ln/>
        </p:spPr>
        <p:txBody>
          <a:bodyPr wrap="square" lIns="0" tIns="0" rIns="0" bIns="0"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Before clicking</a:t>
            </a:r>
            <a:endParaRPr lang="en-US" sz="1600" dirty="0"/>
          </a:p>
        </p:txBody>
      </p:sp>
      <p:sp>
        <p:nvSpPr>
          <p:cNvPr id="7" name="Text 5"/>
          <p:cNvSpPr/>
          <p:nvPr/>
        </p:nvSpPr>
        <p:spPr>
          <a:xfrm>
            <a:off x="777240" y="2377440"/>
            <a:ext cx="512064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Task / Activity *</a:t>
            </a:r>
            <a:endParaRPr lang="en-US" sz="800" dirty="0"/>
          </a:p>
        </p:txBody>
      </p:sp>
      <p:sp>
        <p:nvSpPr>
          <p:cNvPr id="8" name="Shape 6"/>
          <p:cNvSpPr/>
          <p:nvPr/>
        </p:nvSpPr>
        <p:spPr>
          <a:xfrm>
            <a:off x="777240" y="2560320"/>
            <a:ext cx="5074920" cy="365760"/>
          </a:xfrm>
          <a:prstGeom prst="roundRect">
            <a:avLst>
              <a:gd name="adj" fmla="val 10000"/>
            </a:avLst>
          </a:prstGeom>
          <a:solidFill>
            <a:srgbClr val="141B36"/>
          </a:solidFill>
          <a:ln w="6350">
            <a:solidFill>
              <a:srgbClr val="2A3560"/>
            </a:solidFill>
            <a:prstDash val="solid"/>
          </a:ln>
        </p:spPr>
      </p:sp>
      <p:sp>
        <p:nvSpPr>
          <p:cNvPr id="9" name="Text 7"/>
          <p:cNvSpPr/>
          <p:nvPr/>
        </p:nvSpPr>
        <p:spPr>
          <a:xfrm>
            <a:off x="868680" y="2560320"/>
            <a:ext cx="4892040" cy="365760"/>
          </a:xfrm>
          <a:prstGeom prst="rect">
            <a:avLst/>
          </a:prstGeom>
          <a:noFill/>
          <a:ln/>
        </p:spPr>
        <p:txBody>
          <a:bodyPr wrap="square" lIns="0" tIns="0" rIns="0" bIns="0" rtlCol="0" anchor="ctr"/>
          <a:lstStyle/>
          <a:p>
            <a:pPr indent="0" marL="0">
              <a:buNone/>
            </a:pPr>
            <a:endParaRPr lang="en-US" sz="900" dirty="0"/>
          </a:p>
        </p:txBody>
      </p:sp>
      <p:sp>
        <p:nvSpPr>
          <p:cNvPr id="10" name="Text 8"/>
          <p:cNvSpPr/>
          <p:nvPr/>
        </p:nvSpPr>
        <p:spPr>
          <a:xfrm>
            <a:off x="777240" y="3035808"/>
            <a:ext cx="512064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Task Category</a:t>
            </a:r>
            <a:endParaRPr lang="en-US" sz="800" dirty="0"/>
          </a:p>
        </p:txBody>
      </p:sp>
      <p:sp>
        <p:nvSpPr>
          <p:cNvPr id="11" name="Shape 9"/>
          <p:cNvSpPr/>
          <p:nvPr/>
        </p:nvSpPr>
        <p:spPr>
          <a:xfrm>
            <a:off x="777240" y="3218688"/>
            <a:ext cx="5074920" cy="365760"/>
          </a:xfrm>
          <a:prstGeom prst="roundRect">
            <a:avLst>
              <a:gd name="adj" fmla="val 10000"/>
            </a:avLst>
          </a:prstGeom>
          <a:solidFill>
            <a:srgbClr val="141B36"/>
          </a:solidFill>
          <a:ln w="6350">
            <a:solidFill>
              <a:srgbClr val="2A3560"/>
            </a:solidFill>
            <a:prstDash val="solid"/>
          </a:ln>
        </p:spPr>
      </p:sp>
      <p:sp>
        <p:nvSpPr>
          <p:cNvPr id="12" name="Text 10"/>
          <p:cNvSpPr/>
          <p:nvPr/>
        </p:nvSpPr>
        <p:spPr>
          <a:xfrm>
            <a:off x="868680" y="3218688"/>
            <a:ext cx="4892040" cy="36576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t>
            </a:r>
            <a:endParaRPr lang="en-US" sz="900" dirty="0"/>
          </a:p>
        </p:txBody>
      </p:sp>
      <p:sp>
        <p:nvSpPr>
          <p:cNvPr id="13" name="Text 11"/>
          <p:cNvSpPr/>
          <p:nvPr/>
        </p:nvSpPr>
        <p:spPr>
          <a:xfrm>
            <a:off x="777240" y="3694176"/>
            <a:ext cx="512064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AI Tool Used</a:t>
            </a:r>
            <a:endParaRPr lang="en-US" sz="800" dirty="0"/>
          </a:p>
        </p:txBody>
      </p:sp>
      <p:sp>
        <p:nvSpPr>
          <p:cNvPr id="14" name="Shape 12"/>
          <p:cNvSpPr/>
          <p:nvPr/>
        </p:nvSpPr>
        <p:spPr>
          <a:xfrm>
            <a:off x="777240" y="3877056"/>
            <a:ext cx="5074920" cy="365760"/>
          </a:xfrm>
          <a:prstGeom prst="roundRect">
            <a:avLst>
              <a:gd name="adj" fmla="val 10000"/>
            </a:avLst>
          </a:prstGeom>
          <a:solidFill>
            <a:srgbClr val="141B36"/>
          </a:solidFill>
          <a:ln w="6350">
            <a:solidFill>
              <a:srgbClr val="2A3560"/>
            </a:solidFill>
            <a:prstDash val="solid"/>
          </a:ln>
        </p:spPr>
      </p:sp>
      <p:sp>
        <p:nvSpPr>
          <p:cNvPr id="15" name="Text 13"/>
          <p:cNvSpPr/>
          <p:nvPr/>
        </p:nvSpPr>
        <p:spPr>
          <a:xfrm>
            <a:off x="868680" y="3877056"/>
            <a:ext cx="4892040" cy="36576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t>
            </a:r>
            <a:endParaRPr lang="en-US" sz="900" dirty="0"/>
          </a:p>
        </p:txBody>
      </p:sp>
      <p:sp>
        <p:nvSpPr>
          <p:cNvPr id="16" name="Text 14"/>
          <p:cNvSpPr/>
          <p:nvPr/>
        </p:nvSpPr>
        <p:spPr>
          <a:xfrm>
            <a:off x="777240" y="4352544"/>
            <a:ext cx="512064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Time Without AI</a:t>
            </a:r>
            <a:endParaRPr lang="en-US" sz="800" dirty="0"/>
          </a:p>
        </p:txBody>
      </p:sp>
      <p:sp>
        <p:nvSpPr>
          <p:cNvPr id="17" name="Shape 15"/>
          <p:cNvSpPr/>
          <p:nvPr/>
        </p:nvSpPr>
        <p:spPr>
          <a:xfrm>
            <a:off x="777240" y="4535424"/>
            <a:ext cx="5074920" cy="365760"/>
          </a:xfrm>
          <a:prstGeom prst="roundRect">
            <a:avLst>
              <a:gd name="adj" fmla="val 10000"/>
            </a:avLst>
          </a:prstGeom>
          <a:solidFill>
            <a:srgbClr val="141B36"/>
          </a:solidFill>
          <a:ln w="6350">
            <a:solidFill>
              <a:srgbClr val="2A3560"/>
            </a:solidFill>
            <a:prstDash val="solid"/>
          </a:ln>
        </p:spPr>
      </p:sp>
      <p:sp>
        <p:nvSpPr>
          <p:cNvPr id="18" name="Text 16"/>
          <p:cNvSpPr/>
          <p:nvPr/>
        </p:nvSpPr>
        <p:spPr>
          <a:xfrm>
            <a:off x="868680" y="4535424"/>
            <a:ext cx="4892040" cy="36576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8.0</a:t>
            </a:r>
            <a:endParaRPr lang="en-US" sz="900" dirty="0"/>
          </a:p>
        </p:txBody>
      </p:sp>
      <p:sp>
        <p:nvSpPr>
          <p:cNvPr id="19" name="Text 17"/>
          <p:cNvSpPr/>
          <p:nvPr/>
        </p:nvSpPr>
        <p:spPr>
          <a:xfrm>
            <a:off x="777240" y="5010912"/>
            <a:ext cx="512064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Time With AI</a:t>
            </a:r>
            <a:endParaRPr lang="en-US" sz="800" dirty="0"/>
          </a:p>
        </p:txBody>
      </p:sp>
      <p:sp>
        <p:nvSpPr>
          <p:cNvPr id="20" name="Shape 18"/>
          <p:cNvSpPr/>
          <p:nvPr/>
        </p:nvSpPr>
        <p:spPr>
          <a:xfrm>
            <a:off x="777240" y="5193792"/>
            <a:ext cx="5074920" cy="365760"/>
          </a:xfrm>
          <a:prstGeom prst="roundRect">
            <a:avLst>
              <a:gd name="adj" fmla="val 10000"/>
            </a:avLst>
          </a:prstGeom>
          <a:solidFill>
            <a:srgbClr val="141B36"/>
          </a:solidFill>
          <a:ln w="6350">
            <a:solidFill>
              <a:srgbClr val="2A3560"/>
            </a:solidFill>
            <a:prstDash val="solid"/>
          </a:ln>
        </p:spPr>
      </p:sp>
      <p:sp>
        <p:nvSpPr>
          <p:cNvPr id="21" name="Text 19"/>
          <p:cNvSpPr/>
          <p:nvPr/>
        </p:nvSpPr>
        <p:spPr>
          <a:xfrm>
            <a:off x="868680" y="5193792"/>
            <a:ext cx="4892040" cy="36576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2.5</a:t>
            </a:r>
            <a:endParaRPr lang="en-US" sz="900" dirty="0"/>
          </a:p>
        </p:txBody>
      </p:sp>
      <p:sp>
        <p:nvSpPr>
          <p:cNvPr id="22" name="Text 20"/>
          <p:cNvSpPr/>
          <p:nvPr/>
        </p:nvSpPr>
        <p:spPr>
          <a:xfrm>
            <a:off x="777240" y="5669280"/>
            <a:ext cx="512064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Why is this important?</a:t>
            </a:r>
            <a:endParaRPr lang="en-US" sz="800" dirty="0"/>
          </a:p>
        </p:txBody>
      </p:sp>
      <p:sp>
        <p:nvSpPr>
          <p:cNvPr id="23" name="Shape 21"/>
          <p:cNvSpPr/>
          <p:nvPr/>
        </p:nvSpPr>
        <p:spPr>
          <a:xfrm>
            <a:off x="777240" y="5852160"/>
            <a:ext cx="5074920" cy="365760"/>
          </a:xfrm>
          <a:prstGeom prst="roundRect">
            <a:avLst>
              <a:gd name="adj" fmla="val 10000"/>
            </a:avLst>
          </a:prstGeom>
          <a:solidFill>
            <a:srgbClr val="141B36"/>
          </a:solidFill>
          <a:ln w="6350">
            <a:solidFill>
              <a:srgbClr val="2A3560"/>
            </a:solidFill>
            <a:prstDash val="solid"/>
          </a:ln>
        </p:spPr>
      </p:sp>
      <p:sp>
        <p:nvSpPr>
          <p:cNvPr id="24" name="Text 22"/>
          <p:cNvSpPr/>
          <p:nvPr/>
        </p:nvSpPr>
        <p:spPr>
          <a:xfrm>
            <a:off x="868680" y="5852160"/>
            <a:ext cx="4892040" cy="365760"/>
          </a:xfrm>
          <a:prstGeom prst="rect">
            <a:avLst/>
          </a:prstGeom>
          <a:noFill/>
          <a:ln/>
        </p:spPr>
        <p:txBody>
          <a:bodyPr wrap="square" lIns="0" tIns="0" rIns="0" bIns="0" rtlCol="0" anchor="ctr"/>
          <a:lstStyle/>
          <a:p>
            <a:pPr indent="0" marL="0">
              <a:buNone/>
            </a:pPr>
            <a:endParaRPr lang="en-US" sz="900" dirty="0"/>
          </a:p>
        </p:txBody>
      </p:sp>
      <p:sp>
        <p:nvSpPr>
          <p:cNvPr id="25" name="Shape 23"/>
          <p:cNvSpPr/>
          <p:nvPr/>
        </p:nvSpPr>
        <p:spPr>
          <a:xfrm>
            <a:off x="6355080" y="1783080"/>
            <a:ext cx="5486400" cy="4663440"/>
          </a:xfrm>
          <a:prstGeom prst="roundRect">
            <a:avLst>
              <a:gd name="adj" fmla="val 1569"/>
            </a:avLst>
          </a:prstGeom>
          <a:solidFill>
            <a:srgbClr val="1A2244"/>
          </a:solidFill>
          <a:ln w="12700">
            <a:solidFill>
              <a:srgbClr val="2A3560"/>
            </a:solidFill>
            <a:prstDash val="solid"/>
          </a:ln>
        </p:spPr>
      </p:sp>
      <p:sp>
        <p:nvSpPr>
          <p:cNvPr id="26" name="Shape 24"/>
          <p:cNvSpPr/>
          <p:nvPr/>
        </p:nvSpPr>
        <p:spPr>
          <a:xfrm>
            <a:off x="6355080" y="1783080"/>
            <a:ext cx="73152" cy="4663440"/>
          </a:xfrm>
          <a:prstGeom prst="rect">
            <a:avLst/>
          </a:prstGeom>
          <a:solidFill>
            <a:srgbClr val="10B981"/>
          </a:solidFill>
          <a:ln w="12700">
            <a:solidFill>
              <a:srgbClr val="10B981"/>
            </a:solidFill>
            <a:prstDash val="solid"/>
          </a:ln>
        </p:spPr>
      </p:sp>
      <p:sp>
        <p:nvSpPr>
          <p:cNvPr id="27" name="Text 25"/>
          <p:cNvSpPr/>
          <p:nvPr/>
        </p:nvSpPr>
        <p:spPr>
          <a:xfrm>
            <a:off x="6583680" y="1920240"/>
            <a:ext cx="5120640" cy="320040"/>
          </a:xfrm>
          <a:prstGeom prst="rect">
            <a:avLst/>
          </a:prstGeom>
          <a:noFill/>
          <a:ln/>
        </p:spPr>
        <p:txBody>
          <a:bodyPr wrap="square" lIns="0" tIns="0" rIns="0" bIns="0" rtlCol="0" anchor="ctr"/>
          <a:lstStyle/>
          <a:p>
            <a:pPr indent="0" marL="0">
              <a:buNone/>
            </a:pPr>
            <a:r>
              <a:rPr lang="en-US" sz="1600" b="1" dirty="0">
                <a:solidFill>
                  <a:srgbClr val="10B981"/>
                </a:solidFill>
                <a:latin typeface="Calibri" pitchFamily="34" charset="0"/>
                <a:ea typeface="Calibri" pitchFamily="34" charset="-122"/>
                <a:cs typeface="Calibri" pitchFamily="34" charset="-120"/>
              </a:rPr>
              <a:t>After clicking</a:t>
            </a:r>
            <a:endParaRPr lang="en-US" sz="1600" dirty="0"/>
          </a:p>
        </p:txBody>
      </p:sp>
      <p:sp>
        <p:nvSpPr>
          <p:cNvPr id="28" name="Text 26"/>
          <p:cNvSpPr/>
          <p:nvPr/>
        </p:nvSpPr>
        <p:spPr>
          <a:xfrm>
            <a:off x="6583680" y="2377440"/>
            <a:ext cx="512064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Task / Activity *</a:t>
            </a:r>
            <a:endParaRPr lang="en-US" sz="800" dirty="0"/>
          </a:p>
        </p:txBody>
      </p:sp>
      <p:sp>
        <p:nvSpPr>
          <p:cNvPr id="29" name="Shape 27"/>
          <p:cNvSpPr/>
          <p:nvPr/>
        </p:nvSpPr>
        <p:spPr>
          <a:xfrm>
            <a:off x="6583680" y="2560320"/>
            <a:ext cx="5074920" cy="365760"/>
          </a:xfrm>
          <a:prstGeom prst="roundRect">
            <a:avLst>
              <a:gd name="adj" fmla="val 10000"/>
            </a:avLst>
          </a:prstGeom>
          <a:solidFill>
            <a:srgbClr val="141B36"/>
          </a:solidFill>
          <a:ln w="10160">
            <a:solidFill>
              <a:srgbClr val="10B981"/>
            </a:solidFill>
            <a:prstDash val="solid"/>
          </a:ln>
        </p:spPr>
      </p:sp>
      <p:sp>
        <p:nvSpPr>
          <p:cNvPr id="30" name="Text 28"/>
          <p:cNvSpPr/>
          <p:nvPr/>
        </p:nvSpPr>
        <p:spPr>
          <a:xfrm>
            <a:off x="6675120" y="2560320"/>
            <a:ext cx="4892040" cy="36576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Build GraphQL resolver for customer accounts</a:t>
            </a:r>
            <a:endParaRPr lang="en-US" sz="900" dirty="0"/>
          </a:p>
        </p:txBody>
      </p:sp>
      <p:sp>
        <p:nvSpPr>
          <p:cNvPr id="31" name="Text 29"/>
          <p:cNvSpPr/>
          <p:nvPr/>
        </p:nvSpPr>
        <p:spPr>
          <a:xfrm>
            <a:off x="6583680" y="3035808"/>
            <a:ext cx="512064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Task Category</a:t>
            </a:r>
            <a:endParaRPr lang="en-US" sz="800" dirty="0"/>
          </a:p>
        </p:txBody>
      </p:sp>
      <p:sp>
        <p:nvSpPr>
          <p:cNvPr id="32" name="Shape 30"/>
          <p:cNvSpPr/>
          <p:nvPr/>
        </p:nvSpPr>
        <p:spPr>
          <a:xfrm>
            <a:off x="6583680" y="3218688"/>
            <a:ext cx="5074920" cy="365760"/>
          </a:xfrm>
          <a:prstGeom prst="roundRect">
            <a:avLst>
              <a:gd name="adj" fmla="val 10000"/>
            </a:avLst>
          </a:prstGeom>
          <a:solidFill>
            <a:srgbClr val="141B36"/>
          </a:solidFill>
          <a:ln w="10160">
            <a:solidFill>
              <a:srgbClr val="10B981"/>
            </a:solidFill>
            <a:prstDash val="solid"/>
          </a:ln>
        </p:spPr>
      </p:sp>
      <p:sp>
        <p:nvSpPr>
          <p:cNvPr id="33" name="Text 31"/>
          <p:cNvSpPr/>
          <p:nvPr/>
        </p:nvSpPr>
        <p:spPr>
          <a:xfrm>
            <a:off x="6675120" y="3218688"/>
            <a:ext cx="4892040" cy="36576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Development</a:t>
            </a:r>
            <a:endParaRPr lang="en-US" sz="900" dirty="0"/>
          </a:p>
        </p:txBody>
      </p:sp>
      <p:sp>
        <p:nvSpPr>
          <p:cNvPr id="34" name="Text 32"/>
          <p:cNvSpPr/>
          <p:nvPr/>
        </p:nvSpPr>
        <p:spPr>
          <a:xfrm>
            <a:off x="6583680" y="3694176"/>
            <a:ext cx="512064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AI Tool Used</a:t>
            </a:r>
            <a:endParaRPr lang="en-US" sz="800" dirty="0"/>
          </a:p>
        </p:txBody>
      </p:sp>
      <p:sp>
        <p:nvSpPr>
          <p:cNvPr id="35" name="Shape 33"/>
          <p:cNvSpPr/>
          <p:nvPr/>
        </p:nvSpPr>
        <p:spPr>
          <a:xfrm>
            <a:off x="6583680" y="3877056"/>
            <a:ext cx="5074920" cy="365760"/>
          </a:xfrm>
          <a:prstGeom prst="roundRect">
            <a:avLst>
              <a:gd name="adj" fmla="val 10000"/>
            </a:avLst>
          </a:prstGeom>
          <a:solidFill>
            <a:srgbClr val="141B36"/>
          </a:solidFill>
          <a:ln w="10160">
            <a:solidFill>
              <a:srgbClr val="10B981"/>
            </a:solidFill>
            <a:prstDash val="solid"/>
          </a:ln>
        </p:spPr>
      </p:sp>
      <p:sp>
        <p:nvSpPr>
          <p:cNvPr id="36" name="Text 34"/>
          <p:cNvSpPr/>
          <p:nvPr/>
        </p:nvSpPr>
        <p:spPr>
          <a:xfrm>
            <a:off x="6675120" y="3877056"/>
            <a:ext cx="4892040" cy="36576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Github Copilot</a:t>
            </a:r>
            <a:endParaRPr lang="en-US" sz="900" dirty="0"/>
          </a:p>
        </p:txBody>
      </p:sp>
      <p:sp>
        <p:nvSpPr>
          <p:cNvPr id="37" name="Text 35"/>
          <p:cNvSpPr/>
          <p:nvPr/>
        </p:nvSpPr>
        <p:spPr>
          <a:xfrm>
            <a:off x="6583680" y="4352544"/>
            <a:ext cx="512064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Time Without AI</a:t>
            </a:r>
            <a:endParaRPr lang="en-US" sz="800" dirty="0"/>
          </a:p>
        </p:txBody>
      </p:sp>
      <p:sp>
        <p:nvSpPr>
          <p:cNvPr id="38" name="Shape 36"/>
          <p:cNvSpPr/>
          <p:nvPr/>
        </p:nvSpPr>
        <p:spPr>
          <a:xfrm>
            <a:off x="6583680" y="4535424"/>
            <a:ext cx="5074920" cy="365760"/>
          </a:xfrm>
          <a:prstGeom prst="roundRect">
            <a:avLst>
              <a:gd name="adj" fmla="val 10000"/>
            </a:avLst>
          </a:prstGeom>
          <a:solidFill>
            <a:srgbClr val="141B36"/>
          </a:solidFill>
          <a:ln w="10160">
            <a:solidFill>
              <a:srgbClr val="10B981"/>
            </a:solidFill>
            <a:prstDash val="solid"/>
          </a:ln>
        </p:spPr>
      </p:sp>
      <p:sp>
        <p:nvSpPr>
          <p:cNvPr id="39" name="Text 37"/>
          <p:cNvSpPr/>
          <p:nvPr/>
        </p:nvSpPr>
        <p:spPr>
          <a:xfrm>
            <a:off x="6675120" y="4535424"/>
            <a:ext cx="4892040" cy="36576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8.0</a:t>
            </a:r>
            <a:endParaRPr lang="en-US" sz="900" dirty="0"/>
          </a:p>
        </p:txBody>
      </p:sp>
      <p:sp>
        <p:nvSpPr>
          <p:cNvPr id="40" name="Text 38"/>
          <p:cNvSpPr/>
          <p:nvPr/>
        </p:nvSpPr>
        <p:spPr>
          <a:xfrm>
            <a:off x="6583680" y="5010912"/>
            <a:ext cx="512064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Time With AI</a:t>
            </a:r>
            <a:endParaRPr lang="en-US" sz="800" dirty="0"/>
          </a:p>
        </p:txBody>
      </p:sp>
      <p:sp>
        <p:nvSpPr>
          <p:cNvPr id="41" name="Shape 39"/>
          <p:cNvSpPr/>
          <p:nvPr/>
        </p:nvSpPr>
        <p:spPr>
          <a:xfrm>
            <a:off x="6583680" y="5193792"/>
            <a:ext cx="5074920" cy="365760"/>
          </a:xfrm>
          <a:prstGeom prst="roundRect">
            <a:avLst>
              <a:gd name="adj" fmla="val 10000"/>
            </a:avLst>
          </a:prstGeom>
          <a:solidFill>
            <a:srgbClr val="141B36"/>
          </a:solidFill>
          <a:ln w="10160">
            <a:solidFill>
              <a:srgbClr val="10B981"/>
            </a:solidFill>
            <a:prstDash val="solid"/>
          </a:ln>
        </p:spPr>
      </p:sp>
      <p:sp>
        <p:nvSpPr>
          <p:cNvPr id="42" name="Text 40"/>
          <p:cNvSpPr/>
          <p:nvPr/>
        </p:nvSpPr>
        <p:spPr>
          <a:xfrm>
            <a:off x="6675120" y="5193792"/>
            <a:ext cx="4892040" cy="36576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2.5</a:t>
            </a:r>
            <a:endParaRPr lang="en-US" sz="900" dirty="0"/>
          </a:p>
        </p:txBody>
      </p:sp>
      <p:sp>
        <p:nvSpPr>
          <p:cNvPr id="43" name="Text 41"/>
          <p:cNvSpPr/>
          <p:nvPr/>
        </p:nvSpPr>
        <p:spPr>
          <a:xfrm>
            <a:off x="6583680" y="5669280"/>
            <a:ext cx="512064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Why is this important?</a:t>
            </a:r>
            <a:endParaRPr lang="en-US" sz="800" dirty="0"/>
          </a:p>
        </p:txBody>
      </p:sp>
      <p:sp>
        <p:nvSpPr>
          <p:cNvPr id="44" name="Shape 42"/>
          <p:cNvSpPr/>
          <p:nvPr/>
        </p:nvSpPr>
        <p:spPr>
          <a:xfrm>
            <a:off x="6583680" y="5852160"/>
            <a:ext cx="5074920" cy="365760"/>
          </a:xfrm>
          <a:prstGeom prst="roundRect">
            <a:avLst>
              <a:gd name="adj" fmla="val 10000"/>
            </a:avLst>
          </a:prstGeom>
          <a:solidFill>
            <a:srgbClr val="141B36"/>
          </a:solidFill>
          <a:ln w="10160">
            <a:solidFill>
              <a:srgbClr val="10B981"/>
            </a:solidFill>
            <a:prstDash val="solid"/>
          </a:ln>
        </p:spPr>
      </p:sp>
      <p:sp>
        <p:nvSpPr>
          <p:cNvPr id="45" name="Text 43"/>
          <p:cNvSpPr/>
          <p:nvPr/>
        </p:nvSpPr>
        <p:spPr>
          <a:xfrm>
            <a:off x="6675120" y="5852160"/>
            <a:ext cx="4892040" cy="36576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Replaced manual REST wiring. Covers 12 entity types, auto-handles caching and pagination.</a:t>
            </a:r>
            <a:endParaRPr lang="en-US" sz="900" dirty="0"/>
          </a:p>
        </p:txBody>
      </p:sp>
      <p:sp>
        <p:nvSpPr>
          <p:cNvPr id="46" name="Text 44"/>
          <p:cNvSpPr/>
          <p:nvPr/>
        </p:nvSpPr>
        <p:spPr>
          <a:xfrm>
            <a:off x="5577840" y="3840480"/>
            <a:ext cx="1005840" cy="731520"/>
          </a:xfrm>
          <a:prstGeom prst="rect">
            <a:avLst/>
          </a:prstGeom>
          <a:noFill/>
          <a:ln/>
        </p:spPr>
        <p:txBody>
          <a:bodyPr wrap="square" lIns="0" tIns="0" rIns="0" bIns="0" rtlCol="0" anchor="ctr"/>
          <a:lstStyle/>
          <a:p>
            <a:pPr algn="ctr" indent="0" marL="0">
              <a:buNone/>
            </a:pPr>
            <a:r>
              <a:rPr lang="en-US" sz="4800" b="1" dirty="0">
                <a:solidFill>
                  <a:srgbClr val="6366F1"/>
                </a:solidFill>
              </a:rPr>
              <a:t>→</a:t>
            </a:r>
            <a:endParaRPr lang="en-US" sz="4800" dirty="0"/>
          </a:p>
        </p:txBody>
      </p:sp>
      <p:sp>
        <p:nvSpPr>
          <p:cNvPr id="47" name="Text 45"/>
          <p:cNvSpPr/>
          <p:nvPr/>
        </p:nvSpPr>
        <p:spPr>
          <a:xfrm>
            <a:off x="5212080" y="4572000"/>
            <a:ext cx="1737360" cy="274320"/>
          </a:xfrm>
          <a:prstGeom prst="rect">
            <a:avLst/>
          </a:prstGeom>
          <a:noFill/>
          <a:ln/>
        </p:spPr>
        <p:txBody>
          <a:bodyPr wrap="square" lIns="0" tIns="0" rIns="0" bIns="0" rtlCol="0" anchor="ctr"/>
          <a:lstStyle/>
          <a:p>
            <a:pPr algn="ctr" indent="0" marL="0">
              <a:buNone/>
            </a:pPr>
            <a:r>
              <a:rPr lang="en-US" sz="1000" b="1" dirty="0">
                <a:solidFill>
                  <a:srgbClr val="6366F1"/>
                </a:solidFill>
              </a:rPr>
              <a:t>✧ AI Suggestions</a:t>
            </a:r>
            <a:endParaRPr lang="en-US" sz="1000" dirty="0"/>
          </a:p>
        </p:txBody>
      </p:sp>
      <p:sp>
        <p:nvSpPr>
          <p:cNvPr id="48" name="Text 46"/>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49" name="Text 47"/>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11 / 28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9 — AI validation (under 10 seconds)</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When you click Save, your submission is triaged against four rules before it leaves the page.</a:t>
            </a:r>
            <a:endParaRPr lang="en-US" sz="1400" dirty="0"/>
          </a:p>
        </p:txBody>
      </p:sp>
      <p:sp>
        <p:nvSpPr>
          <p:cNvPr id="4" name="Shape 2"/>
          <p:cNvSpPr/>
          <p:nvPr/>
        </p:nvSpPr>
        <p:spPr>
          <a:xfrm>
            <a:off x="502920" y="1783080"/>
            <a:ext cx="5532120" cy="1920240"/>
          </a:xfrm>
          <a:prstGeom prst="roundRect">
            <a:avLst>
              <a:gd name="adj" fmla="val 3810"/>
            </a:avLst>
          </a:prstGeom>
          <a:solidFill>
            <a:srgbClr val="1A2244"/>
          </a:solidFill>
          <a:ln w="12700">
            <a:solidFill>
              <a:srgbClr val="2A3560"/>
            </a:solidFill>
            <a:prstDash val="solid"/>
          </a:ln>
        </p:spPr>
      </p:sp>
      <p:sp>
        <p:nvSpPr>
          <p:cNvPr id="5" name="Shape 3"/>
          <p:cNvSpPr/>
          <p:nvPr/>
        </p:nvSpPr>
        <p:spPr>
          <a:xfrm>
            <a:off x="502920" y="1783080"/>
            <a:ext cx="73152" cy="1920240"/>
          </a:xfrm>
          <a:prstGeom prst="rect">
            <a:avLst/>
          </a:prstGeom>
          <a:solidFill>
            <a:srgbClr val="6366F1"/>
          </a:solidFill>
          <a:ln w="12700">
            <a:solidFill>
              <a:srgbClr val="6366F1"/>
            </a:solidFill>
            <a:prstDash val="solid"/>
          </a:ln>
        </p:spPr>
      </p:sp>
      <p:sp>
        <p:nvSpPr>
          <p:cNvPr id="6" name="Text 4"/>
          <p:cNvSpPr/>
          <p:nvPr/>
        </p:nvSpPr>
        <p:spPr>
          <a:xfrm>
            <a:off x="731520" y="1965960"/>
            <a:ext cx="548640" cy="548640"/>
          </a:xfrm>
          <a:prstGeom prst="rect">
            <a:avLst/>
          </a:prstGeom>
          <a:noFill/>
          <a:ln/>
        </p:spPr>
        <p:txBody>
          <a:bodyPr wrap="square" lIns="0" tIns="0" rIns="0" bIns="0" rtlCol="0" anchor="ctr"/>
          <a:lstStyle/>
          <a:p>
            <a:pPr indent="0" marL="0">
              <a:buNone/>
            </a:pPr>
            <a:r>
              <a:rPr lang="en-US" sz="3600" b="1" dirty="0">
                <a:solidFill>
                  <a:srgbClr val="6366F1"/>
                </a:solidFill>
                <a:latin typeface="Calibri" pitchFamily="34" charset="0"/>
                <a:ea typeface="Calibri" pitchFamily="34" charset="-122"/>
                <a:cs typeface="Calibri" pitchFamily="34" charset="-120"/>
              </a:rPr>
              <a:t>①</a:t>
            </a:r>
            <a:endParaRPr lang="en-US" sz="3600" dirty="0"/>
          </a:p>
        </p:txBody>
      </p:sp>
      <p:sp>
        <p:nvSpPr>
          <p:cNvPr id="7" name="Text 5"/>
          <p:cNvSpPr/>
          <p:nvPr/>
        </p:nvSpPr>
        <p:spPr>
          <a:xfrm>
            <a:off x="1417320" y="2057400"/>
            <a:ext cx="452628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 2 hours saved</a:t>
            </a:r>
            <a:endParaRPr lang="en-US" sz="1700" dirty="0"/>
          </a:p>
        </p:txBody>
      </p:sp>
      <p:sp>
        <p:nvSpPr>
          <p:cNvPr id="8" name="Text 6"/>
          <p:cNvSpPr/>
          <p:nvPr/>
        </p:nvSpPr>
        <p:spPr>
          <a:xfrm>
            <a:off x="1417320" y="2514600"/>
            <a:ext cx="4526280" cy="109728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Minimum bar. (Without − With) must be ≥ 2.0 hrs.</a:t>
            </a:r>
            <a:endParaRPr lang="en-US" sz="1100" dirty="0"/>
          </a:p>
        </p:txBody>
      </p:sp>
      <p:sp>
        <p:nvSpPr>
          <p:cNvPr id="9" name="Shape 7"/>
          <p:cNvSpPr/>
          <p:nvPr/>
        </p:nvSpPr>
        <p:spPr>
          <a:xfrm>
            <a:off x="6263640" y="1783080"/>
            <a:ext cx="5532120" cy="1920240"/>
          </a:xfrm>
          <a:prstGeom prst="roundRect">
            <a:avLst>
              <a:gd name="adj" fmla="val 3810"/>
            </a:avLst>
          </a:prstGeom>
          <a:solidFill>
            <a:srgbClr val="1A2244"/>
          </a:solidFill>
          <a:ln w="12700">
            <a:solidFill>
              <a:srgbClr val="2A3560"/>
            </a:solidFill>
            <a:prstDash val="solid"/>
          </a:ln>
        </p:spPr>
      </p:sp>
      <p:sp>
        <p:nvSpPr>
          <p:cNvPr id="10" name="Shape 8"/>
          <p:cNvSpPr/>
          <p:nvPr/>
        </p:nvSpPr>
        <p:spPr>
          <a:xfrm>
            <a:off x="6263640" y="1783080"/>
            <a:ext cx="73152" cy="1920240"/>
          </a:xfrm>
          <a:prstGeom prst="rect">
            <a:avLst/>
          </a:prstGeom>
          <a:solidFill>
            <a:srgbClr val="3B82F6"/>
          </a:solidFill>
          <a:ln w="12700">
            <a:solidFill>
              <a:srgbClr val="3B82F6"/>
            </a:solidFill>
            <a:prstDash val="solid"/>
          </a:ln>
        </p:spPr>
      </p:sp>
      <p:sp>
        <p:nvSpPr>
          <p:cNvPr id="11" name="Text 9"/>
          <p:cNvSpPr/>
          <p:nvPr/>
        </p:nvSpPr>
        <p:spPr>
          <a:xfrm>
            <a:off x="6492240" y="1965960"/>
            <a:ext cx="548640" cy="548640"/>
          </a:xfrm>
          <a:prstGeom prst="rect">
            <a:avLst/>
          </a:prstGeom>
          <a:noFill/>
          <a:ln/>
        </p:spPr>
        <p:txBody>
          <a:bodyPr wrap="square" lIns="0" tIns="0" rIns="0" bIns="0" rtlCol="0" anchor="ctr"/>
          <a:lstStyle/>
          <a:p>
            <a:pPr indent="0" marL="0">
              <a:buNone/>
            </a:pPr>
            <a:r>
              <a:rPr lang="en-US" sz="3600" b="1" dirty="0">
                <a:solidFill>
                  <a:srgbClr val="3B82F6"/>
                </a:solidFill>
                <a:latin typeface="Calibri" pitchFamily="34" charset="0"/>
                <a:ea typeface="Calibri" pitchFamily="34" charset="-122"/>
                <a:cs typeface="Calibri" pitchFamily="34" charset="-120"/>
              </a:rPr>
              <a:t>②</a:t>
            </a:r>
            <a:endParaRPr lang="en-US" sz="3600" dirty="0"/>
          </a:p>
        </p:txBody>
      </p:sp>
      <p:sp>
        <p:nvSpPr>
          <p:cNvPr id="12" name="Text 10"/>
          <p:cNvSpPr/>
          <p:nvPr/>
        </p:nvSpPr>
        <p:spPr>
          <a:xfrm>
            <a:off x="7178040" y="2057400"/>
            <a:ext cx="452628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Specific AI tool</a:t>
            </a:r>
            <a:endParaRPr lang="en-US" sz="1700" dirty="0"/>
          </a:p>
        </p:txBody>
      </p:sp>
      <p:sp>
        <p:nvSpPr>
          <p:cNvPr id="13" name="Text 11"/>
          <p:cNvSpPr/>
          <p:nvPr/>
        </p:nvSpPr>
        <p:spPr>
          <a:xfrm>
            <a:off x="7178040" y="2514600"/>
            <a:ext cx="4526280" cy="109728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Must name a real tool — Copilot, Cursor, Codex, Claude, ChatGPT, Gemini, M365.</a:t>
            </a:r>
            <a:endParaRPr lang="en-US" sz="1100" dirty="0"/>
          </a:p>
        </p:txBody>
      </p:sp>
      <p:sp>
        <p:nvSpPr>
          <p:cNvPr id="14" name="Shape 12"/>
          <p:cNvSpPr/>
          <p:nvPr/>
        </p:nvSpPr>
        <p:spPr>
          <a:xfrm>
            <a:off x="502920" y="3977640"/>
            <a:ext cx="5532120" cy="1920240"/>
          </a:xfrm>
          <a:prstGeom prst="roundRect">
            <a:avLst>
              <a:gd name="adj" fmla="val 3810"/>
            </a:avLst>
          </a:prstGeom>
          <a:solidFill>
            <a:srgbClr val="1A2244"/>
          </a:solidFill>
          <a:ln w="12700">
            <a:solidFill>
              <a:srgbClr val="2A3560"/>
            </a:solidFill>
            <a:prstDash val="solid"/>
          </a:ln>
        </p:spPr>
      </p:sp>
      <p:sp>
        <p:nvSpPr>
          <p:cNvPr id="15" name="Shape 13"/>
          <p:cNvSpPr/>
          <p:nvPr/>
        </p:nvSpPr>
        <p:spPr>
          <a:xfrm>
            <a:off x="502920" y="3977640"/>
            <a:ext cx="73152" cy="1920240"/>
          </a:xfrm>
          <a:prstGeom prst="rect">
            <a:avLst/>
          </a:prstGeom>
          <a:solidFill>
            <a:srgbClr val="14B8A6"/>
          </a:solidFill>
          <a:ln w="12700">
            <a:solidFill>
              <a:srgbClr val="14B8A6"/>
            </a:solidFill>
            <a:prstDash val="solid"/>
          </a:ln>
        </p:spPr>
      </p:sp>
      <p:sp>
        <p:nvSpPr>
          <p:cNvPr id="16" name="Text 14"/>
          <p:cNvSpPr/>
          <p:nvPr/>
        </p:nvSpPr>
        <p:spPr>
          <a:xfrm>
            <a:off x="731520" y="4160520"/>
            <a:ext cx="548640" cy="548640"/>
          </a:xfrm>
          <a:prstGeom prst="rect">
            <a:avLst/>
          </a:prstGeom>
          <a:noFill/>
          <a:ln/>
        </p:spPr>
        <p:txBody>
          <a:bodyPr wrap="square" lIns="0" tIns="0" rIns="0" bIns="0" rtlCol="0" anchor="ctr"/>
          <a:lstStyle/>
          <a:p>
            <a:pPr indent="0" marL="0">
              <a:buNone/>
            </a:pPr>
            <a:r>
              <a:rPr lang="en-US" sz="3600" b="1" dirty="0">
                <a:solidFill>
                  <a:srgbClr val="14B8A6"/>
                </a:solidFill>
                <a:latin typeface="Calibri" pitchFamily="34" charset="0"/>
                <a:ea typeface="Calibri" pitchFamily="34" charset="-122"/>
                <a:cs typeface="Calibri" pitchFamily="34" charset="-120"/>
              </a:rPr>
              <a:t>③</a:t>
            </a:r>
            <a:endParaRPr lang="en-US" sz="3600" dirty="0"/>
          </a:p>
        </p:txBody>
      </p:sp>
      <p:sp>
        <p:nvSpPr>
          <p:cNvPr id="17" name="Text 15"/>
          <p:cNvSpPr/>
          <p:nvPr/>
        </p:nvSpPr>
        <p:spPr>
          <a:xfrm>
            <a:off x="1417320" y="4251960"/>
            <a:ext cx="452628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Quantified outcome</a:t>
            </a:r>
            <a:endParaRPr lang="en-US" sz="1700" dirty="0"/>
          </a:p>
        </p:txBody>
      </p:sp>
      <p:sp>
        <p:nvSpPr>
          <p:cNvPr id="18" name="Text 16"/>
          <p:cNvSpPr/>
          <p:nvPr/>
        </p:nvSpPr>
        <p:spPr>
          <a:xfrm>
            <a:off x="1417320" y="4709160"/>
            <a:ext cx="4526280" cy="109728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'Why' must mention percentages, counts, time, or concrete deliverables.</a:t>
            </a:r>
            <a:endParaRPr lang="en-US" sz="1100" dirty="0"/>
          </a:p>
        </p:txBody>
      </p:sp>
      <p:sp>
        <p:nvSpPr>
          <p:cNvPr id="19" name="Shape 17"/>
          <p:cNvSpPr/>
          <p:nvPr/>
        </p:nvSpPr>
        <p:spPr>
          <a:xfrm>
            <a:off x="6263640" y="3977640"/>
            <a:ext cx="5532120" cy="1920240"/>
          </a:xfrm>
          <a:prstGeom prst="roundRect">
            <a:avLst>
              <a:gd name="adj" fmla="val 3810"/>
            </a:avLst>
          </a:prstGeom>
          <a:solidFill>
            <a:srgbClr val="1A2244"/>
          </a:solidFill>
          <a:ln w="12700">
            <a:solidFill>
              <a:srgbClr val="2A3560"/>
            </a:solidFill>
            <a:prstDash val="solid"/>
          </a:ln>
        </p:spPr>
      </p:sp>
      <p:sp>
        <p:nvSpPr>
          <p:cNvPr id="20" name="Shape 18"/>
          <p:cNvSpPr/>
          <p:nvPr/>
        </p:nvSpPr>
        <p:spPr>
          <a:xfrm>
            <a:off x="6263640" y="3977640"/>
            <a:ext cx="73152" cy="1920240"/>
          </a:xfrm>
          <a:prstGeom prst="rect">
            <a:avLst/>
          </a:prstGeom>
          <a:solidFill>
            <a:srgbClr val="818CF8"/>
          </a:solidFill>
          <a:ln w="12700">
            <a:solidFill>
              <a:srgbClr val="818CF8"/>
            </a:solidFill>
            <a:prstDash val="solid"/>
          </a:ln>
        </p:spPr>
      </p:sp>
      <p:sp>
        <p:nvSpPr>
          <p:cNvPr id="21" name="Text 19"/>
          <p:cNvSpPr/>
          <p:nvPr/>
        </p:nvSpPr>
        <p:spPr>
          <a:xfrm>
            <a:off x="6492240" y="4160520"/>
            <a:ext cx="548640" cy="548640"/>
          </a:xfrm>
          <a:prstGeom prst="rect">
            <a:avLst/>
          </a:prstGeom>
          <a:noFill/>
          <a:ln/>
        </p:spPr>
        <p:txBody>
          <a:bodyPr wrap="square" lIns="0" tIns="0" rIns="0" bIns="0" rtlCol="0" anchor="ctr"/>
          <a:lstStyle/>
          <a:p>
            <a:pPr indent="0" marL="0">
              <a:buNone/>
            </a:pPr>
            <a:r>
              <a:rPr lang="en-US" sz="3600" b="1" dirty="0">
                <a:solidFill>
                  <a:srgbClr val="818CF8"/>
                </a:solidFill>
                <a:latin typeface="Calibri" pitchFamily="34" charset="0"/>
                <a:ea typeface="Calibri" pitchFamily="34" charset="-122"/>
                <a:cs typeface="Calibri" pitchFamily="34" charset="-120"/>
              </a:rPr>
              <a:t>④</a:t>
            </a:r>
            <a:endParaRPr lang="en-US" sz="3600" dirty="0"/>
          </a:p>
        </p:txBody>
      </p:sp>
      <p:sp>
        <p:nvSpPr>
          <p:cNvPr id="22" name="Text 20"/>
          <p:cNvSpPr/>
          <p:nvPr/>
        </p:nvSpPr>
        <p:spPr>
          <a:xfrm>
            <a:off x="7178040" y="4251960"/>
            <a:ext cx="452628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Clear professional tone</a:t>
            </a:r>
            <a:endParaRPr lang="en-US" sz="1700" dirty="0"/>
          </a:p>
        </p:txBody>
      </p:sp>
      <p:sp>
        <p:nvSpPr>
          <p:cNvPr id="23" name="Text 21"/>
          <p:cNvSpPr/>
          <p:nvPr/>
        </p:nvSpPr>
        <p:spPr>
          <a:xfrm>
            <a:off x="7178040" y="4709160"/>
            <a:ext cx="4526280" cy="109728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No vague claims like 'helped a lot' or 'was useful'.</a:t>
            </a:r>
            <a:endParaRPr lang="en-US" sz="1100" dirty="0"/>
          </a:p>
        </p:txBody>
      </p:sp>
      <p:sp>
        <p:nvSpPr>
          <p:cNvPr id="24" name="Shape 22"/>
          <p:cNvSpPr/>
          <p:nvPr/>
        </p:nvSpPr>
        <p:spPr>
          <a:xfrm>
            <a:off x="502920" y="5852160"/>
            <a:ext cx="11201400" cy="640080"/>
          </a:xfrm>
          <a:prstGeom prst="roundRect">
            <a:avLst>
              <a:gd name="adj" fmla="val 11429"/>
            </a:avLst>
          </a:prstGeom>
          <a:solidFill>
            <a:srgbClr val="141B36"/>
          </a:solidFill>
          <a:ln w="12700">
            <a:solidFill>
              <a:srgbClr val="2A3560"/>
            </a:solidFill>
            <a:prstDash val="solid"/>
          </a:ln>
        </p:spPr>
      </p:sp>
      <p:sp>
        <p:nvSpPr>
          <p:cNvPr id="25" name="Text 23"/>
          <p:cNvSpPr/>
          <p:nvPr/>
        </p:nvSpPr>
        <p:spPr>
          <a:xfrm>
            <a:off x="640080" y="5897880"/>
            <a:ext cx="10972800" cy="548640"/>
          </a:xfrm>
          <a:prstGeom prst="rect">
            <a:avLst/>
          </a:prstGeom>
          <a:noFill/>
          <a:ln/>
        </p:spPr>
        <p:txBody>
          <a:bodyPr wrap="square" lIns="0" tIns="0" rIns="0" bIns="0" rtlCol="0" anchor="ctr"/>
          <a:lstStyle/>
          <a:p>
            <a:pPr indent="0" marL="0">
              <a:buNone/>
            </a:pPr>
            <a:r>
              <a:rPr lang="en-US" sz="1200" i="1" dirty="0">
                <a:solidFill>
                  <a:srgbClr val="F59E0B"/>
                </a:solidFill>
                <a:latin typeface="Calibri" pitchFamily="34" charset="0"/>
                <a:ea typeface="Calibri" pitchFamily="34" charset="-122"/>
                <a:cs typeface="Calibri" pitchFamily="34" charset="-120"/>
              </a:rPr>
              <a:t>Pass all four → routes to the right approver. Fails any → bounced to your SPOC for manual review.</a:t>
            </a:r>
            <a:endParaRPr lang="en-US" sz="1200" dirty="0"/>
          </a:p>
        </p:txBody>
      </p:sp>
      <p:sp>
        <p:nvSpPr>
          <p:cNvPr id="26" name="Text 2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27" name="Text 25"/>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12 / 28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10 — Approval routing (SPOC vs Admin)</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The ≥15 hours rule decides which layer reviews your submission.</a:t>
            </a:r>
            <a:endParaRPr lang="en-US" sz="1400" dirty="0"/>
          </a:p>
        </p:txBody>
      </p:sp>
      <p:sp>
        <p:nvSpPr>
          <p:cNvPr id="4" name="Shape 2"/>
          <p:cNvSpPr/>
          <p:nvPr/>
        </p:nvSpPr>
        <p:spPr>
          <a:xfrm>
            <a:off x="548640" y="2834640"/>
            <a:ext cx="2103120" cy="1188720"/>
          </a:xfrm>
          <a:prstGeom prst="roundRect">
            <a:avLst>
              <a:gd name="adj" fmla="val 6154"/>
            </a:avLst>
          </a:prstGeom>
          <a:solidFill>
            <a:srgbClr val="1A2244"/>
          </a:solidFill>
          <a:ln w="12700">
            <a:solidFill>
              <a:srgbClr val="2A3560"/>
            </a:solidFill>
            <a:prstDash val="solid"/>
          </a:ln>
        </p:spPr>
      </p:sp>
      <p:sp>
        <p:nvSpPr>
          <p:cNvPr id="5" name="Shape 3"/>
          <p:cNvSpPr/>
          <p:nvPr/>
        </p:nvSpPr>
        <p:spPr>
          <a:xfrm>
            <a:off x="548640" y="2834640"/>
            <a:ext cx="73152" cy="1188720"/>
          </a:xfrm>
          <a:prstGeom prst="rect">
            <a:avLst/>
          </a:prstGeom>
          <a:solidFill>
            <a:srgbClr val="3B82F6"/>
          </a:solidFill>
          <a:ln w="12700">
            <a:solidFill>
              <a:srgbClr val="3B82F6"/>
            </a:solidFill>
            <a:prstDash val="solid"/>
          </a:ln>
        </p:spPr>
      </p:sp>
      <p:sp>
        <p:nvSpPr>
          <p:cNvPr id="6" name="Text 4"/>
          <p:cNvSpPr/>
          <p:nvPr/>
        </p:nvSpPr>
        <p:spPr>
          <a:xfrm>
            <a:off x="731520" y="3017520"/>
            <a:ext cx="18288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Contributor</a:t>
            </a:r>
            <a:endParaRPr lang="en-US" sz="1400" dirty="0"/>
          </a:p>
        </p:txBody>
      </p:sp>
      <p:sp>
        <p:nvSpPr>
          <p:cNvPr id="7" name="Text 5"/>
          <p:cNvSpPr/>
          <p:nvPr/>
        </p:nvSpPr>
        <p:spPr>
          <a:xfrm>
            <a:off x="731520" y="3401568"/>
            <a:ext cx="1828800" cy="5486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Logs task + clicks Save</a:t>
            </a:r>
            <a:endParaRPr lang="en-US" sz="900" dirty="0"/>
          </a:p>
        </p:txBody>
      </p:sp>
      <p:sp>
        <p:nvSpPr>
          <p:cNvPr id="8" name="Shape 6"/>
          <p:cNvSpPr/>
          <p:nvPr/>
        </p:nvSpPr>
        <p:spPr>
          <a:xfrm>
            <a:off x="3108960" y="2834640"/>
            <a:ext cx="2103120" cy="1188720"/>
          </a:xfrm>
          <a:prstGeom prst="roundRect">
            <a:avLst>
              <a:gd name="adj" fmla="val 6154"/>
            </a:avLst>
          </a:prstGeom>
          <a:solidFill>
            <a:srgbClr val="1A2244"/>
          </a:solidFill>
          <a:ln w="12700">
            <a:solidFill>
              <a:srgbClr val="2A3560"/>
            </a:solidFill>
            <a:prstDash val="solid"/>
          </a:ln>
        </p:spPr>
      </p:sp>
      <p:sp>
        <p:nvSpPr>
          <p:cNvPr id="9" name="Shape 7"/>
          <p:cNvSpPr/>
          <p:nvPr/>
        </p:nvSpPr>
        <p:spPr>
          <a:xfrm>
            <a:off x="3108960" y="2834640"/>
            <a:ext cx="73152" cy="1188720"/>
          </a:xfrm>
          <a:prstGeom prst="rect">
            <a:avLst/>
          </a:prstGeom>
          <a:solidFill>
            <a:srgbClr val="6366F1"/>
          </a:solidFill>
          <a:ln w="12700">
            <a:solidFill>
              <a:srgbClr val="6366F1"/>
            </a:solidFill>
            <a:prstDash val="solid"/>
          </a:ln>
        </p:spPr>
      </p:sp>
      <p:sp>
        <p:nvSpPr>
          <p:cNvPr id="10" name="Text 8"/>
          <p:cNvSpPr/>
          <p:nvPr/>
        </p:nvSpPr>
        <p:spPr>
          <a:xfrm>
            <a:off x="3291840" y="3017520"/>
            <a:ext cx="18288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AI Validation</a:t>
            </a:r>
            <a:endParaRPr lang="en-US" sz="1400" dirty="0"/>
          </a:p>
        </p:txBody>
      </p:sp>
      <p:sp>
        <p:nvSpPr>
          <p:cNvPr id="11" name="Text 9"/>
          <p:cNvSpPr/>
          <p:nvPr/>
        </p:nvSpPr>
        <p:spPr>
          <a:xfrm>
            <a:off x="3291840" y="3401568"/>
            <a:ext cx="1828800" cy="5486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4 checks in &lt;10s</a:t>
            </a:r>
            <a:endParaRPr lang="en-US" sz="900" dirty="0"/>
          </a:p>
        </p:txBody>
      </p:sp>
      <p:sp>
        <p:nvSpPr>
          <p:cNvPr id="12" name="Shape 10"/>
          <p:cNvSpPr/>
          <p:nvPr/>
        </p:nvSpPr>
        <p:spPr>
          <a:xfrm>
            <a:off x="5669280" y="2834640"/>
            <a:ext cx="2103120" cy="1188720"/>
          </a:xfrm>
          <a:prstGeom prst="roundRect">
            <a:avLst>
              <a:gd name="adj" fmla="val 6154"/>
            </a:avLst>
          </a:prstGeom>
          <a:solidFill>
            <a:srgbClr val="1A2244"/>
          </a:solidFill>
          <a:ln w="12700">
            <a:solidFill>
              <a:srgbClr val="2A3560"/>
            </a:solidFill>
            <a:prstDash val="solid"/>
          </a:ln>
        </p:spPr>
      </p:sp>
      <p:sp>
        <p:nvSpPr>
          <p:cNvPr id="13" name="Shape 11"/>
          <p:cNvSpPr/>
          <p:nvPr/>
        </p:nvSpPr>
        <p:spPr>
          <a:xfrm>
            <a:off x="5669280" y="2834640"/>
            <a:ext cx="73152" cy="1188720"/>
          </a:xfrm>
          <a:prstGeom prst="rect">
            <a:avLst/>
          </a:prstGeom>
          <a:solidFill>
            <a:srgbClr val="F59E0B"/>
          </a:solidFill>
          <a:ln w="12700">
            <a:solidFill>
              <a:srgbClr val="F59E0B"/>
            </a:solidFill>
            <a:prstDash val="solid"/>
          </a:ln>
        </p:spPr>
      </p:sp>
      <p:sp>
        <p:nvSpPr>
          <p:cNvPr id="14" name="Text 12"/>
          <p:cNvSpPr/>
          <p:nvPr/>
        </p:nvSpPr>
        <p:spPr>
          <a:xfrm>
            <a:off x="5852160" y="3017520"/>
            <a:ext cx="18288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Routing rule</a:t>
            </a:r>
            <a:endParaRPr lang="en-US" sz="1400" dirty="0"/>
          </a:p>
        </p:txBody>
      </p:sp>
      <p:sp>
        <p:nvSpPr>
          <p:cNvPr id="15" name="Text 13"/>
          <p:cNvSpPr/>
          <p:nvPr/>
        </p:nvSpPr>
        <p:spPr>
          <a:xfrm>
            <a:off x="5852160" y="3401568"/>
            <a:ext cx="1828800" cy="5486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≥15h saved? Passed?</a:t>
            </a:r>
            <a:endParaRPr lang="en-US" sz="900" dirty="0"/>
          </a:p>
        </p:txBody>
      </p:sp>
      <p:sp>
        <p:nvSpPr>
          <p:cNvPr id="16" name="Shape 14"/>
          <p:cNvSpPr/>
          <p:nvPr/>
        </p:nvSpPr>
        <p:spPr>
          <a:xfrm>
            <a:off x="2651760" y="3429000"/>
            <a:ext cx="457200" cy="0"/>
          </a:xfrm>
          <a:prstGeom prst="line">
            <a:avLst/>
          </a:prstGeom>
          <a:noFill/>
          <a:ln w="31750">
            <a:solidFill>
              <a:srgbClr val="6366F1"/>
            </a:solidFill>
            <a:prstDash val="solid"/>
            <a:tailEnd type="triangle"/>
          </a:ln>
        </p:spPr>
      </p:sp>
      <p:sp>
        <p:nvSpPr>
          <p:cNvPr id="17" name="Shape 15"/>
          <p:cNvSpPr/>
          <p:nvPr/>
        </p:nvSpPr>
        <p:spPr>
          <a:xfrm>
            <a:off x="5212080" y="3429000"/>
            <a:ext cx="457200" cy="0"/>
          </a:xfrm>
          <a:prstGeom prst="line">
            <a:avLst/>
          </a:prstGeom>
          <a:noFill/>
          <a:ln w="31750">
            <a:solidFill>
              <a:srgbClr val="6366F1"/>
            </a:solidFill>
            <a:prstDash val="solid"/>
            <a:tailEnd type="triangle"/>
          </a:ln>
        </p:spPr>
      </p:sp>
      <p:sp>
        <p:nvSpPr>
          <p:cNvPr id="18" name="Shape 16"/>
          <p:cNvSpPr/>
          <p:nvPr/>
        </p:nvSpPr>
        <p:spPr>
          <a:xfrm>
            <a:off x="8412480" y="1783080"/>
            <a:ext cx="3337560" cy="1280160"/>
          </a:xfrm>
          <a:prstGeom prst="roundRect">
            <a:avLst>
              <a:gd name="adj" fmla="val 5714"/>
            </a:avLst>
          </a:prstGeom>
          <a:solidFill>
            <a:srgbClr val="1A2244"/>
          </a:solidFill>
          <a:ln w="12700">
            <a:solidFill>
              <a:srgbClr val="2A3560"/>
            </a:solidFill>
            <a:prstDash val="solid"/>
          </a:ln>
        </p:spPr>
      </p:sp>
      <p:sp>
        <p:nvSpPr>
          <p:cNvPr id="19" name="Shape 17"/>
          <p:cNvSpPr/>
          <p:nvPr/>
        </p:nvSpPr>
        <p:spPr>
          <a:xfrm>
            <a:off x="8412480" y="1783080"/>
            <a:ext cx="73152" cy="1280160"/>
          </a:xfrm>
          <a:prstGeom prst="rect">
            <a:avLst/>
          </a:prstGeom>
          <a:solidFill>
            <a:srgbClr val="10B981"/>
          </a:solidFill>
          <a:ln w="12700">
            <a:solidFill>
              <a:srgbClr val="10B981"/>
            </a:solidFill>
            <a:prstDash val="solid"/>
          </a:ln>
        </p:spPr>
      </p:sp>
      <p:sp>
        <p:nvSpPr>
          <p:cNvPr id="20" name="Text 18"/>
          <p:cNvSpPr/>
          <p:nvPr/>
        </p:nvSpPr>
        <p:spPr>
          <a:xfrm>
            <a:off x="8595360" y="1920240"/>
            <a:ext cx="310896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Admin review</a:t>
            </a:r>
            <a:endParaRPr lang="en-US" sz="1400" dirty="0"/>
          </a:p>
        </p:txBody>
      </p:sp>
      <p:sp>
        <p:nvSpPr>
          <p:cNvPr id="21" name="Text 19"/>
          <p:cNvSpPr/>
          <p:nvPr/>
        </p:nvSpPr>
        <p:spPr>
          <a:xfrm>
            <a:off x="8595360" y="2240280"/>
            <a:ext cx="3108960" cy="6400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Saved hours ≥ 15  ·  Omar Ibrahim  ·  2–3 days</a:t>
            </a:r>
            <a:endParaRPr lang="en-US" sz="900" dirty="0"/>
          </a:p>
        </p:txBody>
      </p:sp>
      <p:sp>
        <p:nvSpPr>
          <p:cNvPr id="22" name="Shape 20"/>
          <p:cNvSpPr/>
          <p:nvPr/>
        </p:nvSpPr>
        <p:spPr>
          <a:xfrm>
            <a:off x="8595360" y="2697480"/>
            <a:ext cx="1188720" cy="274320"/>
          </a:xfrm>
          <a:prstGeom prst="roundRect">
            <a:avLst>
              <a:gd name="adj" fmla="val 50000"/>
            </a:avLst>
          </a:prstGeom>
          <a:solidFill>
            <a:srgbClr val="10B981"/>
          </a:solidFill>
          <a:ln w="12700">
            <a:solidFill>
              <a:srgbClr val="10B981"/>
            </a:solidFill>
            <a:prstDash val="solid"/>
          </a:ln>
        </p:spPr>
      </p:sp>
      <p:sp>
        <p:nvSpPr>
          <p:cNvPr id="23" name="Text 21"/>
          <p:cNvSpPr/>
          <p:nvPr/>
        </p:nvSpPr>
        <p:spPr>
          <a:xfrm>
            <a:off x="8595360" y="2697480"/>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15h</a:t>
            </a:r>
            <a:endParaRPr lang="en-US" sz="900" dirty="0"/>
          </a:p>
        </p:txBody>
      </p:sp>
      <p:sp>
        <p:nvSpPr>
          <p:cNvPr id="24" name="Shape 22"/>
          <p:cNvSpPr/>
          <p:nvPr/>
        </p:nvSpPr>
        <p:spPr>
          <a:xfrm>
            <a:off x="8412480" y="3520440"/>
            <a:ext cx="3337560" cy="1280160"/>
          </a:xfrm>
          <a:prstGeom prst="roundRect">
            <a:avLst>
              <a:gd name="adj" fmla="val 5714"/>
            </a:avLst>
          </a:prstGeom>
          <a:solidFill>
            <a:srgbClr val="1A2244"/>
          </a:solidFill>
          <a:ln w="12700">
            <a:solidFill>
              <a:srgbClr val="2A3560"/>
            </a:solidFill>
            <a:prstDash val="solid"/>
          </a:ln>
        </p:spPr>
      </p:sp>
      <p:sp>
        <p:nvSpPr>
          <p:cNvPr id="25" name="Shape 23"/>
          <p:cNvSpPr/>
          <p:nvPr/>
        </p:nvSpPr>
        <p:spPr>
          <a:xfrm>
            <a:off x="8412480" y="3520440"/>
            <a:ext cx="73152" cy="1280160"/>
          </a:xfrm>
          <a:prstGeom prst="rect">
            <a:avLst/>
          </a:prstGeom>
          <a:solidFill>
            <a:srgbClr val="6366F1"/>
          </a:solidFill>
          <a:ln w="12700">
            <a:solidFill>
              <a:srgbClr val="6366F1"/>
            </a:solidFill>
            <a:prstDash val="solid"/>
          </a:ln>
        </p:spPr>
      </p:sp>
      <p:sp>
        <p:nvSpPr>
          <p:cNvPr id="26" name="Text 24"/>
          <p:cNvSpPr/>
          <p:nvPr/>
        </p:nvSpPr>
        <p:spPr>
          <a:xfrm>
            <a:off x="8595360" y="3657600"/>
            <a:ext cx="310896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SPOC review</a:t>
            </a:r>
            <a:endParaRPr lang="en-US" sz="1400" dirty="0"/>
          </a:p>
        </p:txBody>
      </p:sp>
      <p:sp>
        <p:nvSpPr>
          <p:cNvPr id="27" name="Text 25"/>
          <p:cNvSpPr/>
          <p:nvPr/>
        </p:nvSpPr>
        <p:spPr>
          <a:xfrm>
            <a:off x="8595360" y="3977640"/>
            <a:ext cx="3108960" cy="6400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Saved hours &lt; 15 + passed  ·  Your practice SPOC  ·  1–2 days</a:t>
            </a:r>
            <a:endParaRPr lang="en-US" sz="900" dirty="0"/>
          </a:p>
        </p:txBody>
      </p:sp>
      <p:sp>
        <p:nvSpPr>
          <p:cNvPr id="28" name="Shape 26"/>
          <p:cNvSpPr/>
          <p:nvPr/>
        </p:nvSpPr>
        <p:spPr>
          <a:xfrm>
            <a:off x="8595360" y="4434840"/>
            <a:ext cx="1188720" cy="274320"/>
          </a:xfrm>
          <a:prstGeom prst="roundRect">
            <a:avLst>
              <a:gd name="adj" fmla="val 50000"/>
            </a:avLst>
          </a:prstGeom>
          <a:solidFill>
            <a:srgbClr val="6366F1"/>
          </a:solidFill>
          <a:ln w="12700">
            <a:solidFill>
              <a:srgbClr val="6366F1"/>
            </a:solidFill>
            <a:prstDash val="solid"/>
          </a:ln>
        </p:spPr>
      </p:sp>
      <p:sp>
        <p:nvSpPr>
          <p:cNvPr id="29" name="Text 27"/>
          <p:cNvSpPr/>
          <p:nvPr/>
        </p:nvSpPr>
        <p:spPr>
          <a:xfrm>
            <a:off x="8595360" y="4434840"/>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&lt; 15h + pass</a:t>
            </a:r>
            <a:endParaRPr lang="en-US" sz="900" dirty="0"/>
          </a:p>
        </p:txBody>
      </p:sp>
      <p:sp>
        <p:nvSpPr>
          <p:cNvPr id="30" name="Shape 28"/>
          <p:cNvSpPr/>
          <p:nvPr/>
        </p:nvSpPr>
        <p:spPr>
          <a:xfrm>
            <a:off x="8412480" y="5257800"/>
            <a:ext cx="3337560" cy="1280160"/>
          </a:xfrm>
          <a:prstGeom prst="roundRect">
            <a:avLst>
              <a:gd name="adj" fmla="val 5714"/>
            </a:avLst>
          </a:prstGeom>
          <a:solidFill>
            <a:srgbClr val="1A2244"/>
          </a:solidFill>
          <a:ln w="12700">
            <a:solidFill>
              <a:srgbClr val="2A3560"/>
            </a:solidFill>
            <a:prstDash val="solid"/>
          </a:ln>
        </p:spPr>
      </p:sp>
      <p:sp>
        <p:nvSpPr>
          <p:cNvPr id="31" name="Shape 29"/>
          <p:cNvSpPr/>
          <p:nvPr/>
        </p:nvSpPr>
        <p:spPr>
          <a:xfrm>
            <a:off x="8412480" y="5257800"/>
            <a:ext cx="73152" cy="1280160"/>
          </a:xfrm>
          <a:prstGeom prst="rect">
            <a:avLst/>
          </a:prstGeom>
          <a:solidFill>
            <a:srgbClr val="EC4899"/>
          </a:solidFill>
          <a:ln w="12700">
            <a:solidFill>
              <a:srgbClr val="EC4899"/>
            </a:solidFill>
            <a:prstDash val="solid"/>
          </a:ln>
        </p:spPr>
      </p:sp>
      <p:sp>
        <p:nvSpPr>
          <p:cNvPr id="32" name="Text 30"/>
          <p:cNvSpPr/>
          <p:nvPr/>
        </p:nvSpPr>
        <p:spPr>
          <a:xfrm>
            <a:off x="8595360" y="5394960"/>
            <a:ext cx="310896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SPOC manual review</a:t>
            </a:r>
            <a:endParaRPr lang="en-US" sz="1400" dirty="0"/>
          </a:p>
        </p:txBody>
      </p:sp>
      <p:sp>
        <p:nvSpPr>
          <p:cNvPr id="33" name="Text 31"/>
          <p:cNvSpPr/>
          <p:nvPr/>
        </p:nvSpPr>
        <p:spPr>
          <a:xfrm>
            <a:off x="8595360" y="5715000"/>
            <a:ext cx="3108960" cy="6400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Validation failed  ·  Your practice SPOC  ·  Re-edits welcome</a:t>
            </a:r>
            <a:endParaRPr lang="en-US" sz="900" dirty="0"/>
          </a:p>
        </p:txBody>
      </p:sp>
      <p:sp>
        <p:nvSpPr>
          <p:cNvPr id="34" name="Shape 32"/>
          <p:cNvSpPr/>
          <p:nvPr/>
        </p:nvSpPr>
        <p:spPr>
          <a:xfrm>
            <a:off x="8595360" y="6172200"/>
            <a:ext cx="1188720" cy="274320"/>
          </a:xfrm>
          <a:prstGeom prst="roundRect">
            <a:avLst>
              <a:gd name="adj" fmla="val 50000"/>
            </a:avLst>
          </a:prstGeom>
          <a:solidFill>
            <a:srgbClr val="EC4899"/>
          </a:solidFill>
          <a:ln w="12700">
            <a:solidFill>
              <a:srgbClr val="EC4899"/>
            </a:solidFill>
            <a:prstDash val="solid"/>
          </a:ln>
        </p:spPr>
      </p:sp>
      <p:sp>
        <p:nvSpPr>
          <p:cNvPr id="35" name="Text 33"/>
          <p:cNvSpPr/>
          <p:nvPr/>
        </p:nvSpPr>
        <p:spPr>
          <a:xfrm>
            <a:off x="8595360" y="6172200"/>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Failed</a:t>
            </a:r>
            <a:endParaRPr lang="en-US" sz="900" dirty="0"/>
          </a:p>
        </p:txBody>
      </p:sp>
      <p:sp>
        <p:nvSpPr>
          <p:cNvPr id="36" name="Shape 34"/>
          <p:cNvSpPr/>
          <p:nvPr/>
        </p:nvSpPr>
        <p:spPr>
          <a:xfrm>
            <a:off x="7772400" y="3429000"/>
            <a:ext cx="640080" cy="-1005840"/>
          </a:xfrm>
          <a:prstGeom prst="line">
            <a:avLst/>
          </a:prstGeom>
          <a:noFill/>
          <a:ln w="19050">
            <a:solidFill>
              <a:srgbClr val="10B981"/>
            </a:solidFill>
            <a:prstDash val="solid"/>
          </a:ln>
        </p:spPr>
      </p:sp>
      <p:sp>
        <p:nvSpPr>
          <p:cNvPr id="37" name="Shape 35"/>
          <p:cNvSpPr/>
          <p:nvPr/>
        </p:nvSpPr>
        <p:spPr>
          <a:xfrm>
            <a:off x="7772400" y="3429000"/>
            <a:ext cx="640080" cy="731520"/>
          </a:xfrm>
          <a:prstGeom prst="line">
            <a:avLst/>
          </a:prstGeom>
          <a:noFill/>
          <a:ln w="19050">
            <a:solidFill>
              <a:srgbClr val="6366F1"/>
            </a:solidFill>
            <a:prstDash val="solid"/>
          </a:ln>
        </p:spPr>
      </p:sp>
      <p:sp>
        <p:nvSpPr>
          <p:cNvPr id="38" name="Shape 36"/>
          <p:cNvSpPr/>
          <p:nvPr/>
        </p:nvSpPr>
        <p:spPr>
          <a:xfrm>
            <a:off x="7772400" y="3429000"/>
            <a:ext cx="640080" cy="2514600"/>
          </a:xfrm>
          <a:prstGeom prst="line">
            <a:avLst/>
          </a:prstGeom>
          <a:noFill/>
          <a:ln w="19050">
            <a:solidFill>
              <a:srgbClr val="EC4899"/>
            </a:solidFill>
            <a:prstDash val="solid"/>
          </a:ln>
        </p:spPr>
      </p:sp>
      <p:sp>
        <p:nvSpPr>
          <p:cNvPr id="39" name="Text 37"/>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40" name="Text 38"/>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13 / 28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11 — Track your submissions</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Sidebar → Task Status. One row per task with the current approval state.</a:t>
            </a:r>
            <a:endParaRPr lang="en-US" sz="1400" dirty="0"/>
          </a:p>
        </p:txBody>
      </p:sp>
      <p:sp>
        <p:nvSpPr>
          <p:cNvPr id="4" name="Shape 2"/>
          <p:cNvSpPr/>
          <p:nvPr/>
        </p:nvSpPr>
        <p:spPr>
          <a:xfrm>
            <a:off x="502920" y="1783080"/>
            <a:ext cx="5623560" cy="4663440"/>
          </a:xfrm>
          <a:prstGeom prst="roundRect">
            <a:avLst>
              <a:gd name="adj" fmla="val 1961"/>
            </a:avLst>
          </a:prstGeom>
          <a:solidFill>
            <a:srgbClr val="0B1223"/>
          </a:solidFill>
          <a:ln w="12700">
            <a:solidFill>
              <a:srgbClr val="CADCFC"/>
            </a:solidFill>
            <a:prstDash val="solid"/>
          </a:ln>
        </p:spPr>
      </p:sp>
      <p:sp>
        <p:nvSpPr>
          <p:cNvPr id="5" name="Shape 3"/>
          <p:cNvSpPr/>
          <p:nvPr/>
        </p:nvSpPr>
        <p:spPr>
          <a:xfrm>
            <a:off x="548640" y="1828800"/>
            <a:ext cx="5532120" cy="274320"/>
          </a:xfrm>
          <a:prstGeom prst="rect">
            <a:avLst/>
          </a:prstGeom>
          <a:solidFill>
            <a:srgbClr val="111833"/>
          </a:solidFill>
          <a:ln w="12700">
            <a:solidFill>
              <a:srgbClr val="111833"/>
            </a:solidFill>
            <a:prstDash val="solid"/>
          </a:ln>
        </p:spPr>
      </p:sp>
      <p:sp>
        <p:nvSpPr>
          <p:cNvPr id="6" name="Shape 4"/>
          <p:cNvSpPr/>
          <p:nvPr/>
        </p:nvSpPr>
        <p:spPr>
          <a:xfrm>
            <a:off x="640080" y="1892808"/>
            <a:ext cx="109728" cy="109728"/>
          </a:xfrm>
          <a:prstGeom prst="ellipse">
            <a:avLst/>
          </a:prstGeom>
          <a:solidFill>
            <a:srgbClr val="EF4444"/>
          </a:solidFill>
          <a:ln w="12700">
            <a:solidFill>
              <a:srgbClr val="EF4444"/>
            </a:solidFill>
            <a:prstDash val="solid"/>
          </a:ln>
        </p:spPr>
      </p:sp>
      <p:sp>
        <p:nvSpPr>
          <p:cNvPr id="7" name="Shape 5"/>
          <p:cNvSpPr/>
          <p:nvPr/>
        </p:nvSpPr>
        <p:spPr>
          <a:xfrm>
            <a:off x="786384" y="1892808"/>
            <a:ext cx="109728" cy="109728"/>
          </a:xfrm>
          <a:prstGeom prst="ellipse">
            <a:avLst/>
          </a:prstGeom>
          <a:solidFill>
            <a:srgbClr val="F59E0B"/>
          </a:solidFill>
          <a:ln w="12700">
            <a:solidFill>
              <a:srgbClr val="F59E0B"/>
            </a:solidFill>
            <a:prstDash val="solid"/>
          </a:ln>
        </p:spPr>
      </p:sp>
      <p:sp>
        <p:nvSpPr>
          <p:cNvPr id="8" name="Shape 6"/>
          <p:cNvSpPr/>
          <p:nvPr/>
        </p:nvSpPr>
        <p:spPr>
          <a:xfrm>
            <a:off x="932688" y="1892808"/>
            <a:ext cx="109728" cy="109728"/>
          </a:xfrm>
          <a:prstGeom prst="ellipse">
            <a:avLst/>
          </a:prstGeom>
          <a:solidFill>
            <a:srgbClr val="10B981"/>
          </a:solidFill>
          <a:ln w="12700">
            <a:solidFill>
              <a:srgbClr val="10B981"/>
            </a:solidFill>
            <a:prstDash val="solid"/>
          </a:ln>
        </p:spPr>
      </p:sp>
      <p:sp>
        <p:nvSpPr>
          <p:cNvPr id="9" name="Text 7"/>
          <p:cNvSpPr/>
          <p:nvPr/>
        </p:nvSpPr>
        <p:spPr>
          <a:xfrm>
            <a:off x="731520" y="1920240"/>
            <a:ext cx="51206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Task Status — my submissions</a:t>
            </a:r>
            <a:endParaRPr lang="en-US" sz="1400" dirty="0"/>
          </a:p>
        </p:txBody>
      </p:sp>
      <p:sp>
        <p:nvSpPr>
          <p:cNvPr id="10" name="Shape 8"/>
          <p:cNvSpPr/>
          <p:nvPr/>
        </p:nvSpPr>
        <p:spPr>
          <a:xfrm>
            <a:off x="731520" y="2286000"/>
            <a:ext cx="960120" cy="274320"/>
          </a:xfrm>
          <a:prstGeom prst="roundRect">
            <a:avLst>
              <a:gd name="adj" fmla="val 50000"/>
            </a:avLst>
          </a:prstGeom>
          <a:solidFill>
            <a:srgbClr val="1A2244"/>
          </a:solidFill>
          <a:ln w="12700">
            <a:solidFill>
              <a:srgbClr val="1A2244"/>
            </a:solidFill>
            <a:prstDash val="solid"/>
          </a:ln>
        </p:spPr>
      </p:sp>
      <p:sp>
        <p:nvSpPr>
          <p:cNvPr id="11" name="Text 9"/>
          <p:cNvSpPr/>
          <p:nvPr/>
        </p:nvSpPr>
        <p:spPr>
          <a:xfrm>
            <a:off x="731520" y="2286000"/>
            <a:ext cx="9601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All Statuses ▾</a:t>
            </a:r>
            <a:endParaRPr lang="en-US" sz="900" dirty="0"/>
          </a:p>
        </p:txBody>
      </p:sp>
      <p:sp>
        <p:nvSpPr>
          <p:cNvPr id="12" name="Shape 10"/>
          <p:cNvSpPr/>
          <p:nvPr/>
        </p:nvSpPr>
        <p:spPr>
          <a:xfrm>
            <a:off x="1783080" y="2286000"/>
            <a:ext cx="960120" cy="274320"/>
          </a:xfrm>
          <a:prstGeom prst="roundRect">
            <a:avLst>
              <a:gd name="adj" fmla="val 50000"/>
            </a:avLst>
          </a:prstGeom>
          <a:solidFill>
            <a:srgbClr val="6366F1"/>
          </a:solidFill>
          <a:ln w="12700">
            <a:solidFill>
              <a:srgbClr val="6366F1"/>
            </a:solidFill>
            <a:prstDash val="solid"/>
          </a:ln>
        </p:spPr>
      </p:sp>
      <p:sp>
        <p:nvSpPr>
          <p:cNvPr id="13" name="Text 11"/>
          <p:cNvSpPr/>
          <p:nvPr/>
        </p:nvSpPr>
        <p:spPr>
          <a:xfrm>
            <a:off x="1783080" y="2286000"/>
            <a:ext cx="9601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Pending</a:t>
            </a:r>
            <a:endParaRPr lang="en-US" sz="900" dirty="0"/>
          </a:p>
        </p:txBody>
      </p:sp>
      <p:sp>
        <p:nvSpPr>
          <p:cNvPr id="14" name="Shape 12"/>
          <p:cNvSpPr/>
          <p:nvPr/>
        </p:nvSpPr>
        <p:spPr>
          <a:xfrm>
            <a:off x="2834640" y="2286000"/>
            <a:ext cx="960120" cy="274320"/>
          </a:xfrm>
          <a:prstGeom prst="roundRect">
            <a:avLst>
              <a:gd name="adj" fmla="val 50000"/>
            </a:avLst>
          </a:prstGeom>
          <a:solidFill>
            <a:srgbClr val="1A2244"/>
          </a:solidFill>
          <a:ln w="12700">
            <a:solidFill>
              <a:srgbClr val="1A2244"/>
            </a:solidFill>
            <a:prstDash val="solid"/>
          </a:ln>
        </p:spPr>
      </p:sp>
      <p:sp>
        <p:nvSpPr>
          <p:cNvPr id="15" name="Text 13"/>
          <p:cNvSpPr/>
          <p:nvPr/>
        </p:nvSpPr>
        <p:spPr>
          <a:xfrm>
            <a:off x="2834640" y="2286000"/>
            <a:ext cx="9601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Approved</a:t>
            </a:r>
            <a:endParaRPr lang="en-US" sz="900" dirty="0"/>
          </a:p>
        </p:txBody>
      </p:sp>
      <p:sp>
        <p:nvSpPr>
          <p:cNvPr id="16" name="Shape 14"/>
          <p:cNvSpPr/>
          <p:nvPr/>
        </p:nvSpPr>
        <p:spPr>
          <a:xfrm>
            <a:off x="3886200" y="2286000"/>
            <a:ext cx="960120" cy="274320"/>
          </a:xfrm>
          <a:prstGeom prst="roundRect">
            <a:avLst>
              <a:gd name="adj" fmla="val 50000"/>
            </a:avLst>
          </a:prstGeom>
          <a:solidFill>
            <a:srgbClr val="1A2244"/>
          </a:solidFill>
          <a:ln w="12700">
            <a:solidFill>
              <a:srgbClr val="1A2244"/>
            </a:solidFill>
            <a:prstDash val="solid"/>
          </a:ln>
        </p:spPr>
      </p:sp>
      <p:sp>
        <p:nvSpPr>
          <p:cNvPr id="17" name="Text 15"/>
          <p:cNvSpPr/>
          <p:nvPr/>
        </p:nvSpPr>
        <p:spPr>
          <a:xfrm>
            <a:off x="3886200" y="2286000"/>
            <a:ext cx="9601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Rejected</a:t>
            </a:r>
            <a:endParaRPr lang="en-US" sz="900" dirty="0"/>
          </a:p>
        </p:txBody>
      </p:sp>
      <p:sp>
        <p:nvSpPr>
          <p:cNvPr id="18" name="Text 16"/>
          <p:cNvSpPr/>
          <p:nvPr/>
        </p:nvSpPr>
        <p:spPr>
          <a:xfrm>
            <a:off x="777240" y="2743200"/>
            <a:ext cx="1005840" cy="228600"/>
          </a:xfrm>
          <a:prstGeom prst="rect">
            <a:avLst/>
          </a:prstGeom>
          <a:noFill/>
          <a:ln/>
        </p:spPr>
        <p:txBody>
          <a:bodyPr wrap="square" lIns="0" tIns="0" rIns="0" bIns="0" rtlCol="0" anchor="ctr"/>
          <a:lstStyle/>
          <a:p>
            <a:pPr indent="0" marL="0">
              <a:buNone/>
            </a:pPr>
            <a:r>
              <a:rPr lang="en-US" sz="800" b="1" dirty="0">
                <a:solidFill>
                  <a:srgbClr val="94A3B8"/>
                </a:solidFill>
              </a:rPr>
              <a:t>Date</a:t>
            </a:r>
            <a:endParaRPr lang="en-US" sz="800" dirty="0"/>
          </a:p>
        </p:txBody>
      </p:sp>
      <p:sp>
        <p:nvSpPr>
          <p:cNvPr id="19" name="Text 17"/>
          <p:cNvSpPr/>
          <p:nvPr/>
        </p:nvSpPr>
        <p:spPr>
          <a:xfrm>
            <a:off x="1828800" y="2743200"/>
            <a:ext cx="1005840" cy="228600"/>
          </a:xfrm>
          <a:prstGeom prst="rect">
            <a:avLst/>
          </a:prstGeom>
          <a:noFill/>
          <a:ln/>
        </p:spPr>
        <p:txBody>
          <a:bodyPr wrap="square" lIns="0" tIns="0" rIns="0" bIns="0" rtlCol="0" anchor="ctr"/>
          <a:lstStyle/>
          <a:p>
            <a:pPr indent="0" marL="0">
              <a:buNone/>
            </a:pPr>
            <a:r>
              <a:rPr lang="en-US" sz="800" b="1" dirty="0">
                <a:solidFill>
                  <a:srgbClr val="94A3B8"/>
                </a:solidFill>
              </a:rPr>
              <a:t>Employee</a:t>
            </a:r>
            <a:endParaRPr lang="en-US" sz="800" dirty="0"/>
          </a:p>
        </p:txBody>
      </p:sp>
      <p:sp>
        <p:nvSpPr>
          <p:cNvPr id="20" name="Text 18"/>
          <p:cNvSpPr/>
          <p:nvPr/>
        </p:nvSpPr>
        <p:spPr>
          <a:xfrm>
            <a:off x="2880360" y="2743200"/>
            <a:ext cx="1005840" cy="228600"/>
          </a:xfrm>
          <a:prstGeom prst="rect">
            <a:avLst/>
          </a:prstGeom>
          <a:noFill/>
          <a:ln/>
        </p:spPr>
        <p:txBody>
          <a:bodyPr wrap="square" lIns="0" tIns="0" rIns="0" bIns="0" rtlCol="0" anchor="ctr"/>
          <a:lstStyle/>
          <a:p>
            <a:pPr indent="0" marL="0">
              <a:buNone/>
            </a:pPr>
            <a:r>
              <a:rPr lang="en-US" sz="800" b="1" dirty="0">
                <a:solidFill>
                  <a:srgbClr val="94A3B8"/>
                </a:solidFill>
              </a:rPr>
              <a:t>Type</a:t>
            </a:r>
            <a:endParaRPr lang="en-US" sz="800" dirty="0"/>
          </a:p>
        </p:txBody>
      </p:sp>
      <p:sp>
        <p:nvSpPr>
          <p:cNvPr id="21" name="Text 19"/>
          <p:cNvSpPr/>
          <p:nvPr/>
        </p:nvSpPr>
        <p:spPr>
          <a:xfrm>
            <a:off x="3931920" y="2743200"/>
            <a:ext cx="1005840" cy="228600"/>
          </a:xfrm>
          <a:prstGeom prst="rect">
            <a:avLst/>
          </a:prstGeom>
          <a:noFill/>
          <a:ln/>
        </p:spPr>
        <p:txBody>
          <a:bodyPr wrap="square" lIns="0" tIns="0" rIns="0" bIns="0" rtlCol="0" anchor="ctr"/>
          <a:lstStyle/>
          <a:p>
            <a:pPr indent="0" marL="0">
              <a:buNone/>
            </a:pPr>
            <a:r>
              <a:rPr lang="en-US" sz="800" b="1" dirty="0">
                <a:solidFill>
                  <a:srgbClr val="94A3B8"/>
                </a:solidFill>
              </a:rPr>
              <a:t>Status</a:t>
            </a:r>
            <a:endParaRPr lang="en-US" sz="800" dirty="0"/>
          </a:p>
        </p:txBody>
      </p:sp>
      <p:sp>
        <p:nvSpPr>
          <p:cNvPr id="22" name="Text 20"/>
          <p:cNvSpPr/>
          <p:nvPr/>
        </p:nvSpPr>
        <p:spPr>
          <a:xfrm>
            <a:off x="4983480" y="2743200"/>
            <a:ext cx="1005840" cy="228600"/>
          </a:xfrm>
          <a:prstGeom prst="rect">
            <a:avLst/>
          </a:prstGeom>
          <a:noFill/>
          <a:ln/>
        </p:spPr>
        <p:txBody>
          <a:bodyPr wrap="square" lIns="0" tIns="0" rIns="0" bIns="0" rtlCol="0" anchor="ctr"/>
          <a:lstStyle/>
          <a:p>
            <a:pPr indent="0" marL="0">
              <a:buNone/>
            </a:pPr>
            <a:r>
              <a:rPr lang="en-US" sz="800" b="1" dirty="0">
                <a:solidFill>
                  <a:srgbClr val="94A3B8"/>
                </a:solidFill>
              </a:rPr>
              <a:t>Layer</a:t>
            </a:r>
            <a:endParaRPr lang="en-US" sz="800" dirty="0"/>
          </a:p>
        </p:txBody>
      </p:sp>
      <p:sp>
        <p:nvSpPr>
          <p:cNvPr id="23" name="Shape 21"/>
          <p:cNvSpPr/>
          <p:nvPr/>
        </p:nvSpPr>
        <p:spPr>
          <a:xfrm>
            <a:off x="731520" y="3063240"/>
            <a:ext cx="5257800" cy="594360"/>
          </a:xfrm>
          <a:prstGeom prst="roundRect">
            <a:avLst>
              <a:gd name="adj" fmla="val 12308"/>
            </a:avLst>
          </a:prstGeom>
          <a:solidFill>
            <a:srgbClr val="141B36"/>
          </a:solidFill>
          <a:ln w="12700">
            <a:solidFill>
              <a:srgbClr val="2A3560"/>
            </a:solidFill>
            <a:prstDash val="solid"/>
          </a:ln>
        </p:spPr>
      </p:sp>
      <p:sp>
        <p:nvSpPr>
          <p:cNvPr id="24" name="Text 22"/>
          <p:cNvSpPr/>
          <p:nvPr/>
        </p:nvSpPr>
        <p:spPr>
          <a:xfrm>
            <a:off x="777240" y="3246120"/>
            <a:ext cx="1005840" cy="274320"/>
          </a:xfrm>
          <a:prstGeom prst="rect">
            <a:avLst/>
          </a:prstGeom>
          <a:noFill/>
          <a:ln/>
        </p:spPr>
        <p:txBody>
          <a:bodyPr wrap="square" lIns="0" tIns="0" rIns="0" bIns="0" rtlCol="0" anchor="ctr"/>
          <a:lstStyle/>
          <a:p>
            <a:pPr indent="0" marL="0">
              <a:buNone/>
            </a:pPr>
            <a:r>
              <a:rPr lang="en-US" sz="900" dirty="0">
                <a:solidFill>
                  <a:srgbClr val="FFFFFF"/>
                </a:solidFill>
              </a:rPr>
              <a:t>Apr 11</a:t>
            </a:r>
            <a:endParaRPr lang="en-US" sz="900" dirty="0"/>
          </a:p>
        </p:txBody>
      </p:sp>
      <p:sp>
        <p:nvSpPr>
          <p:cNvPr id="25" name="Text 23"/>
          <p:cNvSpPr/>
          <p:nvPr/>
        </p:nvSpPr>
        <p:spPr>
          <a:xfrm>
            <a:off x="1828800" y="3246120"/>
            <a:ext cx="1005840" cy="274320"/>
          </a:xfrm>
          <a:prstGeom prst="rect">
            <a:avLst/>
          </a:prstGeom>
          <a:noFill/>
          <a:ln/>
        </p:spPr>
        <p:txBody>
          <a:bodyPr wrap="square" lIns="0" tIns="0" rIns="0" bIns="0" rtlCol="0" anchor="ctr"/>
          <a:lstStyle/>
          <a:p>
            <a:pPr indent="0" marL="0">
              <a:buNone/>
            </a:pPr>
            <a:r>
              <a:rPr lang="en-US" sz="900" dirty="0">
                <a:solidFill>
                  <a:srgbClr val="FFFFFF"/>
                </a:solidFill>
              </a:rPr>
              <a:t>Ahmed S. (you)</a:t>
            </a:r>
            <a:endParaRPr lang="en-US" sz="900" dirty="0"/>
          </a:p>
        </p:txBody>
      </p:sp>
      <p:sp>
        <p:nvSpPr>
          <p:cNvPr id="26" name="Text 24"/>
          <p:cNvSpPr/>
          <p:nvPr/>
        </p:nvSpPr>
        <p:spPr>
          <a:xfrm>
            <a:off x="2880360" y="3246120"/>
            <a:ext cx="1005840" cy="274320"/>
          </a:xfrm>
          <a:prstGeom prst="rect">
            <a:avLst/>
          </a:prstGeom>
          <a:noFill/>
          <a:ln/>
        </p:spPr>
        <p:txBody>
          <a:bodyPr wrap="square" lIns="0" tIns="0" rIns="0" bIns="0" rtlCol="0" anchor="ctr"/>
          <a:lstStyle/>
          <a:p>
            <a:pPr indent="0" marL="0">
              <a:buNone/>
            </a:pPr>
            <a:r>
              <a:rPr lang="en-US" sz="900" dirty="0">
                <a:solidFill>
                  <a:srgbClr val="FFFFFF"/>
                </a:solidFill>
              </a:rPr>
              <a:t>Task</a:t>
            </a:r>
            <a:endParaRPr lang="en-US" sz="900" dirty="0"/>
          </a:p>
        </p:txBody>
      </p:sp>
      <p:sp>
        <p:nvSpPr>
          <p:cNvPr id="27" name="Shape 25"/>
          <p:cNvSpPr/>
          <p:nvPr/>
        </p:nvSpPr>
        <p:spPr>
          <a:xfrm>
            <a:off x="3931920" y="3200400"/>
            <a:ext cx="914400" cy="292608"/>
          </a:xfrm>
          <a:prstGeom prst="roundRect">
            <a:avLst>
              <a:gd name="adj" fmla="val 50000"/>
            </a:avLst>
          </a:prstGeom>
          <a:solidFill>
            <a:srgbClr val="F59E0B"/>
          </a:solidFill>
          <a:ln w="12700">
            <a:solidFill>
              <a:srgbClr val="F59E0B"/>
            </a:solidFill>
            <a:prstDash val="solid"/>
          </a:ln>
        </p:spPr>
      </p:sp>
      <p:sp>
        <p:nvSpPr>
          <p:cNvPr id="28" name="Text 26"/>
          <p:cNvSpPr/>
          <p:nvPr/>
        </p:nvSpPr>
        <p:spPr>
          <a:xfrm>
            <a:off x="3931920" y="3200400"/>
            <a:ext cx="91440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Pending</a:t>
            </a:r>
            <a:endParaRPr lang="en-US" sz="900" dirty="0"/>
          </a:p>
        </p:txBody>
      </p:sp>
      <p:sp>
        <p:nvSpPr>
          <p:cNvPr id="29" name="Text 27"/>
          <p:cNvSpPr/>
          <p:nvPr/>
        </p:nvSpPr>
        <p:spPr>
          <a:xfrm>
            <a:off x="4983480" y="3246120"/>
            <a:ext cx="1005840" cy="274320"/>
          </a:xfrm>
          <a:prstGeom prst="rect">
            <a:avLst/>
          </a:prstGeom>
          <a:noFill/>
          <a:ln/>
        </p:spPr>
        <p:txBody>
          <a:bodyPr wrap="square" lIns="0" tIns="0" rIns="0" bIns="0" rtlCol="0" anchor="ctr"/>
          <a:lstStyle/>
          <a:p>
            <a:pPr indent="0" marL="0">
              <a:buNone/>
            </a:pPr>
            <a:r>
              <a:rPr lang="en-US" sz="900" dirty="0">
                <a:solidFill>
                  <a:srgbClr val="FFFFFF"/>
                </a:solidFill>
              </a:rPr>
              <a:t>SPOC</a:t>
            </a:r>
            <a:endParaRPr lang="en-US" sz="900" dirty="0"/>
          </a:p>
        </p:txBody>
      </p:sp>
      <p:sp>
        <p:nvSpPr>
          <p:cNvPr id="30" name="Shape 28"/>
          <p:cNvSpPr/>
          <p:nvPr/>
        </p:nvSpPr>
        <p:spPr>
          <a:xfrm>
            <a:off x="731520" y="3776472"/>
            <a:ext cx="5257800" cy="594360"/>
          </a:xfrm>
          <a:prstGeom prst="roundRect">
            <a:avLst>
              <a:gd name="adj" fmla="val 12308"/>
            </a:avLst>
          </a:prstGeom>
          <a:solidFill>
            <a:srgbClr val="141B36"/>
          </a:solidFill>
          <a:ln w="12700">
            <a:solidFill>
              <a:srgbClr val="2A3560"/>
            </a:solidFill>
            <a:prstDash val="solid"/>
          </a:ln>
        </p:spPr>
      </p:sp>
      <p:sp>
        <p:nvSpPr>
          <p:cNvPr id="31" name="Text 29"/>
          <p:cNvSpPr/>
          <p:nvPr/>
        </p:nvSpPr>
        <p:spPr>
          <a:xfrm>
            <a:off x="777240" y="3959352"/>
            <a:ext cx="1005840" cy="274320"/>
          </a:xfrm>
          <a:prstGeom prst="rect">
            <a:avLst/>
          </a:prstGeom>
          <a:noFill/>
          <a:ln/>
        </p:spPr>
        <p:txBody>
          <a:bodyPr wrap="square" lIns="0" tIns="0" rIns="0" bIns="0" rtlCol="0" anchor="ctr"/>
          <a:lstStyle/>
          <a:p>
            <a:pPr indent="0" marL="0">
              <a:buNone/>
            </a:pPr>
            <a:r>
              <a:rPr lang="en-US" sz="900" dirty="0">
                <a:solidFill>
                  <a:srgbClr val="FFFFFF"/>
                </a:solidFill>
              </a:rPr>
              <a:t>Apr 10</a:t>
            </a:r>
            <a:endParaRPr lang="en-US" sz="900" dirty="0"/>
          </a:p>
        </p:txBody>
      </p:sp>
      <p:sp>
        <p:nvSpPr>
          <p:cNvPr id="32" name="Text 30"/>
          <p:cNvSpPr/>
          <p:nvPr/>
        </p:nvSpPr>
        <p:spPr>
          <a:xfrm>
            <a:off x="1828800" y="3959352"/>
            <a:ext cx="1005840" cy="274320"/>
          </a:xfrm>
          <a:prstGeom prst="rect">
            <a:avLst/>
          </a:prstGeom>
          <a:noFill/>
          <a:ln/>
        </p:spPr>
        <p:txBody>
          <a:bodyPr wrap="square" lIns="0" tIns="0" rIns="0" bIns="0" rtlCol="0" anchor="ctr"/>
          <a:lstStyle/>
          <a:p>
            <a:pPr indent="0" marL="0">
              <a:buNone/>
            </a:pPr>
            <a:r>
              <a:rPr lang="en-US" sz="900" dirty="0">
                <a:solidFill>
                  <a:srgbClr val="FFFFFF"/>
                </a:solidFill>
              </a:rPr>
              <a:t>Ahmed S. (you)</a:t>
            </a:r>
            <a:endParaRPr lang="en-US" sz="900" dirty="0"/>
          </a:p>
        </p:txBody>
      </p:sp>
      <p:sp>
        <p:nvSpPr>
          <p:cNvPr id="33" name="Text 31"/>
          <p:cNvSpPr/>
          <p:nvPr/>
        </p:nvSpPr>
        <p:spPr>
          <a:xfrm>
            <a:off x="2880360" y="3959352"/>
            <a:ext cx="1005840" cy="274320"/>
          </a:xfrm>
          <a:prstGeom prst="rect">
            <a:avLst/>
          </a:prstGeom>
          <a:noFill/>
          <a:ln/>
        </p:spPr>
        <p:txBody>
          <a:bodyPr wrap="square" lIns="0" tIns="0" rIns="0" bIns="0" rtlCol="0" anchor="ctr"/>
          <a:lstStyle/>
          <a:p>
            <a:pPr indent="0" marL="0">
              <a:buNone/>
            </a:pPr>
            <a:r>
              <a:rPr lang="en-US" sz="900" dirty="0">
                <a:solidFill>
                  <a:srgbClr val="FFFFFF"/>
                </a:solidFill>
              </a:rPr>
              <a:t>Task</a:t>
            </a:r>
            <a:endParaRPr lang="en-US" sz="900" dirty="0"/>
          </a:p>
        </p:txBody>
      </p:sp>
      <p:sp>
        <p:nvSpPr>
          <p:cNvPr id="34" name="Shape 32"/>
          <p:cNvSpPr/>
          <p:nvPr/>
        </p:nvSpPr>
        <p:spPr>
          <a:xfrm>
            <a:off x="3931920" y="3913632"/>
            <a:ext cx="914400" cy="292608"/>
          </a:xfrm>
          <a:prstGeom prst="roundRect">
            <a:avLst>
              <a:gd name="adj" fmla="val 50000"/>
            </a:avLst>
          </a:prstGeom>
          <a:solidFill>
            <a:srgbClr val="10B981"/>
          </a:solidFill>
          <a:ln w="12700">
            <a:solidFill>
              <a:srgbClr val="10B981"/>
            </a:solidFill>
            <a:prstDash val="solid"/>
          </a:ln>
        </p:spPr>
      </p:sp>
      <p:sp>
        <p:nvSpPr>
          <p:cNvPr id="35" name="Text 33"/>
          <p:cNvSpPr/>
          <p:nvPr/>
        </p:nvSpPr>
        <p:spPr>
          <a:xfrm>
            <a:off x="3931920" y="3913632"/>
            <a:ext cx="91440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Approved</a:t>
            </a:r>
            <a:endParaRPr lang="en-US" sz="900" dirty="0"/>
          </a:p>
        </p:txBody>
      </p:sp>
      <p:sp>
        <p:nvSpPr>
          <p:cNvPr id="36" name="Text 34"/>
          <p:cNvSpPr/>
          <p:nvPr/>
        </p:nvSpPr>
        <p:spPr>
          <a:xfrm>
            <a:off x="4983480" y="3959352"/>
            <a:ext cx="1005840" cy="274320"/>
          </a:xfrm>
          <a:prstGeom prst="rect">
            <a:avLst/>
          </a:prstGeom>
          <a:noFill/>
          <a:ln/>
        </p:spPr>
        <p:txBody>
          <a:bodyPr wrap="square" lIns="0" tIns="0" rIns="0" bIns="0" rtlCol="0" anchor="ctr"/>
          <a:lstStyle/>
          <a:p>
            <a:pPr indent="0" marL="0">
              <a:buNone/>
            </a:pPr>
            <a:r>
              <a:rPr lang="en-US" sz="900" dirty="0">
                <a:solidFill>
                  <a:srgbClr val="FFFFFF"/>
                </a:solidFill>
              </a:rPr>
              <a:t>SPOC</a:t>
            </a:r>
            <a:endParaRPr lang="en-US" sz="900" dirty="0"/>
          </a:p>
        </p:txBody>
      </p:sp>
      <p:sp>
        <p:nvSpPr>
          <p:cNvPr id="37" name="Shape 35"/>
          <p:cNvSpPr/>
          <p:nvPr/>
        </p:nvSpPr>
        <p:spPr>
          <a:xfrm>
            <a:off x="731520" y="4489704"/>
            <a:ext cx="5257800" cy="594360"/>
          </a:xfrm>
          <a:prstGeom prst="roundRect">
            <a:avLst>
              <a:gd name="adj" fmla="val 12308"/>
            </a:avLst>
          </a:prstGeom>
          <a:solidFill>
            <a:srgbClr val="141B36"/>
          </a:solidFill>
          <a:ln w="12700">
            <a:solidFill>
              <a:srgbClr val="2A3560"/>
            </a:solidFill>
            <a:prstDash val="solid"/>
          </a:ln>
        </p:spPr>
      </p:sp>
      <p:sp>
        <p:nvSpPr>
          <p:cNvPr id="38" name="Text 36"/>
          <p:cNvSpPr/>
          <p:nvPr/>
        </p:nvSpPr>
        <p:spPr>
          <a:xfrm>
            <a:off x="777240" y="4672584"/>
            <a:ext cx="1005840" cy="274320"/>
          </a:xfrm>
          <a:prstGeom prst="rect">
            <a:avLst/>
          </a:prstGeom>
          <a:noFill/>
          <a:ln/>
        </p:spPr>
        <p:txBody>
          <a:bodyPr wrap="square" lIns="0" tIns="0" rIns="0" bIns="0" rtlCol="0" anchor="ctr"/>
          <a:lstStyle/>
          <a:p>
            <a:pPr indent="0" marL="0">
              <a:buNone/>
            </a:pPr>
            <a:r>
              <a:rPr lang="en-US" sz="900" dirty="0">
                <a:solidFill>
                  <a:srgbClr val="FFFFFF"/>
                </a:solidFill>
              </a:rPr>
              <a:t>Apr 09</a:t>
            </a:r>
            <a:endParaRPr lang="en-US" sz="900" dirty="0"/>
          </a:p>
        </p:txBody>
      </p:sp>
      <p:sp>
        <p:nvSpPr>
          <p:cNvPr id="39" name="Text 37"/>
          <p:cNvSpPr/>
          <p:nvPr/>
        </p:nvSpPr>
        <p:spPr>
          <a:xfrm>
            <a:off x="1828800" y="4672584"/>
            <a:ext cx="1005840" cy="274320"/>
          </a:xfrm>
          <a:prstGeom prst="rect">
            <a:avLst/>
          </a:prstGeom>
          <a:noFill/>
          <a:ln/>
        </p:spPr>
        <p:txBody>
          <a:bodyPr wrap="square" lIns="0" tIns="0" rIns="0" bIns="0" rtlCol="0" anchor="ctr"/>
          <a:lstStyle/>
          <a:p>
            <a:pPr indent="0" marL="0">
              <a:buNone/>
            </a:pPr>
            <a:r>
              <a:rPr lang="en-US" sz="900" dirty="0">
                <a:solidFill>
                  <a:srgbClr val="FFFFFF"/>
                </a:solidFill>
              </a:rPr>
              <a:t>Ahmed S. (you)</a:t>
            </a:r>
            <a:endParaRPr lang="en-US" sz="900" dirty="0"/>
          </a:p>
        </p:txBody>
      </p:sp>
      <p:sp>
        <p:nvSpPr>
          <p:cNvPr id="40" name="Text 38"/>
          <p:cNvSpPr/>
          <p:nvPr/>
        </p:nvSpPr>
        <p:spPr>
          <a:xfrm>
            <a:off x="2880360" y="4672584"/>
            <a:ext cx="1005840" cy="274320"/>
          </a:xfrm>
          <a:prstGeom prst="rect">
            <a:avLst/>
          </a:prstGeom>
          <a:noFill/>
          <a:ln/>
        </p:spPr>
        <p:txBody>
          <a:bodyPr wrap="square" lIns="0" tIns="0" rIns="0" bIns="0" rtlCol="0" anchor="ctr"/>
          <a:lstStyle/>
          <a:p>
            <a:pPr indent="0" marL="0">
              <a:buNone/>
            </a:pPr>
            <a:r>
              <a:rPr lang="en-US" sz="900" dirty="0">
                <a:solidFill>
                  <a:srgbClr val="FFFFFF"/>
                </a:solidFill>
              </a:rPr>
              <a:t>Task</a:t>
            </a:r>
            <a:endParaRPr lang="en-US" sz="900" dirty="0"/>
          </a:p>
        </p:txBody>
      </p:sp>
      <p:sp>
        <p:nvSpPr>
          <p:cNvPr id="41" name="Shape 39"/>
          <p:cNvSpPr/>
          <p:nvPr/>
        </p:nvSpPr>
        <p:spPr>
          <a:xfrm>
            <a:off x="3931920" y="4626864"/>
            <a:ext cx="914400" cy="292608"/>
          </a:xfrm>
          <a:prstGeom prst="roundRect">
            <a:avLst>
              <a:gd name="adj" fmla="val 50000"/>
            </a:avLst>
          </a:prstGeom>
          <a:solidFill>
            <a:srgbClr val="EF4444"/>
          </a:solidFill>
          <a:ln w="12700">
            <a:solidFill>
              <a:srgbClr val="EF4444"/>
            </a:solidFill>
            <a:prstDash val="solid"/>
          </a:ln>
        </p:spPr>
      </p:sp>
      <p:sp>
        <p:nvSpPr>
          <p:cNvPr id="42" name="Text 40"/>
          <p:cNvSpPr/>
          <p:nvPr/>
        </p:nvSpPr>
        <p:spPr>
          <a:xfrm>
            <a:off x="3931920" y="4626864"/>
            <a:ext cx="91440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Rejected</a:t>
            </a:r>
            <a:endParaRPr lang="en-US" sz="900" dirty="0"/>
          </a:p>
        </p:txBody>
      </p:sp>
      <p:sp>
        <p:nvSpPr>
          <p:cNvPr id="43" name="Text 41"/>
          <p:cNvSpPr/>
          <p:nvPr/>
        </p:nvSpPr>
        <p:spPr>
          <a:xfrm>
            <a:off x="4983480" y="4672584"/>
            <a:ext cx="1005840" cy="274320"/>
          </a:xfrm>
          <a:prstGeom prst="rect">
            <a:avLst/>
          </a:prstGeom>
          <a:noFill/>
          <a:ln/>
        </p:spPr>
        <p:txBody>
          <a:bodyPr wrap="square" lIns="0" tIns="0" rIns="0" bIns="0" rtlCol="0" anchor="ctr"/>
          <a:lstStyle/>
          <a:p>
            <a:pPr indent="0" marL="0">
              <a:buNone/>
            </a:pPr>
            <a:r>
              <a:rPr lang="en-US" sz="900" dirty="0">
                <a:solidFill>
                  <a:srgbClr val="FFFFFF"/>
                </a:solidFill>
              </a:rPr>
              <a:t>SPOC</a:t>
            </a:r>
            <a:endParaRPr lang="en-US" sz="900" dirty="0"/>
          </a:p>
        </p:txBody>
      </p:sp>
      <p:sp>
        <p:nvSpPr>
          <p:cNvPr id="44" name="Shape 42"/>
          <p:cNvSpPr/>
          <p:nvPr/>
        </p:nvSpPr>
        <p:spPr>
          <a:xfrm>
            <a:off x="731520" y="5202936"/>
            <a:ext cx="5257800" cy="594360"/>
          </a:xfrm>
          <a:prstGeom prst="roundRect">
            <a:avLst>
              <a:gd name="adj" fmla="val 12308"/>
            </a:avLst>
          </a:prstGeom>
          <a:solidFill>
            <a:srgbClr val="141B36"/>
          </a:solidFill>
          <a:ln w="12700">
            <a:solidFill>
              <a:srgbClr val="2A3560"/>
            </a:solidFill>
            <a:prstDash val="solid"/>
          </a:ln>
        </p:spPr>
      </p:sp>
      <p:sp>
        <p:nvSpPr>
          <p:cNvPr id="45" name="Text 43"/>
          <p:cNvSpPr/>
          <p:nvPr/>
        </p:nvSpPr>
        <p:spPr>
          <a:xfrm>
            <a:off x="777240" y="5385816"/>
            <a:ext cx="1005840" cy="274320"/>
          </a:xfrm>
          <a:prstGeom prst="rect">
            <a:avLst/>
          </a:prstGeom>
          <a:noFill/>
          <a:ln/>
        </p:spPr>
        <p:txBody>
          <a:bodyPr wrap="square" lIns="0" tIns="0" rIns="0" bIns="0" rtlCol="0" anchor="ctr"/>
          <a:lstStyle/>
          <a:p>
            <a:pPr indent="0" marL="0">
              <a:buNone/>
            </a:pPr>
            <a:r>
              <a:rPr lang="en-US" sz="900" dirty="0">
                <a:solidFill>
                  <a:srgbClr val="FFFFFF"/>
                </a:solidFill>
              </a:rPr>
              <a:t>Apr 08</a:t>
            </a:r>
            <a:endParaRPr lang="en-US" sz="900" dirty="0"/>
          </a:p>
        </p:txBody>
      </p:sp>
      <p:sp>
        <p:nvSpPr>
          <p:cNvPr id="46" name="Text 44"/>
          <p:cNvSpPr/>
          <p:nvPr/>
        </p:nvSpPr>
        <p:spPr>
          <a:xfrm>
            <a:off x="1828800" y="5385816"/>
            <a:ext cx="1005840" cy="274320"/>
          </a:xfrm>
          <a:prstGeom prst="rect">
            <a:avLst/>
          </a:prstGeom>
          <a:noFill/>
          <a:ln/>
        </p:spPr>
        <p:txBody>
          <a:bodyPr wrap="square" lIns="0" tIns="0" rIns="0" bIns="0" rtlCol="0" anchor="ctr"/>
          <a:lstStyle/>
          <a:p>
            <a:pPr indent="0" marL="0">
              <a:buNone/>
            </a:pPr>
            <a:r>
              <a:rPr lang="en-US" sz="900" dirty="0">
                <a:solidFill>
                  <a:srgbClr val="FFFFFF"/>
                </a:solidFill>
              </a:rPr>
              <a:t>Ahmed S. (you)</a:t>
            </a:r>
            <a:endParaRPr lang="en-US" sz="900" dirty="0"/>
          </a:p>
        </p:txBody>
      </p:sp>
      <p:sp>
        <p:nvSpPr>
          <p:cNvPr id="47" name="Text 45"/>
          <p:cNvSpPr/>
          <p:nvPr/>
        </p:nvSpPr>
        <p:spPr>
          <a:xfrm>
            <a:off x="2880360" y="5385816"/>
            <a:ext cx="1005840" cy="274320"/>
          </a:xfrm>
          <a:prstGeom prst="rect">
            <a:avLst/>
          </a:prstGeom>
          <a:noFill/>
          <a:ln/>
        </p:spPr>
        <p:txBody>
          <a:bodyPr wrap="square" lIns="0" tIns="0" rIns="0" bIns="0" rtlCol="0" anchor="ctr"/>
          <a:lstStyle/>
          <a:p>
            <a:pPr indent="0" marL="0">
              <a:buNone/>
            </a:pPr>
            <a:r>
              <a:rPr lang="en-US" sz="900" dirty="0">
                <a:solidFill>
                  <a:srgbClr val="FFFFFF"/>
                </a:solidFill>
              </a:rPr>
              <a:t>Task</a:t>
            </a:r>
            <a:endParaRPr lang="en-US" sz="900" dirty="0"/>
          </a:p>
        </p:txBody>
      </p:sp>
      <p:sp>
        <p:nvSpPr>
          <p:cNvPr id="48" name="Shape 46"/>
          <p:cNvSpPr/>
          <p:nvPr/>
        </p:nvSpPr>
        <p:spPr>
          <a:xfrm>
            <a:off x="3931920" y="5340096"/>
            <a:ext cx="914400" cy="292608"/>
          </a:xfrm>
          <a:prstGeom prst="roundRect">
            <a:avLst>
              <a:gd name="adj" fmla="val 50000"/>
            </a:avLst>
          </a:prstGeom>
          <a:solidFill>
            <a:srgbClr val="10B981"/>
          </a:solidFill>
          <a:ln w="12700">
            <a:solidFill>
              <a:srgbClr val="10B981"/>
            </a:solidFill>
            <a:prstDash val="solid"/>
          </a:ln>
        </p:spPr>
      </p:sp>
      <p:sp>
        <p:nvSpPr>
          <p:cNvPr id="49" name="Text 47"/>
          <p:cNvSpPr/>
          <p:nvPr/>
        </p:nvSpPr>
        <p:spPr>
          <a:xfrm>
            <a:off x="3931920" y="5340096"/>
            <a:ext cx="91440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Approved</a:t>
            </a:r>
            <a:endParaRPr lang="en-US" sz="900" dirty="0"/>
          </a:p>
        </p:txBody>
      </p:sp>
      <p:sp>
        <p:nvSpPr>
          <p:cNvPr id="50" name="Text 48"/>
          <p:cNvSpPr/>
          <p:nvPr/>
        </p:nvSpPr>
        <p:spPr>
          <a:xfrm>
            <a:off x="4983480" y="5385816"/>
            <a:ext cx="1005840" cy="274320"/>
          </a:xfrm>
          <a:prstGeom prst="rect">
            <a:avLst/>
          </a:prstGeom>
          <a:noFill/>
          <a:ln/>
        </p:spPr>
        <p:txBody>
          <a:bodyPr wrap="square" lIns="0" tIns="0" rIns="0" bIns="0" rtlCol="0" anchor="ctr"/>
          <a:lstStyle/>
          <a:p>
            <a:pPr indent="0" marL="0">
              <a:buNone/>
            </a:pPr>
            <a:r>
              <a:rPr lang="en-US" sz="900" dirty="0">
                <a:solidFill>
                  <a:srgbClr val="FFFFFF"/>
                </a:solidFill>
              </a:rPr>
              <a:t>SPOC</a:t>
            </a:r>
            <a:endParaRPr lang="en-US" sz="900" dirty="0"/>
          </a:p>
        </p:txBody>
      </p:sp>
      <p:sp>
        <p:nvSpPr>
          <p:cNvPr id="51" name="Shape 49"/>
          <p:cNvSpPr/>
          <p:nvPr/>
        </p:nvSpPr>
        <p:spPr>
          <a:xfrm>
            <a:off x="6355080" y="1783080"/>
            <a:ext cx="5394960" cy="4663440"/>
          </a:xfrm>
          <a:prstGeom prst="roundRect">
            <a:avLst>
              <a:gd name="adj" fmla="val 1569"/>
            </a:avLst>
          </a:prstGeom>
          <a:solidFill>
            <a:srgbClr val="1A2244"/>
          </a:solidFill>
          <a:ln w="12700">
            <a:solidFill>
              <a:srgbClr val="2A3560"/>
            </a:solidFill>
            <a:prstDash val="solid"/>
          </a:ln>
        </p:spPr>
      </p:sp>
      <p:sp>
        <p:nvSpPr>
          <p:cNvPr id="52" name="Text 50"/>
          <p:cNvSpPr/>
          <p:nvPr/>
        </p:nvSpPr>
        <p:spPr>
          <a:xfrm>
            <a:off x="6537960" y="1920240"/>
            <a:ext cx="512064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the status tells you</a:t>
            </a:r>
            <a:endParaRPr lang="en-US" sz="1500" dirty="0"/>
          </a:p>
        </p:txBody>
      </p:sp>
      <p:sp>
        <p:nvSpPr>
          <p:cNvPr id="53" name="Shape 51"/>
          <p:cNvSpPr/>
          <p:nvPr/>
        </p:nvSpPr>
        <p:spPr>
          <a:xfrm>
            <a:off x="6537960" y="2377440"/>
            <a:ext cx="5074920" cy="914400"/>
          </a:xfrm>
          <a:prstGeom prst="roundRect">
            <a:avLst>
              <a:gd name="adj" fmla="val 8000"/>
            </a:avLst>
          </a:prstGeom>
          <a:solidFill>
            <a:srgbClr val="141B36"/>
          </a:solidFill>
          <a:ln w="12700">
            <a:solidFill>
              <a:srgbClr val="2A3560"/>
            </a:solidFill>
            <a:prstDash val="solid"/>
          </a:ln>
        </p:spPr>
      </p:sp>
      <p:sp>
        <p:nvSpPr>
          <p:cNvPr id="54" name="Shape 52"/>
          <p:cNvSpPr/>
          <p:nvPr/>
        </p:nvSpPr>
        <p:spPr>
          <a:xfrm>
            <a:off x="6537960" y="2377440"/>
            <a:ext cx="73152" cy="914400"/>
          </a:xfrm>
          <a:prstGeom prst="rect">
            <a:avLst/>
          </a:prstGeom>
          <a:solidFill>
            <a:srgbClr val="F59E0B"/>
          </a:solidFill>
          <a:ln w="12700">
            <a:solidFill>
              <a:srgbClr val="F59E0B"/>
            </a:solidFill>
            <a:prstDash val="solid"/>
          </a:ln>
        </p:spPr>
      </p:sp>
      <p:sp>
        <p:nvSpPr>
          <p:cNvPr id="55" name="Shape 53"/>
          <p:cNvSpPr/>
          <p:nvPr/>
        </p:nvSpPr>
        <p:spPr>
          <a:xfrm>
            <a:off x="6720840" y="2542032"/>
            <a:ext cx="1143000" cy="292608"/>
          </a:xfrm>
          <a:prstGeom prst="roundRect">
            <a:avLst>
              <a:gd name="adj" fmla="val 50000"/>
            </a:avLst>
          </a:prstGeom>
          <a:solidFill>
            <a:srgbClr val="F59E0B"/>
          </a:solidFill>
          <a:ln w="12700">
            <a:solidFill>
              <a:srgbClr val="F59E0B"/>
            </a:solidFill>
            <a:prstDash val="solid"/>
          </a:ln>
        </p:spPr>
      </p:sp>
      <p:sp>
        <p:nvSpPr>
          <p:cNvPr id="56" name="Text 54"/>
          <p:cNvSpPr/>
          <p:nvPr/>
        </p:nvSpPr>
        <p:spPr>
          <a:xfrm>
            <a:off x="6720840" y="2542032"/>
            <a:ext cx="114300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Pending</a:t>
            </a:r>
            <a:endParaRPr lang="en-US" sz="900" dirty="0"/>
          </a:p>
        </p:txBody>
      </p:sp>
      <p:sp>
        <p:nvSpPr>
          <p:cNvPr id="57" name="Text 55"/>
          <p:cNvSpPr/>
          <p:nvPr/>
        </p:nvSpPr>
        <p:spPr>
          <a:xfrm>
            <a:off x="7955280" y="2542032"/>
            <a:ext cx="3611880" cy="64008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Submitted, waiting for approver. No action needed.</a:t>
            </a:r>
            <a:endParaRPr lang="en-US" sz="1000" dirty="0"/>
          </a:p>
        </p:txBody>
      </p:sp>
      <p:sp>
        <p:nvSpPr>
          <p:cNvPr id="58" name="Shape 56"/>
          <p:cNvSpPr/>
          <p:nvPr/>
        </p:nvSpPr>
        <p:spPr>
          <a:xfrm>
            <a:off x="6537960" y="3429000"/>
            <a:ext cx="5074920" cy="914400"/>
          </a:xfrm>
          <a:prstGeom prst="roundRect">
            <a:avLst>
              <a:gd name="adj" fmla="val 8000"/>
            </a:avLst>
          </a:prstGeom>
          <a:solidFill>
            <a:srgbClr val="141B36"/>
          </a:solidFill>
          <a:ln w="12700">
            <a:solidFill>
              <a:srgbClr val="2A3560"/>
            </a:solidFill>
            <a:prstDash val="solid"/>
          </a:ln>
        </p:spPr>
      </p:sp>
      <p:sp>
        <p:nvSpPr>
          <p:cNvPr id="59" name="Shape 57"/>
          <p:cNvSpPr/>
          <p:nvPr/>
        </p:nvSpPr>
        <p:spPr>
          <a:xfrm>
            <a:off x="6537960" y="3429000"/>
            <a:ext cx="73152" cy="914400"/>
          </a:xfrm>
          <a:prstGeom prst="rect">
            <a:avLst/>
          </a:prstGeom>
          <a:solidFill>
            <a:srgbClr val="10B981"/>
          </a:solidFill>
          <a:ln w="12700">
            <a:solidFill>
              <a:srgbClr val="10B981"/>
            </a:solidFill>
            <a:prstDash val="solid"/>
          </a:ln>
        </p:spPr>
      </p:sp>
      <p:sp>
        <p:nvSpPr>
          <p:cNvPr id="60" name="Shape 58"/>
          <p:cNvSpPr/>
          <p:nvPr/>
        </p:nvSpPr>
        <p:spPr>
          <a:xfrm>
            <a:off x="6720840" y="3593592"/>
            <a:ext cx="1143000" cy="292608"/>
          </a:xfrm>
          <a:prstGeom prst="roundRect">
            <a:avLst>
              <a:gd name="adj" fmla="val 50000"/>
            </a:avLst>
          </a:prstGeom>
          <a:solidFill>
            <a:srgbClr val="10B981"/>
          </a:solidFill>
          <a:ln w="12700">
            <a:solidFill>
              <a:srgbClr val="10B981"/>
            </a:solidFill>
            <a:prstDash val="solid"/>
          </a:ln>
        </p:spPr>
      </p:sp>
      <p:sp>
        <p:nvSpPr>
          <p:cNvPr id="61" name="Text 59"/>
          <p:cNvSpPr/>
          <p:nvPr/>
        </p:nvSpPr>
        <p:spPr>
          <a:xfrm>
            <a:off x="6720840" y="3593592"/>
            <a:ext cx="114300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Approved</a:t>
            </a:r>
            <a:endParaRPr lang="en-US" sz="900" dirty="0"/>
          </a:p>
        </p:txBody>
      </p:sp>
      <p:sp>
        <p:nvSpPr>
          <p:cNvPr id="62" name="Text 60"/>
          <p:cNvSpPr/>
          <p:nvPr/>
        </p:nvSpPr>
        <p:spPr>
          <a:xfrm>
            <a:off x="7955280" y="3593592"/>
            <a:ext cx="3611880" cy="64008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Counts for your leaderboard score. No action needed.</a:t>
            </a:r>
            <a:endParaRPr lang="en-US" sz="1000" dirty="0"/>
          </a:p>
        </p:txBody>
      </p:sp>
      <p:sp>
        <p:nvSpPr>
          <p:cNvPr id="63" name="Shape 61"/>
          <p:cNvSpPr/>
          <p:nvPr/>
        </p:nvSpPr>
        <p:spPr>
          <a:xfrm>
            <a:off x="6537960" y="4480560"/>
            <a:ext cx="5074920" cy="914400"/>
          </a:xfrm>
          <a:prstGeom prst="roundRect">
            <a:avLst>
              <a:gd name="adj" fmla="val 8000"/>
            </a:avLst>
          </a:prstGeom>
          <a:solidFill>
            <a:srgbClr val="141B36"/>
          </a:solidFill>
          <a:ln w="12700">
            <a:solidFill>
              <a:srgbClr val="2A3560"/>
            </a:solidFill>
            <a:prstDash val="solid"/>
          </a:ln>
        </p:spPr>
      </p:sp>
      <p:sp>
        <p:nvSpPr>
          <p:cNvPr id="64" name="Shape 62"/>
          <p:cNvSpPr/>
          <p:nvPr/>
        </p:nvSpPr>
        <p:spPr>
          <a:xfrm>
            <a:off x="6537960" y="4480560"/>
            <a:ext cx="73152" cy="914400"/>
          </a:xfrm>
          <a:prstGeom prst="rect">
            <a:avLst/>
          </a:prstGeom>
          <a:solidFill>
            <a:srgbClr val="EF4444"/>
          </a:solidFill>
          <a:ln w="12700">
            <a:solidFill>
              <a:srgbClr val="EF4444"/>
            </a:solidFill>
            <a:prstDash val="solid"/>
          </a:ln>
        </p:spPr>
      </p:sp>
      <p:sp>
        <p:nvSpPr>
          <p:cNvPr id="65" name="Shape 63"/>
          <p:cNvSpPr/>
          <p:nvPr/>
        </p:nvSpPr>
        <p:spPr>
          <a:xfrm>
            <a:off x="6720840" y="4645152"/>
            <a:ext cx="1143000" cy="292608"/>
          </a:xfrm>
          <a:prstGeom prst="roundRect">
            <a:avLst>
              <a:gd name="adj" fmla="val 50000"/>
            </a:avLst>
          </a:prstGeom>
          <a:solidFill>
            <a:srgbClr val="EF4444"/>
          </a:solidFill>
          <a:ln w="12700">
            <a:solidFill>
              <a:srgbClr val="EF4444"/>
            </a:solidFill>
            <a:prstDash val="solid"/>
          </a:ln>
        </p:spPr>
      </p:sp>
      <p:sp>
        <p:nvSpPr>
          <p:cNvPr id="66" name="Text 64"/>
          <p:cNvSpPr/>
          <p:nvPr/>
        </p:nvSpPr>
        <p:spPr>
          <a:xfrm>
            <a:off x="6720840" y="4645152"/>
            <a:ext cx="114300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Rejected</a:t>
            </a:r>
            <a:endParaRPr lang="en-US" sz="900" dirty="0"/>
          </a:p>
        </p:txBody>
      </p:sp>
      <p:sp>
        <p:nvSpPr>
          <p:cNvPr id="67" name="Text 65"/>
          <p:cNvSpPr/>
          <p:nvPr/>
        </p:nvSpPr>
        <p:spPr>
          <a:xfrm>
            <a:off x="7955280" y="4645152"/>
            <a:ext cx="3611880" cy="64008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Review the feedback note, edit, resubmit from All Tasks.</a:t>
            </a:r>
            <a:endParaRPr lang="en-US" sz="1000" dirty="0"/>
          </a:p>
        </p:txBody>
      </p:sp>
      <p:sp>
        <p:nvSpPr>
          <p:cNvPr id="68" name="Text 66"/>
          <p:cNvSpPr/>
          <p:nvPr/>
        </p:nvSpPr>
        <p:spPr>
          <a:xfrm>
            <a:off x="6537960" y="5760720"/>
            <a:ext cx="507492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You'll find all your submissions under Sidebar → Task Status.</a:t>
            </a:r>
            <a:endParaRPr lang="en-US" sz="1000" dirty="0"/>
          </a:p>
        </p:txBody>
      </p:sp>
      <p:sp>
        <p:nvSpPr>
          <p:cNvPr id="69" name="Text 67"/>
          <p:cNvSpPr/>
          <p:nvPr/>
        </p:nvSpPr>
        <p:spPr>
          <a:xfrm>
            <a:off x="6537960" y="6035040"/>
            <a:ext cx="507492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Rejected? Read the note, Edit, Save — it re-enters the queue.</a:t>
            </a:r>
            <a:endParaRPr lang="en-US" sz="1000" dirty="0"/>
          </a:p>
        </p:txBody>
      </p:sp>
      <p:sp>
        <p:nvSpPr>
          <p:cNvPr id="70" name="Text 6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71" name="Text 69"/>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14 / 28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12 — Edit, delete, resubmit</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Every task row in All Tasks has two icon buttons at the end: Edit (pencil) and Delete (trash).</a:t>
            </a:r>
            <a:endParaRPr lang="en-US" sz="1400" dirty="0"/>
          </a:p>
        </p:txBody>
      </p:sp>
      <p:sp>
        <p:nvSpPr>
          <p:cNvPr id="4" name="Shape 2"/>
          <p:cNvSpPr/>
          <p:nvPr/>
        </p:nvSpPr>
        <p:spPr>
          <a:xfrm>
            <a:off x="502920" y="1783080"/>
            <a:ext cx="7132320" cy="4663440"/>
          </a:xfrm>
          <a:prstGeom prst="roundRect">
            <a:avLst>
              <a:gd name="adj" fmla="val 1961"/>
            </a:avLst>
          </a:prstGeom>
          <a:solidFill>
            <a:srgbClr val="0B1223"/>
          </a:solidFill>
          <a:ln w="12700">
            <a:solidFill>
              <a:srgbClr val="CADCFC"/>
            </a:solidFill>
            <a:prstDash val="solid"/>
          </a:ln>
        </p:spPr>
      </p:sp>
      <p:sp>
        <p:nvSpPr>
          <p:cNvPr id="5" name="Shape 3"/>
          <p:cNvSpPr/>
          <p:nvPr/>
        </p:nvSpPr>
        <p:spPr>
          <a:xfrm>
            <a:off x="548640" y="1828800"/>
            <a:ext cx="7040880" cy="274320"/>
          </a:xfrm>
          <a:prstGeom prst="rect">
            <a:avLst/>
          </a:prstGeom>
          <a:solidFill>
            <a:srgbClr val="111833"/>
          </a:solidFill>
          <a:ln w="12700">
            <a:solidFill>
              <a:srgbClr val="111833"/>
            </a:solidFill>
            <a:prstDash val="solid"/>
          </a:ln>
        </p:spPr>
      </p:sp>
      <p:sp>
        <p:nvSpPr>
          <p:cNvPr id="6" name="Shape 4"/>
          <p:cNvSpPr/>
          <p:nvPr/>
        </p:nvSpPr>
        <p:spPr>
          <a:xfrm>
            <a:off x="640080" y="1892808"/>
            <a:ext cx="109728" cy="109728"/>
          </a:xfrm>
          <a:prstGeom prst="ellipse">
            <a:avLst/>
          </a:prstGeom>
          <a:solidFill>
            <a:srgbClr val="EF4444"/>
          </a:solidFill>
          <a:ln w="12700">
            <a:solidFill>
              <a:srgbClr val="EF4444"/>
            </a:solidFill>
            <a:prstDash val="solid"/>
          </a:ln>
        </p:spPr>
      </p:sp>
      <p:sp>
        <p:nvSpPr>
          <p:cNvPr id="7" name="Shape 5"/>
          <p:cNvSpPr/>
          <p:nvPr/>
        </p:nvSpPr>
        <p:spPr>
          <a:xfrm>
            <a:off x="786384" y="1892808"/>
            <a:ext cx="109728" cy="109728"/>
          </a:xfrm>
          <a:prstGeom prst="ellipse">
            <a:avLst/>
          </a:prstGeom>
          <a:solidFill>
            <a:srgbClr val="F59E0B"/>
          </a:solidFill>
          <a:ln w="12700">
            <a:solidFill>
              <a:srgbClr val="F59E0B"/>
            </a:solidFill>
            <a:prstDash val="solid"/>
          </a:ln>
        </p:spPr>
      </p:sp>
      <p:sp>
        <p:nvSpPr>
          <p:cNvPr id="8" name="Shape 6"/>
          <p:cNvSpPr/>
          <p:nvPr/>
        </p:nvSpPr>
        <p:spPr>
          <a:xfrm>
            <a:off x="932688" y="1892808"/>
            <a:ext cx="109728" cy="109728"/>
          </a:xfrm>
          <a:prstGeom prst="ellipse">
            <a:avLst/>
          </a:prstGeom>
          <a:solidFill>
            <a:srgbClr val="10B981"/>
          </a:solidFill>
          <a:ln w="12700">
            <a:solidFill>
              <a:srgbClr val="10B981"/>
            </a:solidFill>
            <a:prstDash val="solid"/>
          </a:ln>
        </p:spPr>
      </p:sp>
      <p:sp>
        <p:nvSpPr>
          <p:cNvPr id="9" name="Text 7"/>
          <p:cNvSpPr/>
          <p:nvPr/>
        </p:nvSpPr>
        <p:spPr>
          <a:xfrm>
            <a:off x="731520" y="1920240"/>
            <a:ext cx="64008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All Tasks — row actions</a:t>
            </a:r>
            <a:endParaRPr lang="en-US" sz="1400" dirty="0"/>
          </a:p>
        </p:txBody>
      </p:sp>
      <p:sp>
        <p:nvSpPr>
          <p:cNvPr id="10" name="Text 8"/>
          <p:cNvSpPr/>
          <p:nvPr/>
        </p:nvSpPr>
        <p:spPr>
          <a:xfrm>
            <a:off x="731520" y="2331720"/>
            <a:ext cx="822960" cy="228600"/>
          </a:xfrm>
          <a:prstGeom prst="rect">
            <a:avLst/>
          </a:prstGeom>
          <a:noFill/>
          <a:ln/>
        </p:spPr>
        <p:txBody>
          <a:bodyPr wrap="square" lIns="0" tIns="0" rIns="0" bIns="0" rtlCol="0" anchor="ctr"/>
          <a:lstStyle/>
          <a:p>
            <a:pPr indent="0" marL="0">
              <a:buNone/>
            </a:pPr>
            <a:r>
              <a:rPr lang="en-US" sz="800" b="1" dirty="0">
                <a:solidFill>
                  <a:srgbClr val="94A3B8"/>
                </a:solidFill>
              </a:rPr>
              <a:t>Project</a:t>
            </a:r>
            <a:endParaRPr lang="en-US" sz="800" dirty="0"/>
          </a:p>
        </p:txBody>
      </p:sp>
      <p:sp>
        <p:nvSpPr>
          <p:cNvPr id="11" name="Text 9"/>
          <p:cNvSpPr/>
          <p:nvPr/>
        </p:nvSpPr>
        <p:spPr>
          <a:xfrm>
            <a:off x="1581912" y="2331720"/>
            <a:ext cx="822960" cy="228600"/>
          </a:xfrm>
          <a:prstGeom prst="rect">
            <a:avLst/>
          </a:prstGeom>
          <a:noFill/>
          <a:ln/>
        </p:spPr>
        <p:txBody>
          <a:bodyPr wrap="square" lIns="0" tIns="0" rIns="0" bIns="0" rtlCol="0" anchor="ctr"/>
          <a:lstStyle/>
          <a:p>
            <a:pPr indent="0" marL="0">
              <a:buNone/>
            </a:pPr>
            <a:r>
              <a:rPr lang="en-US" sz="800" b="1" dirty="0">
                <a:solidFill>
                  <a:srgbClr val="94A3B8"/>
                </a:solidFill>
              </a:rPr>
              <a:t>Task</a:t>
            </a:r>
            <a:endParaRPr lang="en-US" sz="800" dirty="0"/>
          </a:p>
        </p:txBody>
      </p:sp>
      <p:sp>
        <p:nvSpPr>
          <p:cNvPr id="12" name="Text 10"/>
          <p:cNvSpPr/>
          <p:nvPr/>
        </p:nvSpPr>
        <p:spPr>
          <a:xfrm>
            <a:off x="2432304" y="2331720"/>
            <a:ext cx="822960" cy="228600"/>
          </a:xfrm>
          <a:prstGeom prst="rect">
            <a:avLst/>
          </a:prstGeom>
          <a:noFill/>
          <a:ln/>
        </p:spPr>
        <p:txBody>
          <a:bodyPr wrap="square" lIns="0" tIns="0" rIns="0" bIns="0" rtlCol="0" anchor="ctr"/>
          <a:lstStyle/>
          <a:p>
            <a:pPr indent="0" marL="0">
              <a:buNone/>
            </a:pPr>
            <a:r>
              <a:rPr lang="en-US" sz="800" b="1" dirty="0">
                <a:solidFill>
                  <a:srgbClr val="94A3B8"/>
                </a:solidFill>
              </a:rPr>
              <a:t>Tool</a:t>
            </a:r>
            <a:endParaRPr lang="en-US" sz="800" dirty="0"/>
          </a:p>
        </p:txBody>
      </p:sp>
      <p:sp>
        <p:nvSpPr>
          <p:cNvPr id="13" name="Text 11"/>
          <p:cNvSpPr/>
          <p:nvPr/>
        </p:nvSpPr>
        <p:spPr>
          <a:xfrm>
            <a:off x="3282696" y="2331720"/>
            <a:ext cx="822960" cy="228600"/>
          </a:xfrm>
          <a:prstGeom prst="rect">
            <a:avLst/>
          </a:prstGeom>
          <a:noFill/>
          <a:ln/>
        </p:spPr>
        <p:txBody>
          <a:bodyPr wrap="square" lIns="0" tIns="0" rIns="0" bIns="0" rtlCol="0" anchor="ctr"/>
          <a:lstStyle/>
          <a:p>
            <a:pPr indent="0" marL="0">
              <a:buNone/>
            </a:pPr>
            <a:r>
              <a:rPr lang="en-US" sz="800" b="1" dirty="0">
                <a:solidFill>
                  <a:srgbClr val="94A3B8"/>
                </a:solidFill>
              </a:rPr>
              <a:t>Without</a:t>
            </a:r>
            <a:endParaRPr lang="en-US" sz="800" dirty="0"/>
          </a:p>
        </p:txBody>
      </p:sp>
      <p:sp>
        <p:nvSpPr>
          <p:cNvPr id="14" name="Text 12"/>
          <p:cNvSpPr/>
          <p:nvPr/>
        </p:nvSpPr>
        <p:spPr>
          <a:xfrm>
            <a:off x="4133088" y="2331720"/>
            <a:ext cx="822960" cy="228600"/>
          </a:xfrm>
          <a:prstGeom prst="rect">
            <a:avLst/>
          </a:prstGeom>
          <a:noFill/>
          <a:ln/>
        </p:spPr>
        <p:txBody>
          <a:bodyPr wrap="square" lIns="0" tIns="0" rIns="0" bIns="0" rtlCol="0" anchor="ctr"/>
          <a:lstStyle/>
          <a:p>
            <a:pPr indent="0" marL="0">
              <a:buNone/>
            </a:pPr>
            <a:r>
              <a:rPr lang="en-US" sz="800" b="1" dirty="0">
                <a:solidFill>
                  <a:srgbClr val="94A3B8"/>
                </a:solidFill>
              </a:rPr>
              <a:t>With</a:t>
            </a:r>
            <a:endParaRPr lang="en-US" sz="800" dirty="0"/>
          </a:p>
        </p:txBody>
      </p:sp>
      <p:sp>
        <p:nvSpPr>
          <p:cNvPr id="15" name="Text 13"/>
          <p:cNvSpPr/>
          <p:nvPr/>
        </p:nvSpPr>
        <p:spPr>
          <a:xfrm>
            <a:off x="4983480" y="2331720"/>
            <a:ext cx="822960" cy="228600"/>
          </a:xfrm>
          <a:prstGeom prst="rect">
            <a:avLst/>
          </a:prstGeom>
          <a:noFill/>
          <a:ln/>
        </p:spPr>
        <p:txBody>
          <a:bodyPr wrap="square" lIns="0" tIns="0" rIns="0" bIns="0" rtlCol="0" anchor="ctr"/>
          <a:lstStyle/>
          <a:p>
            <a:pPr indent="0" marL="0">
              <a:buNone/>
            </a:pPr>
            <a:r>
              <a:rPr lang="en-US" sz="800" b="1" dirty="0">
                <a:solidFill>
                  <a:srgbClr val="94A3B8"/>
                </a:solidFill>
              </a:rPr>
              <a:t>Saved</a:t>
            </a:r>
            <a:endParaRPr lang="en-US" sz="800" dirty="0"/>
          </a:p>
        </p:txBody>
      </p:sp>
      <p:sp>
        <p:nvSpPr>
          <p:cNvPr id="16" name="Text 14"/>
          <p:cNvSpPr/>
          <p:nvPr/>
        </p:nvSpPr>
        <p:spPr>
          <a:xfrm>
            <a:off x="5833872" y="2331720"/>
            <a:ext cx="822960" cy="228600"/>
          </a:xfrm>
          <a:prstGeom prst="rect">
            <a:avLst/>
          </a:prstGeom>
          <a:noFill/>
          <a:ln/>
        </p:spPr>
        <p:txBody>
          <a:bodyPr wrap="square" lIns="0" tIns="0" rIns="0" bIns="0" rtlCol="0" anchor="ctr"/>
          <a:lstStyle/>
          <a:p>
            <a:pPr indent="0" marL="0">
              <a:buNone/>
            </a:pPr>
            <a:r>
              <a:rPr lang="en-US" sz="800" b="1" dirty="0">
                <a:solidFill>
                  <a:srgbClr val="94A3B8"/>
                </a:solidFill>
              </a:rPr>
              <a:t>Status</a:t>
            </a:r>
            <a:endParaRPr lang="en-US" sz="800" dirty="0"/>
          </a:p>
        </p:txBody>
      </p:sp>
      <p:sp>
        <p:nvSpPr>
          <p:cNvPr id="17" name="Text 15"/>
          <p:cNvSpPr/>
          <p:nvPr/>
        </p:nvSpPr>
        <p:spPr>
          <a:xfrm>
            <a:off x="6684264" y="2331720"/>
            <a:ext cx="822960" cy="228600"/>
          </a:xfrm>
          <a:prstGeom prst="rect">
            <a:avLst/>
          </a:prstGeom>
          <a:noFill/>
          <a:ln/>
        </p:spPr>
        <p:txBody>
          <a:bodyPr wrap="square" lIns="0" tIns="0" rIns="0" bIns="0" rtlCol="0" anchor="ctr"/>
          <a:lstStyle/>
          <a:p>
            <a:pPr indent="0" marL="0">
              <a:buNone/>
            </a:pPr>
            <a:r>
              <a:rPr lang="en-US" sz="800" b="1" dirty="0">
                <a:solidFill>
                  <a:srgbClr val="94A3B8"/>
                </a:solidFill>
              </a:rPr>
              <a:t>Actions</a:t>
            </a:r>
            <a:endParaRPr lang="en-US" sz="800" dirty="0"/>
          </a:p>
        </p:txBody>
      </p:sp>
      <p:sp>
        <p:nvSpPr>
          <p:cNvPr id="18" name="Shape 16"/>
          <p:cNvSpPr/>
          <p:nvPr/>
        </p:nvSpPr>
        <p:spPr>
          <a:xfrm>
            <a:off x="731520" y="2697480"/>
            <a:ext cx="6720840" cy="685800"/>
          </a:xfrm>
          <a:prstGeom prst="roundRect">
            <a:avLst>
              <a:gd name="adj" fmla="val 10667"/>
            </a:avLst>
          </a:prstGeom>
          <a:solidFill>
            <a:srgbClr val="141B36"/>
          </a:solidFill>
          <a:ln w="12700">
            <a:solidFill>
              <a:srgbClr val="2A3560"/>
            </a:solidFill>
            <a:prstDash val="solid"/>
          </a:ln>
        </p:spPr>
      </p:sp>
      <p:sp>
        <p:nvSpPr>
          <p:cNvPr id="19" name="Text 17"/>
          <p:cNvSpPr/>
          <p:nvPr/>
        </p:nvSpPr>
        <p:spPr>
          <a:xfrm>
            <a:off x="777240" y="2898648"/>
            <a:ext cx="804672" cy="320040"/>
          </a:xfrm>
          <a:prstGeom prst="rect">
            <a:avLst/>
          </a:prstGeom>
          <a:noFill/>
          <a:ln/>
        </p:spPr>
        <p:txBody>
          <a:bodyPr wrap="square" lIns="0" tIns="0" rIns="0" bIns="0" rtlCol="0" anchor="ctr"/>
          <a:lstStyle/>
          <a:p>
            <a:pPr indent="0" marL="0">
              <a:buNone/>
            </a:pPr>
            <a:r>
              <a:rPr lang="en-US" sz="900" dirty="0">
                <a:solidFill>
                  <a:srgbClr val="FFFFFF"/>
                </a:solidFill>
              </a:rPr>
              <a:t>ANB EPS</a:t>
            </a:r>
            <a:endParaRPr lang="en-US" sz="900" dirty="0"/>
          </a:p>
        </p:txBody>
      </p:sp>
      <p:sp>
        <p:nvSpPr>
          <p:cNvPr id="20" name="Text 18"/>
          <p:cNvSpPr/>
          <p:nvPr/>
        </p:nvSpPr>
        <p:spPr>
          <a:xfrm>
            <a:off x="1627632" y="2898648"/>
            <a:ext cx="804672" cy="320040"/>
          </a:xfrm>
          <a:prstGeom prst="rect">
            <a:avLst/>
          </a:prstGeom>
          <a:noFill/>
          <a:ln/>
        </p:spPr>
        <p:txBody>
          <a:bodyPr wrap="square" lIns="0" tIns="0" rIns="0" bIns="0" rtlCol="0" anchor="ctr"/>
          <a:lstStyle/>
          <a:p>
            <a:pPr indent="0" marL="0">
              <a:buNone/>
            </a:pPr>
            <a:r>
              <a:rPr lang="en-US" sz="900" dirty="0">
                <a:solidFill>
                  <a:srgbClr val="FFFFFF"/>
                </a:solidFill>
              </a:rPr>
              <a:t>Scaffold claims</a:t>
            </a:r>
            <a:endParaRPr lang="en-US" sz="900" dirty="0"/>
          </a:p>
        </p:txBody>
      </p:sp>
      <p:sp>
        <p:nvSpPr>
          <p:cNvPr id="21" name="Text 19"/>
          <p:cNvSpPr/>
          <p:nvPr/>
        </p:nvSpPr>
        <p:spPr>
          <a:xfrm>
            <a:off x="2478024" y="2898648"/>
            <a:ext cx="804672" cy="320040"/>
          </a:xfrm>
          <a:prstGeom prst="rect">
            <a:avLst/>
          </a:prstGeom>
          <a:noFill/>
          <a:ln/>
        </p:spPr>
        <p:txBody>
          <a:bodyPr wrap="square" lIns="0" tIns="0" rIns="0" bIns="0" rtlCol="0" anchor="ctr"/>
          <a:lstStyle/>
          <a:p>
            <a:pPr indent="0" marL="0">
              <a:buNone/>
            </a:pPr>
            <a:r>
              <a:rPr lang="en-US" sz="900" dirty="0">
                <a:solidFill>
                  <a:srgbClr val="FFFFFF"/>
                </a:solidFill>
              </a:rPr>
              <a:t>Copilot</a:t>
            </a:r>
            <a:endParaRPr lang="en-US" sz="900" dirty="0"/>
          </a:p>
        </p:txBody>
      </p:sp>
      <p:sp>
        <p:nvSpPr>
          <p:cNvPr id="22" name="Text 20"/>
          <p:cNvSpPr/>
          <p:nvPr/>
        </p:nvSpPr>
        <p:spPr>
          <a:xfrm>
            <a:off x="3328416" y="2898648"/>
            <a:ext cx="804672" cy="320040"/>
          </a:xfrm>
          <a:prstGeom prst="rect">
            <a:avLst/>
          </a:prstGeom>
          <a:noFill/>
          <a:ln/>
        </p:spPr>
        <p:txBody>
          <a:bodyPr wrap="square" lIns="0" tIns="0" rIns="0" bIns="0" rtlCol="0" anchor="ctr"/>
          <a:lstStyle/>
          <a:p>
            <a:pPr indent="0" marL="0">
              <a:buNone/>
            </a:pPr>
            <a:r>
              <a:rPr lang="en-US" sz="900" dirty="0">
                <a:solidFill>
                  <a:srgbClr val="FFFFFF"/>
                </a:solidFill>
              </a:rPr>
              <a:t>8.0</a:t>
            </a:r>
            <a:endParaRPr lang="en-US" sz="900" dirty="0"/>
          </a:p>
        </p:txBody>
      </p:sp>
      <p:sp>
        <p:nvSpPr>
          <p:cNvPr id="23" name="Text 21"/>
          <p:cNvSpPr/>
          <p:nvPr/>
        </p:nvSpPr>
        <p:spPr>
          <a:xfrm>
            <a:off x="4178808" y="2898648"/>
            <a:ext cx="804672" cy="320040"/>
          </a:xfrm>
          <a:prstGeom prst="rect">
            <a:avLst/>
          </a:prstGeom>
          <a:noFill/>
          <a:ln/>
        </p:spPr>
        <p:txBody>
          <a:bodyPr wrap="square" lIns="0" tIns="0" rIns="0" bIns="0" rtlCol="0" anchor="ctr"/>
          <a:lstStyle/>
          <a:p>
            <a:pPr indent="0" marL="0">
              <a:buNone/>
            </a:pPr>
            <a:r>
              <a:rPr lang="en-US" sz="900" dirty="0">
                <a:solidFill>
                  <a:srgbClr val="FFFFFF"/>
                </a:solidFill>
              </a:rPr>
              <a:t>2.5</a:t>
            </a:r>
            <a:endParaRPr lang="en-US" sz="900" dirty="0"/>
          </a:p>
        </p:txBody>
      </p:sp>
      <p:sp>
        <p:nvSpPr>
          <p:cNvPr id="24" name="Text 22"/>
          <p:cNvSpPr/>
          <p:nvPr/>
        </p:nvSpPr>
        <p:spPr>
          <a:xfrm>
            <a:off x="5029200" y="2898648"/>
            <a:ext cx="804672" cy="320040"/>
          </a:xfrm>
          <a:prstGeom prst="rect">
            <a:avLst/>
          </a:prstGeom>
          <a:noFill/>
          <a:ln/>
        </p:spPr>
        <p:txBody>
          <a:bodyPr wrap="square" lIns="0" tIns="0" rIns="0" bIns="0" rtlCol="0" anchor="ctr"/>
          <a:lstStyle/>
          <a:p>
            <a:pPr indent="0" marL="0">
              <a:buNone/>
            </a:pPr>
            <a:r>
              <a:rPr lang="en-US" sz="900" dirty="0">
                <a:solidFill>
                  <a:srgbClr val="FFFFFF"/>
                </a:solidFill>
              </a:rPr>
              <a:t>5.5</a:t>
            </a:r>
            <a:endParaRPr lang="en-US" sz="900" dirty="0"/>
          </a:p>
        </p:txBody>
      </p:sp>
      <p:sp>
        <p:nvSpPr>
          <p:cNvPr id="25" name="Shape 23"/>
          <p:cNvSpPr/>
          <p:nvPr/>
        </p:nvSpPr>
        <p:spPr>
          <a:xfrm>
            <a:off x="5879592" y="2898648"/>
            <a:ext cx="777240" cy="292608"/>
          </a:xfrm>
          <a:prstGeom prst="roundRect">
            <a:avLst>
              <a:gd name="adj" fmla="val 50000"/>
            </a:avLst>
          </a:prstGeom>
          <a:solidFill>
            <a:srgbClr val="10B981"/>
          </a:solidFill>
          <a:ln w="12700">
            <a:solidFill>
              <a:srgbClr val="10B981"/>
            </a:solidFill>
            <a:prstDash val="solid"/>
          </a:ln>
        </p:spPr>
      </p:sp>
      <p:sp>
        <p:nvSpPr>
          <p:cNvPr id="26" name="Text 24"/>
          <p:cNvSpPr/>
          <p:nvPr/>
        </p:nvSpPr>
        <p:spPr>
          <a:xfrm>
            <a:off x="5879592" y="2898648"/>
            <a:ext cx="7772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Approved</a:t>
            </a:r>
            <a:endParaRPr lang="en-US" sz="900" dirty="0"/>
          </a:p>
        </p:txBody>
      </p:sp>
      <p:sp>
        <p:nvSpPr>
          <p:cNvPr id="27" name="Shape 25"/>
          <p:cNvSpPr/>
          <p:nvPr/>
        </p:nvSpPr>
        <p:spPr>
          <a:xfrm>
            <a:off x="6675120" y="2862072"/>
            <a:ext cx="320040" cy="320040"/>
          </a:xfrm>
          <a:prstGeom prst="roundRect">
            <a:avLst>
              <a:gd name="adj" fmla="val 17143"/>
            </a:avLst>
          </a:prstGeom>
          <a:solidFill>
            <a:srgbClr val="1A2244"/>
          </a:solidFill>
          <a:ln w="12700">
            <a:solidFill>
              <a:srgbClr val="3B82F6"/>
            </a:solidFill>
            <a:prstDash val="solid"/>
          </a:ln>
        </p:spPr>
      </p:sp>
      <p:sp>
        <p:nvSpPr>
          <p:cNvPr id="28" name="Text 26"/>
          <p:cNvSpPr/>
          <p:nvPr/>
        </p:nvSpPr>
        <p:spPr>
          <a:xfrm>
            <a:off x="6675120" y="2862072"/>
            <a:ext cx="320040" cy="320040"/>
          </a:xfrm>
          <a:prstGeom prst="rect">
            <a:avLst/>
          </a:prstGeom>
          <a:noFill/>
          <a:ln/>
        </p:spPr>
        <p:txBody>
          <a:bodyPr wrap="square" lIns="0" tIns="0" rIns="0" bIns="0" rtlCol="0" anchor="ctr"/>
          <a:lstStyle/>
          <a:p>
            <a:pPr algn="ctr" indent="0" marL="0">
              <a:buNone/>
            </a:pPr>
            <a:r>
              <a:rPr lang="en-US" sz="1200" dirty="0">
                <a:solidFill>
                  <a:srgbClr val="3B82F6"/>
                </a:solidFill>
              </a:rPr>
              <a:t>✎</a:t>
            </a:r>
            <a:endParaRPr lang="en-US" sz="1200" dirty="0"/>
          </a:p>
        </p:txBody>
      </p:sp>
      <p:sp>
        <p:nvSpPr>
          <p:cNvPr id="29" name="Shape 27"/>
          <p:cNvSpPr/>
          <p:nvPr/>
        </p:nvSpPr>
        <p:spPr>
          <a:xfrm>
            <a:off x="7059168" y="2862072"/>
            <a:ext cx="320040" cy="320040"/>
          </a:xfrm>
          <a:prstGeom prst="roundRect">
            <a:avLst>
              <a:gd name="adj" fmla="val 17143"/>
            </a:avLst>
          </a:prstGeom>
          <a:solidFill>
            <a:srgbClr val="1A2244"/>
          </a:solidFill>
          <a:ln w="12700">
            <a:solidFill>
              <a:srgbClr val="EF4444"/>
            </a:solidFill>
            <a:prstDash val="solid"/>
          </a:ln>
        </p:spPr>
      </p:sp>
      <p:sp>
        <p:nvSpPr>
          <p:cNvPr id="30" name="Text 28"/>
          <p:cNvSpPr/>
          <p:nvPr/>
        </p:nvSpPr>
        <p:spPr>
          <a:xfrm>
            <a:off x="7059168" y="2862072"/>
            <a:ext cx="320040" cy="320040"/>
          </a:xfrm>
          <a:prstGeom prst="rect">
            <a:avLst/>
          </a:prstGeom>
          <a:noFill/>
          <a:ln/>
        </p:spPr>
        <p:txBody>
          <a:bodyPr wrap="square" lIns="0" tIns="0" rIns="0" bIns="0" rtlCol="0" anchor="ctr"/>
          <a:lstStyle/>
          <a:p>
            <a:pPr algn="ctr" indent="0" marL="0">
              <a:buNone/>
            </a:pPr>
            <a:r>
              <a:rPr lang="en-US" sz="1200" b="1" dirty="0">
                <a:solidFill>
                  <a:srgbClr val="EF4444"/>
                </a:solidFill>
              </a:rPr>
              <a:t>✗</a:t>
            </a:r>
            <a:endParaRPr lang="en-US" sz="1200" dirty="0"/>
          </a:p>
        </p:txBody>
      </p:sp>
      <p:sp>
        <p:nvSpPr>
          <p:cNvPr id="31" name="Shape 29"/>
          <p:cNvSpPr/>
          <p:nvPr/>
        </p:nvSpPr>
        <p:spPr>
          <a:xfrm>
            <a:off x="731520" y="3520440"/>
            <a:ext cx="6720840" cy="685800"/>
          </a:xfrm>
          <a:prstGeom prst="roundRect">
            <a:avLst>
              <a:gd name="adj" fmla="val 10667"/>
            </a:avLst>
          </a:prstGeom>
          <a:solidFill>
            <a:srgbClr val="141B36"/>
          </a:solidFill>
          <a:ln w="12700">
            <a:solidFill>
              <a:srgbClr val="2A3560"/>
            </a:solidFill>
            <a:prstDash val="solid"/>
          </a:ln>
        </p:spPr>
      </p:sp>
      <p:sp>
        <p:nvSpPr>
          <p:cNvPr id="32" name="Text 30"/>
          <p:cNvSpPr/>
          <p:nvPr/>
        </p:nvSpPr>
        <p:spPr>
          <a:xfrm>
            <a:off x="777240" y="3721608"/>
            <a:ext cx="804672" cy="320040"/>
          </a:xfrm>
          <a:prstGeom prst="rect">
            <a:avLst/>
          </a:prstGeom>
          <a:noFill/>
          <a:ln/>
        </p:spPr>
        <p:txBody>
          <a:bodyPr wrap="square" lIns="0" tIns="0" rIns="0" bIns="0" rtlCol="0" anchor="ctr"/>
          <a:lstStyle/>
          <a:p>
            <a:pPr indent="0" marL="0">
              <a:buNone/>
            </a:pPr>
            <a:r>
              <a:rPr lang="en-US" sz="900" dirty="0">
                <a:solidFill>
                  <a:srgbClr val="FFFFFF"/>
                </a:solidFill>
              </a:rPr>
              <a:t>ANB EPS</a:t>
            </a:r>
            <a:endParaRPr lang="en-US" sz="900" dirty="0"/>
          </a:p>
        </p:txBody>
      </p:sp>
      <p:sp>
        <p:nvSpPr>
          <p:cNvPr id="33" name="Text 31"/>
          <p:cNvSpPr/>
          <p:nvPr/>
        </p:nvSpPr>
        <p:spPr>
          <a:xfrm>
            <a:off x="1627632" y="3721608"/>
            <a:ext cx="804672" cy="320040"/>
          </a:xfrm>
          <a:prstGeom prst="rect">
            <a:avLst/>
          </a:prstGeom>
          <a:noFill/>
          <a:ln/>
        </p:spPr>
        <p:txBody>
          <a:bodyPr wrap="square" lIns="0" tIns="0" rIns="0" bIns="0" rtlCol="0" anchor="ctr"/>
          <a:lstStyle/>
          <a:p>
            <a:pPr indent="0" marL="0">
              <a:buNone/>
            </a:pPr>
            <a:r>
              <a:rPr lang="en-US" sz="900" dirty="0">
                <a:solidFill>
                  <a:srgbClr val="FFFFFF"/>
                </a:solidFill>
              </a:rPr>
              <a:t>Scaffold claims</a:t>
            </a:r>
            <a:endParaRPr lang="en-US" sz="900" dirty="0"/>
          </a:p>
        </p:txBody>
      </p:sp>
      <p:sp>
        <p:nvSpPr>
          <p:cNvPr id="34" name="Text 32"/>
          <p:cNvSpPr/>
          <p:nvPr/>
        </p:nvSpPr>
        <p:spPr>
          <a:xfrm>
            <a:off x="2478024" y="3721608"/>
            <a:ext cx="804672" cy="320040"/>
          </a:xfrm>
          <a:prstGeom prst="rect">
            <a:avLst/>
          </a:prstGeom>
          <a:noFill/>
          <a:ln/>
        </p:spPr>
        <p:txBody>
          <a:bodyPr wrap="square" lIns="0" tIns="0" rIns="0" bIns="0" rtlCol="0" anchor="ctr"/>
          <a:lstStyle/>
          <a:p>
            <a:pPr indent="0" marL="0">
              <a:buNone/>
            </a:pPr>
            <a:r>
              <a:rPr lang="en-US" sz="900" dirty="0">
                <a:solidFill>
                  <a:srgbClr val="FFFFFF"/>
                </a:solidFill>
              </a:rPr>
              <a:t>Copilot</a:t>
            </a:r>
            <a:endParaRPr lang="en-US" sz="900" dirty="0"/>
          </a:p>
        </p:txBody>
      </p:sp>
      <p:sp>
        <p:nvSpPr>
          <p:cNvPr id="35" name="Text 33"/>
          <p:cNvSpPr/>
          <p:nvPr/>
        </p:nvSpPr>
        <p:spPr>
          <a:xfrm>
            <a:off x="3328416" y="3721608"/>
            <a:ext cx="804672" cy="320040"/>
          </a:xfrm>
          <a:prstGeom prst="rect">
            <a:avLst/>
          </a:prstGeom>
          <a:noFill/>
          <a:ln/>
        </p:spPr>
        <p:txBody>
          <a:bodyPr wrap="square" lIns="0" tIns="0" rIns="0" bIns="0" rtlCol="0" anchor="ctr"/>
          <a:lstStyle/>
          <a:p>
            <a:pPr indent="0" marL="0">
              <a:buNone/>
            </a:pPr>
            <a:r>
              <a:rPr lang="en-US" sz="900" dirty="0">
                <a:solidFill>
                  <a:srgbClr val="FFFFFF"/>
                </a:solidFill>
              </a:rPr>
              <a:t>8.0</a:t>
            </a:r>
            <a:endParaRPr lang="en-US" sz="900" dirty="0"/>
          </a:p>
        </p:txBody>
      </p:sp>
      <p:sp>
        <p:nvSpPr>
          <p:cNvPr id="36" name="Text 34"/>
          <p:cNvSpPr/>
          <p:nvPr/>
        </p:nvSpPr>
        <p:spPr>
          <a:xfrm>
            <a:off x="4178808" y="3721608"/>
            <a:ext cx="804672" cy="320040"/>
          </a:xfrm>
          <a:prstGeom prst="rect">
            <a:avLst/>
          </a:prstGeom>
          <a:noFill/>
          <a:ln/>
        </p:spPr>
        <p:txBody>
          <a:bodyPr wrap="square" lIns="0" tIns="0" rIns="0" bIns="0" rtlCol="0" anchor="ctr"/>
          <a:lstStyle/>
          <a:p>
            <a:pPr indent="0" marL="0">
              <a:buNone/>
            </a:pPr>
            <a:r>
              <a:rPr lang="en-US" sz="900" dirty="0">
                <a:solidFill>
                  <a:srgbClr val="FFFFFF"/>
                </a:solidFill>
              </a:rPr>
              <a:t>2.5</a:t>
            </a:r>
            <a:endParaRPr lang="en-US" sz="900" dirty="0"/>
          </a:p>
        </p:txBody>
      </p:sp>
      <p:sp>
        <p:nvSpPr>
          <p:cNvPr id="37" name="Text 35"/>
          <p:cNvSpPr/>
          <p:nvPr/>
        </p:nvSpPr>
        <p:spPr>
          <a:xfrm>
            <a:off x="5029200" y="3721608"/>
            <a:ext cx="804672" cy="320040"/>
          </a:xfrm>
          <a:prstGeom prst="rect">
            <a:avLst/>
          </a:prstGeom>
          <a:noFill/>
          <a:ln/>
        </p:spPr>
        <p:txBody>
          <a:bodyPr wrap="square" lIns="0" tIns="0" rIns="0" bIns="0" rtlCol="0" anchor="ctr"/>
          <a:lstStyle/>
          <a:p>
            <a:pPr indent="0" marL="0">
              <a:buNone/>
            </a:pPr>
            <a:r>
              <a:rPr lang="en-US" sz="900" dirty="0">
                <a:solidFill>
                  <a:srgbClr val="FFFFFF"/>
                </a:solidFill>
              </a:rPr>
              <a:t>5.5</a:t>
            </a:r>
            <a:endParaRPr lang="en-US" sz="900" dirty="0"/>
          </a:p>
        </p:txBody>
      </p:sp>
      <p:sp>
        <p:nvSpPr>
          <p:cNvPr id="38" name="Shape 36"/>
          <p:cNvSpPr/>
          <p:nvPr/>
        </p:nvSpPr>
        <p:spPr>
          <a:xfrm>
            <a:off x="5879592" y="3721608"/>
            <a:ext cx="777240" cy="292608"/>
          </a:xfrm>
          <a:prstGeom prst="roundRect">
            <a:avLst>
              <a:gd name="adj" fmla="val 50000"/>
            </a:avLst>
          </a:prstGeom>
          <a:solidFill>
            <a:srgbClr val="10B981"/>
          </a:solidFill>
          <a:ln w="12700">
            <a:solidFill>
              <a:srgbClr val="10B981"/>
            </a:solidFill>
            <a:prstDash val="solid"/>
          </a:ln>
        </p:spPr>
      </p:sp>
      <p:sp>
        <p:nvSpPr>
          <p:cNvPr id="39" name="Text 37"/>
          <p:cNvSpPr/>
          <p:nvPr/>
        </p:nvSpPr>
        <p:spPr>
          <a:xfrm>
            <a:off x="5879592" y="3721608"/>
            <a:ext cx="7772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Approved</a:t>
            </a:r>
            <a:endParaRPr lang="en-US" sz="900" dirty="0"/>
          </a:p>
        </p:txBody>
      </p:sp>
      <p:sp>
        <p:nvSpPr>
          <p:cNvPr id="40" name="Shape 38"/>
          <p:cNvSpPr/>
          <p:nvPr/>
        </p:nvSpPr>
        <p:spPr>
          <a:xfrm>
            <a:off x="6675120" y="3685032"/>
            <a:ext cx="320040" cy="320040"/>
          </a:xfrm>
          <a:prstGeom prst="roundRect">
            <a:avLst>
              <a:gd name="adj" fmla="val 17143"/>
            </a:avLst>
          </a:prstGeom>
          <a:solidFill>
            <a:srgbClr val="1A2244"/>
          </a:solidFill>
          <a:ln w="12700">
            <a:solidFill>
              <a:srgbClr val="3B82F6"/>
            </a:solidFill>
            <a:prstDash val="solid"/>
          </a:ln>
        </p:spPr>
      </p:sp>
      <p:sp>
        <p:nvSpPr>
          <p:cNvPr id="41" name="Text 39"/>
          <p:cNvSpPr/>
          <p:nvPr/>
        </p:nvSpPr>
        <p:spPr>
          <a:xfrm>
            <a:off x="6675120" y="3685032"/>
            <a:ext cx="320040" cy="320040"/>
          </a:xfrm>
          <a:prstGeom prst="rect">
            <a:avLst/>
          </a:prstGeom>
          <a:noFill/>
          <a:ln/>
        </p:spPr>
        <p:txBody>
          <a:bodyPr wrap="square" lIns="0" tIns="0" rIns="0" bIns="0" rtlCol="0" anchor="ctr"/>
          <a:lstStyle/>
          <a:p>
            <a:pPr algn="ctr" indent="0" marL="0">
              <a:buNone/>
            </a:pPr>
            <a:r>
              <a:rPr lang="en-US" sz="1200" dirty="0">
                <a:solidFill>
                  <a:srgbClr val="3B82F6"/>
                </a:solidFill>
              </a:rPr>
              <a:t>✎</a:t>
            </a:r>
            <a:endParaRPr lang="en-US" sz="1200" dirty="0"/>
          </a:p>
        </p:txBody>
      </p:sp>
      <p:sp>
        <p:nvSpPr>
          <p:cNvPr id="42" name="Shape 40"/>
          <p:cNvSpPr/>
          <p:nvPr/>
        </p:nvSpPr>
        <p:spPr>
          <a:xfrm>
            <a:off x="7059168" y="3685032"/>
            <a:ext cx="320040" cy="320040"/>
          </a:xfrm>
          <a:prstGeom prst="roundRect">
            <a:avLst>
              <a:gd name="adj" fmla="val 17143"/>
            </a:avLst>
          </a:prstGeom>
          <a:solidFill>
            <a:srgbClr val="1A2244"/>
          </a:solidFill>
          <a:ln w="12700">
            <a:solidFill>
              <a:srgbClr val="EF4444"/>
            </a:solidFill>
            <a:prstDash val="solid"/>
          </a:ln>
        </p:spPr>
      </p:sp>
      <p:sp>
        <p:nvSpPr>
          <p:cNvPr id="43" name="Text 41"/>
          <p:cNvSpPr/>
          <p:nvPr/>
        </p:nvSpPr>
        <p:spPr>
          <a:xfrm>
            <a:off x="7059168" y="3685032"/>
            <a:ext cx="320040" cy="320040"/>
          </a:xfrm>
          <a:prstGeom prst="rect">
            <a:avLst/>
          </a:prstGeom>
          <a:noFill/>
          <a:ln/>
        </p:spPr>
        <p:txBody>
          <a:bodyPr wrap="square" lIns="0" tIns="0" rIns="0" bIns="0" rtlCol="0" anchor="ctr"/>
          <a:lstStyle/>
          <a:p>
            <a:pPr algn="ctr" indent="0" marL="0">
              <a:buNone/>
            </a:pPr>
            <a:r>
              <a:rPr lang="en-US" sz="1200" b="1" dirty="0">
                <a:solidFill>
                  <a:srgbClr val="EF4444"/>
                </a:solidFill>
              </a:rPr>
              <a:t>✗</a:t>
            </a:r>
            <a:endParaRPr lang="en-US" sz="1200" dirty="0"/>
          </a:p>
        </p:txBody>
      </p:sp>
      <p:sp>
        <p:nvSpPr>
          <p:cNvPr id="44" name="Shape 42"/>
          <p:cNvSpPr/>
          <p:nvPr/>
        </p:nvSpPr>
        <p:spPr>
          <a:xfrm>
            <a:off x="731520" y="4343400"/>
            <a:ext cx="6720840" cy="685800"/>
          </a:xfrm>
          <a:prstGeom prst="roundRect">
            <a:avLst>
              <a:gd name="adj" fmla="val 10667"/>
            </a:avLst>
          </a:prstGeom>
          <a:solidFill>
            <a:srgbClr val="141B36"/>
          </a:solidFill>
          <a:ln w="12700">
            <a:solidFill>
              <a:srgbClr val="2A3560"/>
            </a:solidFill>
            <a:prstDash val="solid"/>
          </a:ln>
        </p:spPr>
      </p:sp>
      <p:sp>
        <p:nvSpPr>
          <p:cNvPr id="45" name="Text 43"/>
          <p:cNvSpPr/>
          <p:nvPr/>
        </p:nvSpPr>
        <p:spPr>
          <a:xfrm>
            <a:off x="777240" y="4544568"/>
            <a:ext cx="804672" cy="320040"/>
          </a:xfrm>
          <a:prstGeom prst="rect">
            <a:avLst/>
          </a:prstGeom>
          <a:noFill/>
          <a:ln/>
        </p:spPr>
        <p:txBody>
          <a:bodyPr wrap="square" lIns="0" tIns="0" rIns="0" bIns="0" rtlCol="0" anchor="ctr"/>
          <a:lstStyle/>
          <a:p>
            <a:pPr indent="0" marL="0">
              <a:buNone/>
            </a:pPr>
            <a:r>
              <a:rPr lang="en-US" sz="900" dirty="0">
                <a:solidFill>
                  <a:srgbClr val="FFFFFF"/>
                </a:solidFill>
              </a:rPr>
              <a:t>ANB EPS</a:t>
            </a:r>
            <a:endParaRPr lang="en-US" sz="900" dirty="0"/>
          </a:p>
        </p:txBody>
      </p:sp>
      <p:sp>
        <p:nvSpPr>
          <p:cNvPr id="46" name="Text 44"/>
          <p:cNvSpPr/>
          <p:nvPr/>
        </p:nvSpPr>
        <p:spPr>
          <a:xfrm>
            <a:off x="1627632" y="4544568"/>
            <a:ext cx="804672" cy="320040"/>
          </a:xfrm>
          <a:prstGeom prst="rect">
            <a:avLst/>
          </a:prstGeom>
          <a:noFill/>
          <a:ln/>
        </p:spPr>
        <p:txBody>
          <a:bodyPr wrap="square" lIns="0" tIns="0" rIns="0" bIns="0" rtlCol="0" anchor="ctr"/>
          <a:lstStyle/>
          <a:p>
            <a:pPr indent="0" marL="0">
              <a:buNone/>
            </a:pPr>
            <a:r>
              <a:rPr lang="en-US" sz="900" dirty="0">
                <a:solidFill>
                  <a:srgbClr val="FFFFFF"/>
                </a:solidFill>
              </a:rPr>
              <a:t>Scaffold claims</a:t>
            </a:r>
            <a:endParaRPr lang="en-US" sz="900" dirty="0"/>
          </a:p>
        </p:txBody>
      </p:sp>
      <p:sp>
        <p:nvSpPr>
          <p:cNvPr id="47" name="Text 45"/>
          <p:cNvSpPr/>
          <p:nvPr/>
        </p:nvSpPr>
        <p:spPr>
          <a:xfrm>
            <a:off x="2478024" y="4544568"/>
            <a:ext cx="804672" cy="320040"/>
          </a:xfrm>
          <a:prstGeom prst="rect">
            <a:avLst/>
          </a:prstGeom>
          <a:noFill/>
          <a:ln/>
        </p:spPr>
        <p:txBody>
          <a:bodyPr wrap="square" lIns="0" tIns="0" rIns="0" bIns="0" rtlCol="0" anchor="ctr"/>
          <a:lstStyle/>
          <a:p>
            <a:pPr indent="0" marL="0">
              <a:buNone/>
            </a:pPr>
            <a:r>
              <a:rPr lang="en-US" sz="900" dirty="0">
                <a:solidFill>
                  <a:srgbClr val="FFFFFF"/>
                </a:solidFill>
              </a:rPr>
              <a:t>Copilot</a:t>
            </a:r>
            <a:endParaRPr lang="en-US" sz="900" dirty="0"/>
          </a:p>
        </p:txBody>
      </p:sp>
      <p:sp>
        <p:nvSpPr>
          <p:cNvPr id="48" name="Text 46"/>
          <p:cNvSpPr/>
          <p:nvPr/>
        </p:nvSpPr>
        <p:spPr>
          <a:xfrm>
            <a:off x="3328416" y="4544568"/>
            <a:ext cx="804672" cy="320040"/>
          </a:xfrm>
          <a:prstGeom prst="rect">
            <a:avLst/>
          </a:prstGeom>
          <a:noFill/>
          <a:ln/>
        </p:spPr>
        <p:txBody>
          <a:bodyPr wrap="square" lIns="0" tIns="0" rIns="0" bIns="0" rtlCol="0" anchor="ctr"/>
          <a:lstStyle/>
          <a:p>
            <a:pPr indent="0" marL="0">
              <a:buNone/>
            </a:pPr>
            <a:r>
              <a:rPr lang="en-US" sz="900" dirty="0">
                <a:solidFill>
                  <a:srgbClr val="FFFFFF"/>
                </a:solidFill>
              </a:rPr>
              <a:t>8.0</a:t>
            </a:r>
            <a:endParaRPr lang="en-US" sz="900" dirty="0"/>
          </a:p>
        </p:txBody>
      </p:sp>
      <p:sp>
        <p:nvSpPr>
          <p:cNvPr id="49" name="Text 47"/>
          <p:cNvSpPr/>
          <p:nvPr/>
        </p:nvSpPr>
        <p:spPr>
          <a:xfrm>
            <a:off x="4178808" y="4544568"/>
            <a:ext cx="804672" cy="320040"/>
          </a:xfrm>
          <a:prstGeom prst="rect">
            <a:avLst/>
          </a:prstGeom>
          <a:noFill/>
          <a:ln/>
        </p:spPr>
        <p:txBody>
          <a:bodyPr wrap="square" lIns="0" tIns="0" rIns="0" bIns="0" rtlCol="0" anchor="ctr"/>
          <a:lstStyle/>
          <a:p>
            <a:pPr indent="0" marL="0">
              <a:buNone/>
            </a:pPr>
            <a:r>
              <a:rPr lang="en-US" sz="900" dirty="0">
                <a:solidFill>
                  <a:srgbClr val="FFFFFF"/>
                </a:solidFill>
              </a:rPr>
              <a:t>2.5</a:t>
            </a:r>
            <a:endParaRPr lang="en-US" sz="900" dirty="0"/>
          </a:p>
        </p:txBody>
      </p:sp>
      <p:sp>
        <p:nvSpPr>
          <p:cNvPr id="50" name="Text 48"/>
          <p:cNvSpPr/>
          <p:nvPr/>
        </p:nvSpPr>
        <p:spPr>
          <a:xfrm>
            <a:off x="5029200" y="4544568"/>
            <a:ext cx="804672" cy="320040"/>
          </a:xfrm>
          <a:prstGeom prst="rect">
            <a:avLst/>
          </a:prstGeom>
          <a:noFill/>
          <a:ln/>
        </p:spPr>
        <p:txBody>
          <a:bodyPr wrap="square" lIns="0" tIns="0" rIns="0" bIns="0" rtlCol="0" anchor="ctr"/>
          <a:lstStyle/>
          <a:p>
            <a:pPr indent="0" marL="0">
              <a:buNone/>
            </a:pPr>
            <a:r>
              <a:rPr lang="en-US" sz="900" dirty="0">
                <a:solidFill>
                  <a:srgbClr val="FFFFFF"/>
                </a:solidFill>
              </a:rPr>
              <a:t>5.5</a:t>
            </a:r>
            <a:endParaRPr lang="en-US" sz="900" dirty="0"/>
          </a:p>
        </p:txBody>
      </p:sp>
      <p:sp>
        <p:nvSpPr>
          <p:cNvPr id="51" name="Shape 49"/>
          <p:cNvSpPr/>
          <p:nvPr/>
        </p:nvSpPr>
        <p:spPr>
          <a:xfrm>
            <a:off x="5879592" y="4544568"/>
            <a:ext cx="777240" cy="292608"/>
          </a:xfrm>
          <a:prstGeom prst="roundRect">
            <a:avLst>
              <a:gd name="adj" fmla="val 50000"/>
            </a:avLst>
          </a:prstGeom>
          <a:solidFill>
            <a:srgbClr val="10B981"/>
          </a:solidFill>
          <a:ln w="12700">
            <a:solidFill>
              <a:srgbClr val="10B981"/>
            </a:solidFill>
            <a:prstDash val="solid"/>
          </a:ln>
        </p:spPr>
      </p:sp>
      <p:sp>
        <p:nvSpPr>
          <p:cNvPr id="52" name="Text 50"/>
          <p:cNvSpPr/>
          <p:nvPr/>
        </p:nvSpPr>
        <p:spPr>
          <a:xfrm>
            <a:off x="5879592" y="4544568"/>
            <a:ext cx="7772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Approved</a:t>
            </a:r>
            <a:endParaRPr lang="en-US" sz="900" dirty="0"/>
          </a:p>
        </p:txBody>
      </p:sp>
      <p:sp>
        <p:nvSpPr>
          <p:cNvPr id="53" name="Shape 51"/>
          <p:cNvSpPr/>
          <p:nvPr/>
        </p:nvSpPr>
        <p:spPr>
          <a:xfrm>
            <a:off x="6675120" y="4507992"/>
            <a:ext cx="320040" cy="320040"/>
          </a:xfrm>
          <a:prstGeom prst="roundRect">
            <a:avLst>
              <a:gd name="adj" fmla="val 17143"/>
            </a:avLst>
          </a:prstGeom>
          <a:solidFill>
            <a:srgbClr val="1A2244"/>
          </a:solidFill>
          <a:ln w="12700">
            <a:solidFill>
              <a:srgbClr val="3B82F6"/>
            </a:solidFill>
            <a:prstDash val="solid"/>
          </a:ln>
        </p:spPr>
      </p:sp>
      <p:sp>
        <p:nvSpPr>
          <p:cNvPr id="54" name="Text 52"/>
          <p:cNvSpPr/>
          <p:nvPr/>
        </p:nvSpPr>
        <p:spPr>
          <a:xfrm>
            <a:off x="6675120" y="4507992"/>
            <a:ext cx="320040" cy="320040"/>
          </a:xfrm>
          <a:prstGeom prst="rect">
            <a:avLst/>
          </a:prstGeom>
          <a:noFill/>
          <a:ln/>
        </p:spPr>
        <p:txBody>
          <a:bodyPr wrap="square" lIns="0" tIns="0" rIns="0" bIns="0" rtlCol="0" anchor="ctr"/>
          <a:lstStyle/>
          <a:p>
            <a:pPr algn="ctr" indent="0" marL="0">
              <a:buNone/>
            </a:pPr>
            <a:r>
              <a:rPr lang="en-US" sz="1200" dirty="0">
                <a:solidFill>
                  <a:srgbClr val="3B82F6"/>
                </a:solidFill>
              </a:rPr>
              <a:t>✎</a:t>
            </a:r>
            <a:endParaRPr lang="en-US" sz="1200" dirty="0"/>
          </a:p>
        </p:txBody>
      </p:sp>
      <p:sp>
        <p:nvSpPr>
          <p:cNvPr id="55" name="Shape 53"/>
          <p:cNvSpPr/>
          <p:nvPr/>
        </p:nvSpPr>
        <p:spPr>
          <a:xfrm>
            <a:off x="7059168" y="4507992"/>
            <a:ext cx="320040" cy="320040"/>
          </a:xfrm>
          <a:prstGeom prst="roundRect">
            <a:avLst>
              <a:gd name="adj" fmla="val 17143"/>
            </a:avLst>
          </a:prstGeom>
          <a:solidFill>
            <a:srgbClr val="1A2244"/>
          </a:solidFill>
          <a:ln w="12700">
            <a:solidFill>
              <a:srgbClr val="EF4444"/>
            </a:solidFill>
            <a:prstDash val="solid"/>
          </a:ln>
        </p:spPr>
      </p:sp>
      <p:sp>
        <p:nvSpPr>
          <p:cNvPr id="56" name="Text 54"/>
          <p:cNvSpPr/>
          <p:nvPr/>
        </p:nvSpPr>
        <p:spPr>
          <a:xfrm>
            <a:off x="7059168" y="4507992"/>
            <a:ext cx="320040" cy="320040"/>
          </a:xfrm>
          <a:prstGeom prst="rect">
            <a:avLst/>
          </a:prstGeom>
          <a:noFill/>
          <a:ln/>
        </p:spPr>
        <p:txBody>
          <a:bodyPr wrap="square" lIns="0" tIns="0" rIns="0" bIns="0" rtlCol="0" anchor="ctr"/>
          <a:lstStyle/>
          <a:p>
            <a:pPr algn="ctr" indent="0" marL="0">
              <a:buNone/>
            </a:pPr>
            <a:r>
              <a:rPr lang="en-US" sz="1200" b="1" dirty="0">
                <a:solidFill>
                  <a:srgbClr val="EF4444"/>
                </a:solidFill>
              </a:rPr>
              <a:t>✗</a:t>
            </a:r>
            <a:endParaRPr lang="en-US" sz="1200" dirty="0"/>
          </a:p>
        </p:txBody>
      </p:sp>
      <p:sp>
        <p:nvSpPr>
          <p:cNvPr id="57" name="Shape 55"/>
          <p:cNvSpPr/>
          <p:nvPr/>
        </p:nvSpPr>
        <p:spPr>
          <a:xfrm>
            <a:off x="7818120" y="1783080"/>
            <a:ext cx="3931920" cy="4663440"/>
          </a:xfrm>
          <a:prstGeom prst="roundRect">
            <a:avLst>
              <a:gd name="adj" fmla="val 1860"/>
            </a:avLst>
          </a:prstGeom>
          <a:solidFill>
            <a:srgbClr val="1A2244"/>
          </a:solidFill>
          <a:ln w="12700">
            <a:solidFill>
              <a:srgbClr val="2A3560"/>
            </a:solidFill>
            <a:prstDash val="solid"/>
          </a:ln>
        </p:spPr>
      </p:sp>
      <p:sp>
        <p:nvSpPr>
          <p:cNvPr id="58" name="Text 56"/>
          <p:cNvSpPr/>
          <p:nvPr/>
        </p:nvSpPr>
        <p:spPr>
          <a:xfrm>
            <a:off x="8001000" y="1920240"/>
            <a:ext cx="36576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Rules</a:t>
            </a:r>
            <a:endParaRPr lang="en-US" sz="1600" dirty="0"/>
          </a:p>
        </p:txBody>
      </p:sp>
      <p:sp>
        <p:nvSpPr>
          <p:cNvPr id="59" name="Shape 57"/>
          <p:cNvSpPr/>
          <p:nvPr/>
        </p:nvSpPr>
        <p:spPr>
          <a:xfrm>
            <a:off x="8001000" y="2331720"/>
            <a:ext cx="3611880" cy="896112"/>
          </a:xfrm>
          <a:prstGeom prst="roundRect">
            <a:avLst>
              <a:gd name="adj" fmla="val 8163"/>
            </a:avLst>
          </a:prstGeom>
          <a:solidFill>
            <a:srgbClr val="141B36"/>
          </a:solidFill>
          <a:ln w="12700">
            <a:solidFill>
              <a:srgbClr val="2A3560"/>
            </a:solidFill>
            <a:prstDash val="solid"/>
          </a:ln>
        </p:spPr>
      </p:sp>
      <p:sp>
        <p:nvSpPr>
          <p:cNvPr id="60" name="Shape 58"/>
          <p:cNvSpPr/>
          <p:nvPr/>
        </p:nvSpPr>
        <p:spPr>
          <a:xfrm>
            <a:off x="8001000" y="2331720"/>
            <a:ext cx="73152" cy="896112"/>
          </a:xfrm>
          <a:prstGeom prst="rect">
            <a:avLst/>
          </a:prstGeom>
          <a:solidFill>
            <a:srgbClr val="3B82F6"/>
          </a:solidFill>
          <a:ln w="12700">
            <a:solidFill>
              <a:srgbClr val="3B82F6"/>
            </a:solidFill>
            <a:prstDash val="solid"/>
          </a:ln>
        </p:spPr>
      </p:sp>
      <p:sp>
        <p:nvSpPr>
          <p:cNvPr id="61" name="Text 59"/>
          <p:cNvSpPr/>
          <p:nvPr/>
        </p:nvSpPr>
        <p:spPr>
          <a:xfrm>
            <a:off x="8092440" y="2468880"/>
            <a:ext cx="457200" cy="640080"/>
          </a:xfrm>
          <a:prstGeom prst="rect">
            <a:avLst/>
          </a:prstGeom>
          <a:noFill/>
          <a:ln/>
        </p:spPr>
        <p:txBody>
          <a:bodyPr wrap="square" lIns="0" tIns="0" rIns="0" bIns="0" rtlCol="0" anchor="ctr"/>
          <a:lstStyle/>
          <a:p>
            <a:pPr algn="ctr" indent="0" marL="0">
              <a:buNone/>
            </a:pPr>
            <a:r>
              <a:rPr lang="en-US" sz="2400" b="1" dirty="0">
                <a:solidFill>
                  <a:srgbClr val="3B82F6"/>
                </a:solidFill>
              </a:rPr>
              <a:t>✎</a:t>
            </a:r>
            <a:endParaRPr lang="en-US" sz="2400" dirty="0"/>
          </a:p>
        </p:txBody>
      </p:sp>
      <p:sp>
        <p:nvSpPr>
          <p:cNvPr id="62" name="Text 60"/>
          <p:cNvSpPr/>
          <p:nvPr/>
        </p:nvSpPr>
        <p:spPr>
          <a:xfrm>
            <a:off x="8595360" y="2423160"/>
            <a:ext cx="29718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Edit reopens the form</a:t>
            </a:r>
            <a:endParaRPr lang="en-US" sz="1100" dirty="0"/>
          </a:p>
        </p:txBody>
      </p:sp>
      <p:sp>
        <p:nvSpPr>
          <p:cNvPr id="63" name="Text 61"/>
          <p:cNvSpPr/>
          <p:nvPr/>
        </p:nvSpPr>
        <p:spPr>
          <a:xfrm>
            <a:off x="8595360" y="2697480"/>
            <a:ext cx="2971800" cy="5029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All fields editable. If approved, edit re-queues to pending.</a:t>
            </a:r>
            <a:endParaRPr lang="en-US" sz="900" dirty="0"/>
          </a:p>
        </p:txBody>
      </p:sp>
      <p:sp>
        <p:nvSpPr>
          <p:cNvPr id="64" name="Shape 62"/>
          <p:cNvSpPr/>
          <p:nvPr/>
        </p:nvSpPr>
        <p:spPr>
          <a:xfrm>
            <a:off x="8001000" y="3355848"/>
            <a:ext cx="3611880" cy="896112"/>
          </a:xfrm>
          <a:prstGeom prst="roundRect">
            <a:avLst>
              <a:gd name="adj" fmla="val 8163"/>
            </a:avLst>
          </a:prstGeom>
          <a:solidFill>
            <a:srgbClr val="141B36"/>
          </a:solidFill>
          <a:ln w="12700">
            <a:solidFill>
              <a:srgbClr val="2A3560"/>
            </a:solidFill>
            <a:prstDash val="solid"/>
          </a:ln>
        </p:spPr>
      </p:sp>
      <p:sp>
        <p:nvSpPr>
          <p:cNvPr id="65" name="Shape 63"/>
          <p:cNvSpPr/>
          <p:nvPr/>
        </p:nvSpPr>
        <p:spPr>
          <a:xfrm>
            <a:off x="8001000" y="3355848"/>
            <a:ext cx="73152" cy="896112"/>
          </a:xfrm>
          <a:prstGeom prst="rect">
            <a:avLst/>
          </a:prstGeom>
          <a:solidFill>
            <a:srgbClr val="EF4444"/>
          </a:solidFill>
          <a:ln w="12700">
            <a:solidFill>
              <a:srgbClr val="EF4444"/>
            </a:solidFill>
            <a:prstDash val="solid"/>
          </a:ln>
        </p:spPr>
      </p:sp>
      <p:sp>
        <p:nvSpPr>
          <p:cNvPr id="66" name="Text 64"/>
          <p:cNvSpPr/>
          <p:nvPr/>
        </p:nvSpPr>
        <p:spPr>
          <a:xfrm>
            <a:off x="8092440" y="3493008"/>
            <a:ext cx="457200" cy="640080"/>
          </a:xfrm>
          <a:prstGeom prst="rect">
            <a:avLst/>
          </a:prstGeom>
          <a:noFill/>
          <a:ln/>
        </p:spPr>
        <p:txBody>
          <a:bodyPr wrap="square" lIns="0" tIns="0" rIns="0" bIns="0" rtlCol="0" anchor="ctr"/>
          <a:lstStyle/>
          <a:p>
            <a:pPr algn="ctr" indent="0" marL="0">
              <a:buNone/>
            </a:pPr>
            <a:r>
              <a:rPr lang="en-US" sz="2400" b="1" dirty="0">
                <a:solidFill>
                  <a:srgbClr val="EF4444"/>
                </a:solidFill>
              </a:rPr>
              <a:t>✗</a:t>
            </a:r>
            <a:endParaRPr lang="en-US" sz="2400" dirty="0"/>
          </a:p>
        </p:txBody>
      </p:sp>
      <p:sp>
        <p:nvSpPr>
          <p:cNvPr id="67" name="Text 65"/>
          <p:cNvSpPr/>
          <p:nvPr/>
        </p:nvSpPr>
        <p:spPr>
          <a:xfrm>
            <a:off x="8595360" y="3447288"/>
            <a:ext cx="29718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Delete is soft</a:t>
            </a:r>
            <a:endParaRPr lang="en-US" sz="1100" dirty="0"/>
          </a:p>
        </p:txBody>
      </p:sp>
      <p:sp>
        <p:nvSpPr>
          <p:cNvPr id="68" name="Text 66"/>
          <p:cNvSpPr/>
          <p:nvPr/>
        </p:nvSpPr>
        <p:spPr>
          <a:xfrm>
            <a:off x="8595360" y="3721608"/>
            <a:ext cx="2971800" cy="5029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Row hidden from your view — admin can restore.</a:t>
            </a:r>
            <a:endParaRPr lang="en-US" sz="900" dirty="0"/>
          </a:p>
        </p:txBody>
      </p:sp>
      <p:sp>
        <p:nvSpPr>
          <p:cNvPr id="69" name="Shape 67"/>
          <p:cNvSpPr/>
          <p:nvPr/>
        </p:nvSpPr>
        <p:spPr>
          <a:xfrm>
            <a:off x="8001000" y="4379976"/>
            <a:ext cx="3611880" cy="896112"/>
          </a:xfrm>
          <a:prstGeom prst="roundRect">
            <a:avLst>
              <a:gd name="adj" fmla="val 8163"/>
            </a:avLst>
          </a:prstGeom>
          <a:solidFill>
            <a:srgbClr val="141B36"/>
          </a:solidFill>
          <a:ln w="12700">
            <a:solidFill>
              <a:srgbClr val="2A3560"/>
            </a:solidFill>
            <a:prstDash val="solid"/>
          </a:ln>
        </p:spPr>
      </p:sp>
      <p:sp>
        <p:nvSpPr>
          <p:cNvPr id="70" name="Shape 68"/>
          <p:cNvSpPr/>
          <p:nvPr/>
        </p:nvSpPr>
        <p:spPr>
          <a:xfrm>
            <a:off x="8001000" y="4379976"/>
            <a:ext cx="73152" cy="896112"/>
          </a:xfrm>
          <a:prstGeom prst="rect">
            <a:avLst/>
          </a:prstGeom>
          <a:solidFill>
            <a:srgbClr val="818CF8"/>
          </a:solidFill>
          <a:ln w="12700">
            <a:solidFill>
              <a:srgbClr val="818CF8"/>
            </a:solidFill>
            <a:prstDash val="solid"/>
          </a:ln>
        </p:spPr>
      </p:sp>
      <p:sp>
        <p:nvSpPr>
          <p:cNvPr id="71" name="Text 69"/>
          <p:cNvSpPr/>
          <p:nvPr/>
        </p:nvSpPr>
        <p:spPr>
          <a:xfrm>
            <a:off x="8092440" y="4517136"/>
            <a:ext cx="457200" cy="640080"/>
          </a:xfrm>
          <a:prstGeom prst="rect">
            <a:avLst/>
          </a:prstGeom>
          <a:noFill/>
          <a:ln/>
        </p:spPr>
        <p:txBody>
          <a:bodyPr wrap="square" lIns="0" tIns="0" rIns="0" bIns="0" rtlCol="0" anchor="ctr"/>
          <a:lstStyle/>
          <a:p>
            <a:pPr algn="ctr" indent="0" marL="0">
              <a:buNone/>
            </a:pPr>
            <a:r>
              <a:rPr lang="en-US" sz="2400" b="1" dirty="0">
                <a:solidFill>
                  <a:srgbClr val="818CF8"/>
                </a:solidFill>
              </a:rPr>
              <a:t>↺</a:t>
            </a:r>
            <a:endParaRPr lang="en-US" sz="2400" dirty="0"/>
          </a:p>
        </p:txBody>
      </p:sp>
      <p:sp>
        <p:nvSpPr>
          <p:cNvPr id="72" name="Text 70"/>
          <p:cNvSpPr/>
          <p:nvPr/>
        </p:nvSpPr>
        <p:spPr>
          <a:xfrm>
            <a:off x="8595360" y="4471416"/>
            <a:ext cx="29718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Resubmit a rejected task</a:t>
            </a:r>
            <a:endParaRPr lang="en-US" sz="1100" dirty="0"/>
          </a:p>
        </p:txBody>
      </p:sp>
      <p:sp>
        <p:nvSpPr>
          <p:cNvPr id="73" name="Text 71"/>
          <p:cNvSpPr/>
          <p:nvPr/>
        </p:nvSpPr>
        <p:spPr>
          <a:xfrm>
            <a:off x="8595360" y="4745736"/>
            <a:ext cx="2971800" cy="5029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Open it in Edit, fix the feedback, Save — it re-enters the queue.</a:t>
            </a:r>
            <a:endParaRPr lang="en-US" sz="900" dirty="0"/>
          </a:p>
        </p:txBody>
      </p:sp>
      <p:sp>
        <p:nvSpPr>
          <p:cNvPr id="74" name="Shape 72"/>
          <p:cNvSpPr/>
          <p:nvPr/>
        </p:nvSpPr>
        <p:spPr>
          <a:xfrm>
            <a:off x="8001000" y="5404104"/>
            <a:ext cx="3611880" cy="896112"/>
          </a:xfrm>
          <a:prstGeom prst="roundRect">
            <a:avLst>
              <a:gd name="adj" fmla="val 8163"/>
            </a:avLst>
          </a:prstGeom>
          <a:solidFill>
            <a:srgbClr val="141B36"/>
          </a:solidFill>
          <a:ln w="12700">
            <a:solidFill>
              <a:srgbClr val="2A3560"/>
            </a:solidFill>
            <a:prstDash val="solid"/>
          </a:ln>
        </p:spPr>
      </p:sp>
      <p:sp>
        <p:nvSpPr>
          <p:cNvPr id="75" name="Shape 73"/>
          <p:cNvSpPr/>
          <p:nvPr/>
        </p:nvSpPr>
        <p:spPr>
          <a:xfrm>
            <a:off x="8001000" y="5404104"/>
            <a:ext cx="73152" cy="896112"/>
          </a:xfrm>
          <a:prstGeom prst="rect">
            <a:avLst/>
          </a:prstGeom>
          <a:solidFill>
            <a:srgbClr val="F59E0B"/>
          </a:solidFill>
          <a:ln w="12700">
            <a:solidFill>
              <a:srgbClr val="F59E0B"/>
            </a:solidFill>
            <a:prstDash val="solid"/>
          </a:ln>
        </p:spPr>
      </p:sp>
      <p:sp>
        <p:nvSpPr>
          <p:cNvPr id="76" name="Text 74"/>
          <p:cNvSpPr/>
          <p:nvPr/>
        </p:nvSpPr>
        <p:spPr>
          <a:xfrm>
            <a:off x="8092440" y="5541264"/>
            <a:ext cx="457200" cy="640080"/>
          </a:xfrm>
          <a:prstGeom prst="rect">
            <a:avLst/>
          </a:prstGeom>
          <a:noFill/>
          <a:ln/>
        </p:spPr>
        <p:txBody>
          <a:bodyPr wrap="square" lIns="0" tIns="0" rIns="0" bIns="0" rtlCol="0" anchor="ctr"/>
          <a:lstStyle/>
          <a:p>
            <a:pPr algn="ctr" indent="0" marL="0">
              <a:buNone/>
            </a:pPr>
            <a:r>
              <a:rPr lang="en-US" sz="2400" b="1" dirty="0">
                <a:solidFill>
                  <a:srgbClr val="F59E0B"/>
                </a:solidFill>
              </a:rPr>
              <a:t>⛔</a:t>
            </a:r>
            <a:endParaRPr lang="en-US" sz="2400" dirty="0"/>
          </a:p>
        </p:txBody>
      </p:sp>
      <p:sp>
        <p:nvSpPr>
          <p:cNvPr id="77" name="Text 75"/>
          <p:cNvSpPr/>
          <p:nvPr/>
        </p:nvSpPr>
        <p:spPr>
          <a:xfrm>
            <a:off x="8595360" y="5495544"/>
            <a:ext cx="29718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Approved tasks lock hours</a:t>
            </a:r>
            <a:endParaRPr lang="en-US" sz="1100" dirty="0"/>
          </a:p>
        </p:txBody>
      </p:sp>
      <p:sp>
        <p:nvSpPr>
          <p:cNvPr id="78" name="Text 76"/>
          <p:cNvSpPr/>
          <p:nvPr/>
        </p:nvSpPr>
        <p:spPr>
          <a:xfrm>
            <a:off x="8595360" y="5769864"/>
            <a:ext cx="2971800" cy="5029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Hours saved are frozen in reports until you edit.</a:t>
            </a:r>
            <a:endParaRPr lang="en-US" sz="900" dirty="0"/>
          </a:p>
        </p:txBody>
      </p:sp>
      <p:sp>
        <p:nvSpPr>
          <p:cNvPr id="79" name="Text 77"/>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80" name="Text 78"/>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15 / 28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13 — Add an Accomplishment (Win)</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SPOC / Admin only — reference.  Separate from tasks: for POCs, value-adds, and notable stories.</a:t>
            </a:r>
            <a:endParaRPr lang="en-US" sz="1400" dirty="0"/>
          </a:p>
        </p:txBody>
      </p:sp>
      <p:sp>
        <p:nvSpPr>
          <p:cNvPr id="4" name="Shape 2"/>
          <p:cNvSpPr/>
          <p:nvPr/>
        </p:nvSpPr>
        <p:spPr>
          <a:xfrm>
            <a:off x="502920" y="1783080"/>
            <a:ext cx="7223760" cy="4663440"/>
          </a:xfrm>
          <a:prstGeom prst="roundRect">
            <a:avLst>
              <a:gd name="adj" fmla="val 1961"/>
            </a:avLst>
          </a:prstGeom>
          <a:solidFill>
            <a:srgbClr val="0B1223"/>
          </a:solidFill>
          <a:ln w="12700">
            <a:solidFill>
              <a:srgbClr val="CADCFC"/>
            </a:solidFill>
            <a:prstDash val="solid"/>
          </a:ln>
        </p:spPr>
      </p:sp>
      <p:sp>
        <p:nvSpPr>
          <p:cNvPr id="5" name="Shape 3"/>
          <p:cNvSpPr/>
          <p:nvPr/>
        </p:nvSpPr>
        <p:spPr>
          <a:xfrm>
            <a:off x="548640" y="1828800"/>
            <a:ext cx="7132320" cy="274320"/>
          </a:xfrm>
          <a:prstGeom prst="rect">
            <a:avLst/>
          </a:prstGeom>
          <a:solidFill>
            <a:srgbClr val="111833"/>
          </a:solidFill>
          <a:ln w="12700">
            <a:solidFill>
              <a:srgbClr val="111833"/>
            </a:solidFill>
            <a:prstDash val="solid"/>
          </a:ln>
        </p:spPr>
      </p:sp>
      <p:sp>
        <p:nvSpPr>
          <p:cNvPr id="6" name="Shape 4"/>
          <p:cNvSpPr/>
          <p:nvPr/>
        </p:nvSpPr>
        <p:spPr>
          <a:xfrm>
            <a:off x="640080" y="1892808"/>
            <a:ext cx="109728" cy="109728"/>
          </a:xfrm>
          <a:prstGeom prst="ellipse">
            <a:avLst/>
          </a:prstGeom>
          <a:solidFill>
            <a:srgbClr val="EF4444"/>
          </a:solidFill>
          <a:ln w="12700">
            <a:solidFill>
              <a:srgbClr val="EF4444"/>
            </a:solidFill>
            <a:prstDash val="solid"/>
          </a:ln>
        </p:spPr>
      </p:sp>
      <p:sp>
        <p:nvSpPr>
          <p:cNvPr id="7" name="Shape 5"/>
          <p:cNvSpPr/>
          <p:nvPr/>
        </p:nvSpPr>
        <p:spPr>
          <a:xfrm>
            <a:off x="786384" y="1892808"/>
            <a:ext cx="109728" cy="109728"/>
          </a:xfrm>
          <a:prstGeom prst="ellipse">
            <a:avLst/>
          </a:prstGeom>
          <a:solidFill>
            <a:srgbClr val="F59E0B"/>
          </a:solidFill>
          <a:ln w="12700">
            <a:solidFill>
              <a:srgbClr val="F59E0B"/>
            </a:solidFill>
            <a:prstDash val="solid"/>
          </a:ln>
        </p:spPr>
      </p:sp>
      <p:sp>
        <p:nvSpPr>
          <p:cNvPr id="8" name="Shape 6"/>
          <p:cNvSpPr/>
          <p:nvPr/>
        </p:nvSpPr>
        <p:spPr>
          <a:xfrm>
            <a:off x="932688" y="1892808"/>
            <a:ext cx="109728" cy="109728"/>
          </a:xfrm>
          <a:prstGeom prst="ellipse">
            <a:avLst/>
          </a:prstGeom>
          <a:solidFill>
            <a:srgbClr val="10B981"/>
          </a:solidFill>
          <a:ln w="12700">
            <a:solidFill>
              <a:srgbClr val="10B981"/>
            </a:solidFill>
            <a:prstDash val="solid"/>
          </a:ln>
        </p:spPr>
      </p:sp>
      <p:sp>
        <p:nvSpPr>
          <p:cNvPr id="9" name="Text 7"/>
          <p:cNvSpPr/>
          <p:nvPr/>
        </p:nvSpPr>
        <p:spPr>
          <a:xfrm>
            <a:off x="731520" y="1920240"/>
            <a:ext cx="64008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Add Accomplishment</a:t>
            </a:r>
            <a:endParaRPr lang="en-US" sz="1500" dirty="0"/>
          </a:p>
        </p:txBody>
      </p:sp>
      <p:sp>
        <p:nvSpPr>
          <p:cNvPr id="10" name="Text 8"/>
          <p:cNvSpPr/>
          <p:nvPr/>
        </p:nvSpPr>
        <p:spPr>
          <a:xfrm>
            <a:off x="731520" y="2331720"/>
            <a:ext cx="320040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Practice</a:t>
            </a:r>
            <a:endParaRPr lang="en-US" sz="800" dirty="0"/>
          </a:p>
        </p:txBody>
      </p:sp>
      <p:sp>
        <p:nvSpPr>
          <p:cNvPr id="11" name="Shape 9"/>
          <p:cNvSpPr/>
          <p:nvPr/>
        </p:nvSpPr>
        <p:spPr>
          <a:xfrm>
            <a:off x="731520" y="2514600"/>
            <a:ext cx="3200400" cy="274320"/>
          </a:xfrm>
          <a:prstGeom prst="roundRect">
            <a:avLst>
              <a:gd name="adj" fmla="val 13333"/>
            </a:avLst>
          </a:prstGeom>
          <a:solidFill>
            <a:srgbClr val="141B36"/>
          </a:solidFill>
          <a:ln w="6350">
            <a:solidFill>
              <a:srgbClr val="2A3560"/>
            </a:solidFill>
            <a:prstDash val="solid"/>
          </a:ln>
        </p:spPr>
      </p:sp>
      <p:sp>
        <p:nvSpPr>
          <p:cNvPr id="12" name="Text 10"/>
          <p:cNvSpPr/>
          <p:nvPr/>
        </p:nvSpPr>
        <p:spPr>
          <a:xfrm>
            <a:off x="804672" y="2514600"/>
            <a:ext cx="3063240"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CES</a:t>
            </a:r>
            <a:endParaRPr lang="en-US" sz="900" dirty="0"/>
          </a:p>
        </p:txBody>
      </p:sp>
      <p:sp>
        <p:nvSpPr>
          <p:cNvPr id="13" name="Text 11"/>
          <p:cNvSpPr/>
          <p:nvPr/>
        </p:nvSpPr>
        <p:spPr>
          <a:xfrm>
            <a:off x="4069080" y="2331720"/>
            <a:ext cx="352044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Date</a:t>
            </a:r>
            <a:endParaRPr lang="en-US" sz="800" dirty="0"/>
          </a:p>
        </p:txBody>
      </p:sp>
      <p:sp>
        <p:nvSpPr>
          <p:cNvPr id="14" name="Shape 12"/>
          <p:cNvSpPr/>
          <p:nvPr/>
        </p:nvSpPr>
        <p:spPr>
          <a:xfrm>
            <a:off x="4069080" y="2514600"/>
            <a:ext cx="3520440" cy="274320"/>
          </a:xfrm>
          <a:prstGeom prst="roundRect">
            <a:avLst>
              <a:gd name="adj" fmla="val 13333"/>
            </a:avLst>
          </a:prstGeom>
          <a:solidFill>
            <a:srgbClr val="141B36"/>
          </a:solidFill>
          <a:ln w="6350">
            <a:solidFill>
              <a:srgbClr val="2A3560"/>
            </a:solidFill>
            <a:prstDash val="solid"/>
          </a:ln>
        </p:spPr>
      </p:sp>
      <p:sp>
        <p:nvSpPr>
          <p:cNvPr id="15" name="Text 13"/>
          <p:cNvSpPr/>
          <p:nvPr/>
        </p:nvSpPr>
        <p:spPr>
          <a:xfrm>
            <a:off x="4142232" y="2514600"/>
            <a:ext cx="3383280"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Apr 11, 2026</a:t>
            </a:r>
            <a:endParaRPr lang="en-US" sz="900" dirty="0"/>
          </a:p>
        </p:txBody>
      </p:sp>
      <p:sp>
        <p:nvSpPr>
          <p:cNvPr id="16" name="Text 14"/>
          <p:cNvSpPr/>
          <p:nvPr/>
        </p:nvSpPr>
        <p:spPr>
          <a:xfrm>
            <a:off x="731520" y="2926080"/>
            <a:ext cx="320040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Project</a:t>
            </a:r>
            <a:endParaRPr lang="en-US" sz="800" dirty="0"/>
          </a:p>
        </p:txBody>
      </p:sp>
      <p:sp>
        <p:nvSpPr>
          <p:cNvPr id="17" name="Shape 15"/>
          <p:cNvSpPr/>
          <p:nvPr/>
        </p:nvSpPr>
        <p:spPr>
          <a:xfrm>
            <a:off x="731520" y="3108960"/>
            <a:ext cx="3200400" cy="274320"/>
          </a:xfrm>
          <a:prstGeom prst="roundRect">
            <a:avLst>
              <a:gd name="adj" fmla="val 13333"/>
            </a:avLst>
          </a:prstGeom>
          <a:solidFill>
            <a:srgbClr val="141B36"/>
          </a:solidFill>
          <a:ln w="6350">
            <a:solidFill>
              <a:srgbClr val="2A3560"/>
            </a:solidFill>
            <a:prstDash val="solid"/>
          </a:ln>
        </p:spPr>
      </p:sp>
      <p:sp>
        <p:nvSpPr>
          <p:cNvPr id="18" name="Text 16"/>
          <p:cNvSpPr/>
          <p:nvPr/>
        </p:nvSpPr>
        <p:spPr>
          <a:xfrm>
            <a:off x="804672" y="3108960"/>
            <a:ext cx="3063240"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ANB EPS Corporate Module</a:t>
            </a:r>
            <a:endParaRPr lang="en-US" sz="900" dirty="0"/>
          </a:p>
        </p:txBody>
      </p:sp>
      <p:sp>
        <p:nvSpPr>
          <p:cNvPr id="19" name="Text 17"/>
          <p:cNvSpPr/>
          <p:nvPr/>
        </p:nvSpPr>
        <p:spPr>
          <a:xfrm>
            <a:off x="4069080" y="2926080"/>
            <a:ext cx="352044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SPOC / Lead</a:t>
            </a:r>
            <a:endParaRPr lang="en-US" sz="800" dirty="0"/>
          </a:p>
        </p:txBody>
      </p:sp>
      <p:sp>
        <p:nvSpPr>
          <p:cNvPr id="20" name="Shape 18"/>
          <p:cNvSpPr/>
          <p:nvPr/>
        </p:nvSpPr>
        <p:spPr>
          <a:xfrm>
            <a:off x="4069080" y="3108960"/>
            <a:ext cx="3520440" cy="274320"/>
          </a:xfrm>
          <a:prstGeom prst="roundRect">
            <a:avLst>
              <a:gd name="adj" fmla="val 13333"/>
            </a:avLst>
          </a:prstGeom>
          <a:solidFill>
            <a:srgbClr val="141B36"/>
          </a:solidFill>
          <a:ln w="6350">
            <a:solidFill>
              <a:srgbClr val="2A3560"/>
            </a:solidFill>
            <a:prstDash val="solid"/>
          </a:ln>
        </p:spPr>
      </p:sp>
      <p:sp>
        <p:nvSpPr>
          <p:cNvPr id="21" name="Text 19"/>
          <p:cNvSpPr/>
          <p:nvPr/>
        </p:nvSpPr>
        <p:spPr>
          <a:xfrm>
            <a:off x="4142232" y="3108960"/>
            <a:ext cx="3383280"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Norah Al Wabel</a:t>
            </a:r>
            <a:endParaRPr lang="en-US" sz="900" dirty="0"/>
          </a:p>
        </p:txBody>
      </p:sp>
      <p:sp>
        <p:nvSpPr>
          <p:cNvPr id="22" name="Text 20"/>
          <p:cNvSpPr/>
          <p:nvPr/>
        </p:nvSpPr>
        <p:spPr>
          <a:xfrm>
            <a:off x="731520" y="3520440"/>
            <a:ext cx="690372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Employee(s)</a:t>
            </a:r>
            <a:endParaRPr lang="en-US" sz="800" dirty="0"/>
          </a:p>
        </p:txBody>
      </p:sp>
      <p:sp>
        <p:nvSpPr>
          <p:cNvPr id="23" name="Shape 21"/>
          <p:cNvSpPr/>
          <p:nvPr/>
        </p:nvSpPr>
        <p:spPr>
          <a:xfrm>
            <a:off x="731520" y="3703320"/>
            <a:ext cx="6903720" cy="274320"/>
          </a:xfrm>
          <a:prstGeom prst="roundRect">
            <a:avLst>
              <a:gd name="adj" fmla="val 13333"/>
            </a:avLst>
          </a:prstGeom>
          <a:solidFill>
            <a:srgbClr val="141B36"/>
          </a:solidFill>
          <a:ln w="6350">
            <a:solidFill>
              <a:srgbClr val="2A3560"/>
            </a:solidFill>
            <a:prstDash val="solid"/>
          </a:ln>
        </p:spPr>
      </p:sp>
      <p:sp>
        <p:nvSpPr>
          <p:cNvPr id="24" name="Text 22"/>
          <p:cNvSpPr/>
          <p:nvPr/>
        </p:nvSpPr>
        <p:spPr>
          <a:xfrm>
            <a:off x="804672" y="3703320"/>
            <a:ext cx="6766560"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Ahmed Samir (you)</a:t>
            </a:r>
            <a:endParaRPr lang="en-US" sz="900" dirty="0"/>
          </a:p>
        </p:txBody>
      </p:sp>
      <p:sp>
        <p:nvSpPr>
          <p:cNvPr id="25" name="Text 23"/>
          <p:cNvSpPr/>
          <p:nvPr/>
        </p:nvSpPr>
        <p:spPr>
          <a:xfrm>
            <a:off x="731520" y="4114800"/>
            <a:ext cx="690372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Accomplishment Title</a:t>
            </a:r>
            <a:endParaRPr lang="en-US" sz="800" dirty="0"/>
          </a:p>
        </p:txBody>
      </p:sp>
      <p:sp>
        <p:nvSpPr>
          <p:cNvPr id="26" name="Shape 24"/>
          <p:cNvSpPr/>
          <p:nvPr/>
        </p:nvSpPr>
        <p:spPr>
          <a:xfrm>
            <a:off x="731520" y="4297680"/>
            <a:ext cx="6903720" cy="274320"/>
          </a:xfrm>
          <a:prstGeom prst="roundRect">
            <a:avLst>
              <a:gd name="adj" fmla="val 13333"/>
            </a:avLst>
          </a:prstGeom>
          <a:solidFill>
            <a:srgbClr val="141B36"/>
          </a:solidFill>
          <a:ln w="6350">
            <a:solidFill>
              <a:srgbClr val="2A3560"/>
            </a:solidFill>
            <a:prstDash val="solid"/>
          </a:ln>
        </p:spPr>
      </p:sp>
      <p:sp>
        <p:nvSpPr>
          <p:cNvPr id="27" name="Text 25"/>
          <p:cNvSpPr/>
          <p:nvPr/>
        </p:nvSpPr>
        <p:spPr>
          <a:xfrm>
            <a:off x="804672" y="4297680"/>
            <a:ext cx="6766560"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70% faster claims onboarding via Copilot-drafted microservice</a:t>
            </a:r>
            <a:endParaRPr lang="en-US" sz="900" dirty="0"/>
          </a:p>
        </p:txBody>
      </p:sp>
      <p:sp>
        <p:nvSpPr>
          <p:cNvPr id="28" name="Text 26"/>
          <p:cNvSpPr/>
          <p:nvPr/>
        </p:nvSpPr>
        <p:spPr>
          <a:xfrm>
            <a:off x="731520" y="4709160"/>
            <a:ext cx="3200400" cy="182880"/>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AI Tool Used</a:t>
            </a:r>
            <a:endParaRPr lang="en-US" sz="800" dirty="0"/>
          </a:p>
        </p:txBody>
      </p:sp>
      <p:sp>
        <p:nvSpPr>
          <p:cNvPr id="29" name="Shape 27"/>
          <p:cNvSpPr/>
          <p:nvPr/>
        </p:nvSpPr>
        <p:spPr>
          <a:xfrm>
            <a:off x="731520" y="4892040"/>
            <a:ext cx="3200400" cy="274320"/>
          </a:xfrm>
          <a:prstGeom prst="roundRect">
            <a:avLst>
              <a:gd name="adj" fmla="val 13333"/>
            </a:avLst>
          </a:prstGeom>
          <a:solidFill>
            <a:srgbClr val="141B36"/>
          </a:solidFill>
          <a:ln w="6350">
            <a:solidFill>
              <a:srgbClr val="2A3560"/>
            </a:solidFill>
            <a:prstDash val="solid"/>
          </a:ln>
        </p:spPr>
      </p:sp>
      <p:sp>
        <p:nvSpPr>
          <p:cNvPr id="30" name="Text 28"/>
          <p:cNvSpPr/>
          <p:nvPr/>
        </p:nvSpPr>
        <p:spPr>
          <a:xfrm>
            <a:off x="804672" y="4892040"/>
            <a:ext cx="3063240" cy="27432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Github Copilot</a:t>
            </a:r>
            <a:endParaRPr lang="en-US" sz="900" dirty="0"/>
          </a:p>
        </p:txBody>
      </p:sp>
      <p:sp>
        <p:nvSpPr>
          <p:cNvPr id="31" name="Text 29"/>
          <p:cNvSpPr/>
          <p:nvPr/>
        </p:nvSpPr>
        <p:spPr>
          <a:xfrm>
            <a:off x="731520" y="5303520"/>
            <a:ext cx="6903720" cy="201168"/>
          </a:xfrm>
          <a:prstGeom prst="rect">
            <a:avLst/>
          </a:prstGeom>
          <a:noFill/>
          <a:ln/>
        </p:spPr>
        <p:txBody>
          <a:bodyPr wrap="square" lIns="0" tIns="0" rIns="0" bIns="0" rtlCol="0" anchor="ctr"/>
          <a:lstStyle/>
          <a:p>
            <a:pPr indent="0" marL="0">
              <a:buNone/>
            </a:pPr>
            <a:r>
              <a:rPr lang="en-US" sz="800" b="1" dirty="0">
                <a:solidFill>
                  <a:srgbClr val="CADCFC"/>
                </a:solidFill>
                <a:latin typeface="Calibri" pitchFamily="34" charset="0"/>
                <a:ea typeface="Calibri" pitchFamily="34" charset="-122"/>
                <a:cs typeface="Calibri" pitchFamily="34" charset="-120"/>
              </a:rPr>
              <a:t>Details</a:t>
            </a:r>
            <a:endParaRPr lang="en-US" sz="800" dirty="0"/>
          </a:p>
        </p:txBody>
      </p:sp>
      <p:sp>
        <p:nvSpPr>
          <p:cNvPr id="32" name="Shape 30"/>
          <p:cNvSpPr/>
          <p:nvPr/>
        </p:nvSpPr>
        <p:spPr>
          <a:xfrm>
            <a:off x="731520" y="5513832"/>
            <a:ext cx="6903720" cy="777240"/>
          </a:xfrm>
          <a:prstGeom prst="roundRect">
            <a:avLst>
              <a:gd name="adj" fmla="val 4706"/>
            </a:avLst>
          </a:prstGeom>
          <a:solidFill>
            <a:srgbClr val="141B36"/>
          </a:solidFill>
          <a:ln w="6350">
            <a:solidFill>
              <a:srgbClr val="2A3560"/>
            </a:solidFill>
            <a:prstDash val="solid"/>
          </a:ln>
        </p:spPr>
      </p:sp>
      <p:sp>
        <p:nvSpPr>
          <p:cNvPr id="33" name="Text 31"/>
          <p:cNvSpPr/>
          <p:nvPr/>
        </p:nvSpPr>
        <p:spPr>
          <a:xfrm>
            <a:off x="822960" y="5550408"/>
            <a:ext cx="6766560" cy="71323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Scaffolded a full claims-intake microservice in 2.5 hrs vs 8.0 hrs baseline. 100% test coverage from day one. Shipped to UAT on Apr 10.</a:t>
            </a:r>
            <a:endParaRPr lang="en-US" sz="900" dirty="0"/>
          </a:p>
        </p:txBody>
      </p:sp>
      <p:sp>
        <p:nvSpPr>
          <p:cNvPr id="34" name="Shape 32"/>
          <p:cNvSpPr/>
          <p:nvPr/>
        </p:nvSpPr>
        <p:spPr>
          <a:xfrm>
            <a:off x="7909560" y="1783080"/>
            <a:ext cx="3840480" cy="4663440"/>
          </a:xfrm>
          <a:prstGeom prst="roundRect">
            <a:avLst>
              <a:gd name="adj" fmla="val 1905"/>
            </a:avLst>
          </a:prstGeom>
          <a:solidFill>
            <a:srgbClr val="1A2244"/>
          </a:solidFill>
          <a:ln w="12700">
            <a:solidFill>
              <a:srgbClr val="2A3560"/>
            </a:solidFill>
            <a:prstDash val="solid"/>
          </a:ln>
        </p:spPr>
      </p:sp>
      <p:sp>
        <p:nvSpPr>
          <p:cNvPr id="35" name="Text 33"/>
          <p:cNvSpPr/>
          <p:nvPr/>
        </p:nvSpPr>
        <p:spPr>
          <a:xfrm>
            <a:off x="8092440" y="1920240"/>
            <a:ext cx="356616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Wins vs tasks</a:t>
            </a:r>
            <a:endParaRPr lang="en-US" sz="1600" dirty="0"/>
          </a:p>
        </p:txBody>
      </p:sp>
      <p:sp>
        <p:nvSpPr>
          <p:cNvPr id="36" name="Shape 34"/>
          <p:cNvSpPr/>
          <p:nvPr/>
        </p:nvSpPr>
        <p:spPr>
          <a:xfrm>
            <a:off x="8092440" y="2331720"/>
            <a:ext cx="3520440" cy="868680"/>
          </a:xfrm>
          <a:prstGeom prst="roundRect">
            <a:avLst>
              <a:gd name="adj" fmla="val 8421"/>
            </a:avLst>
          </a:prstGeom>
          <a:solidFill>
            <a:srgbClr val="141B36"/>
          </a:solidFill>
          <a:ln w="12700">
            <a:solidFill>
              <a:srgbClr val="2A3560"/>
            </a:solidFill>
            <a:prstDash val="solid"/>
          </a:ln>
        </p:spPr>
      </p:sp>
      <p:sp>
        <p:nvSpPr>
          <p:cNvPr id="37" name="Shape 35"/>
          <p:cNvSpPr/>
          <p:nvPr/>
        </p:nvSpPr>
        <p:spPr>
          <a:xfrm>
            <a:off x="8092440" y="2331720"/>
            <a:ext cx="73152" cy="868680"/>
          </a:xfrm>
          <a:prstGeom prst="rect">
            <a:avLst/>
          </a:prstGeom>
          <a:solidFill>
            <a:srgbClr val="3B82F6"/>
          </a:solidFill>
          <a:ln w="12700">
            <a:solidFill>
              <a:srgbClr val="3B82F6"/>
            </a:solidFill>
            <a:prstDash val="solid"/>
          </a:ln>
        </p:spPr>
      </p:sp>
      <p:sp>
        <p:nvSpPr>
          <p:cNvPr id="38" name="Text 36"/>
          <p:cNvSpPr/>
          <p:nvPr/>
        </p:nvSpPr>
        <p:spPr>
          <a:xfrm>
            <a:off x="8229600" y="2423160"/>
            <a:ext cx="3337560" cy="27432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Task</a:t>
            </a:r>
            <a:endParaRPr lang="en-US" sz="1100" dirty="0"/>
          </a:p>
        </p:txBody>
      </p:sp>
      <p:sp>
        <p:nvSpPr>
          <p:cNvPr id="39" name="Text 37"/>
          <p:cNvSpPr/>
          <p:nvPr/>
        </p:nvSpPr>
        <p:spPr>
          <a:xfrm>
            <a:off x="8229600" y="2697480"/>
            <a:ext cx="3337560" cy="45720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Day-to-day AI usage. Logged per week. Counts hours saved.</a:t>
            </a:r>
            <a:endParaRPr lang="en-US" sz="900" dirty="0"/>
          </a:p>
        </p:txBody>
      </p:sp>
      <p:sp>
        <p:nvSpPr>
          <p:cNvPr id="40" name="Shape 38"/>
          <p:cNvSpPr/>
          <p:nvPr/>
        </p:nvSpPr>
        <p:spPr>
          <a:xfrm>
            <a:off x="8092440" y="3337560"/>
            <a:ext cx="3520440" cy="868680"/>
          </a:xfrm>
          <a:prstGeom prst="roundRect">
            <a:avLst>
              <a:gd name="adj" fmla="val 8421"/>
            </a:avLst>
          </a:prstGeom>
          <a:solidFill>
            <a:srgbClr val="141B36"/>
          </a:solidFill>
          <a:ln w="12700">
            <a:solidFill>
              <a:srgbClr val="2A3560"/>
            </a:solidFill>
            <a:prstDash val="solid"/>
          </a:ln>
        </p:spPr>
      </p:sp>
      <p:sp>
        <p:nvSpPr>
          <p:cNvPr id="41" name="Shape 39"/>
          <p:cNvSpPr/>
          <p:nvPr/>
        </p:nvSpPr>
        <p:spPr>
          <a:xfrm>
            <a:off x="8092440" y="3337560"/>
            <a:ext cx="73152" cy="868680"/>
          </a:xfrm>
          <a:prstGeom prst="rect">
            <a:avLst/>
          </a:prstGeom>
          <a:solidFill>
            <a:srgbClr val="10B981"/>
          </a:solidFill>
          <a:ln w="12700">
            <a:solidFill>
              <a:srgbClr val="10B981"/>
            </a:solidFill>
            <a:prstDash val="solid"/>
          </a:ln>
        </p:spPr>
      </p:sp>
      <p:sp>
        <p:nvSpPr>
          <p:cNvPr id="42" name="Text 40"/>
          <p:cNvSpPr/>
          <p:nvPr/>
        </p:nvSpPr>
        <p:spPr>
          <a:xfrm>
            <a:off x="8229600" y="3429000"/>
            <a:ext cx="3337560" cy="274320"/>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Accomplishment</a:t>
            </a:r>
            <a:endParaRPr lang="en-US" sz="1100" dirty="0"/>
          </a:p>
        </p:txBody>
      </p:sp>
      <p:sp>
        <p:nvSpPr>
          <p:cNvPr id="43" name="Text 41"/>
          <p:cNvSpPr/>
          <p:nvPr/>
        </p:nvSpPr>
        <p:spPr>
          <a:xfrm>
            <a:off x="8229600" y="3703320"/>
            <a:ext cx="3337560" cy="45720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Notable story, POC, or value-add. Qualitative — doesn't count hours.</a:t>
            </a:r>
            <a:endParaRPr lang="en-US" sz="900" dirty="0"/>
          </a:p>
        </p:txBody>
      </p:sp>
      <p:sp>
        <p:nvSpPr>
          <p:cNvPr id="44" name="Shape 42"/>
          <p:cNvSpPr/>
          <p:nvPr/>
        </p:nvSpPr>
        <p:spPr>
          <a:xfrm>
            <a:off x="8092440" y="4343400"/>
            <a:ext cx="3520440" cy="868680"/>
          </a:xfrm>
          <a:prstGeom prst="roundRect">
            <a:avLst>
              <a:gd name="adj" fmla="val 8421"/>
            </a:avLst>
          </a:prstGeom>
          <a:solidFill>
            <a:srgbClr val="141B36"/>
          </a:solidFill>
          <a:ln w="12700">
            <a:solidFill>
              <a:srgbClr val="2A3560"/>
            </a:solidFill>
            <a:prstDash val="solid"/>
          </a:ln>
        </p:spPr>
      </p:sp>
      <p:sp>
        <p:nvSpPr>
          <p:cNvPr id="45" name="Shape 43"/>
          <p:cNvSpPr/>
          <p:nvPr/>
        </p:nvSpPr>
        <p:spPr>
          <a:xfrm>
            <a:off x="8092440" y="4343400"/>
            <a:ext cx="73152" cy="868680"/>
          </a:xfrm>
          <a:prstGeom prst="rect">
            <a:avLst/>
          </a:prstGeom>
          <a:solidFill>
            <a:srgbClr val="6366F1"/>
          </a:solidFill>
          <a:ln w="12700">
            <a:solidFill>
              <a:srgbClr val="6366F1"/>
            </a:solidFill>
            <a:prstDash val="solid"/>
          </a:ln>
        </p:spPr>
      </p:sp>
      <p:sp>
        <p:nvSpPr>
          <p:cNvPr id="46" name="Text 44"/>
          <p:cNvSpPr/>
          <p:nvPr/>
        </p:nvSpPr>
        <p:spPr>
          <a:xfrm>
            <a:off x="8229600" y="4434840"/>
            <a:ext cx="3337560" cy="274320"/>
          </a:xfrm>
          <a:prstGeom prst="rect">
            <a:avLst/>
          </a:prstGeom>
          <a:noFill/>
          <a:ln/>
        </p:spPr>
        <p:txBody>
          <a:bodyPr wrap="square" lIns="0" tIns="0" rIns="0" bIns="0" rtlCol="0" anchor="ctr"/>
          <a:lstStyle/>
          <a:p>
            <a:pPr indent="0" marL="0">
              <a:buNone/>
            </a:pPr>
            <a:r>
              <a:rPr lang="en-US" sz="1100" b="1" dirty="0">
                <a:solidFill>
                  <a:srgbClr val="6366F1"/>
                </a:solidFill>
                <a:latin typeface="Calibri" pitchFamily="34" charset="0"/>
                <a:ea typeface="Calibri" pitchFamily="34" charset="-122"/>
                <a:cs typeface="Calibri" pitchFamily="34" charset="-120"/>
              </a:rPr>
              <a:t>Trigger from</a:t>
            </a:r>
            <a:endParaRPr lang="en-US" sz="1100" dirty="0"/>
          </a:p>
        </p:txBody>
      </p:sp>
      <p:sp>
        <p:nvSpPr>
          <p:cNvPr id="47" name="Text 45"/>
          <p:cNvSpPr/>
          <p:nvPr/>
        </p:nvSpPr>
        <p:spPr>
          <a:xfrm>
            <a:off x="8229600" y="4709160"/>
            <a:ext cx="3337560" cy="45720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 Add Win button on Dashboard header or + Add Accomplishment on the Accomplishments page.</a:t>
            </a:r>
            <a:endParaRPr lang="en-US" sz="900" dirty="0"/>
          </a:p>
        </p:txBody>
      </p:sp>
      <p:sp>
        <p:nvSpPr>
          <p:cNvPr id="48" name="Shape 46"/>
          <p:cNvSpPr/>
          <p:nvPr/>
        </p:nvSpPr>
        <p:spPr>
          <a:xfrm>
            <a:off x="8092440" y="5349240"/>
            <a:ext cx="3520440" cy="868680"/>
          </a:xfrm>
          <a:prstGeom prst="roundRect">
            <a:avLst>
              <a:gd name="adj" fmla="val 8421"/>
            </a:avLst>
          </a:prstGeom>
          <a:solidFill>
            <a:srgbClr val="141B36"/>
          </a:solidFill>
          <a:ln w="12700">
            <a:solidFill>
              <a:srgbClr val="2A3560"/>
            </a:solidFill>
            <a:prstDash val="solid"/>
          </a:ln>
        </p:spPr>
      </p:sp>
      <p:sp>
        <p:nvSpPr>
          <p:cNvPr id="49" name="Shape 47"/>
          <p:cNvSpPr/>
          <p:nvPr/>
        </p:nvSpPr>
        <p:spPr>
          <a:xfrm>
            <a:off x="8092440" y="5349240"/>
            <a:ext cx="73152" cy="868680"/>
          </a:xfrm>
          <a:prstGeom prst="rect">
            <a:avLst/>
          </a:prstGeom>
          <a:solidFill>
            <a:srgbClr val="818CF8"/>
          </a:solidFill>
          <a:ln w="12700">
            <a:solidFill>
              <a:srgbClr val="818CF8"/>
            </a:solidFill>
            <a:prstDash val="solid"/>
          </a:ln>
        </p:spPr>
      </p:sp>
      <p:sp>
        <p:nvSpPr>
          <p:cNvPr id="50" name="Text 48"/>
          <p:cNvSpPr/>
          <p:nvPr/>
        </p:nvSpPr>
        <p:spPr>
          <a:xfrm>
            <a:off x="8229600" y="5440680"/>
            <a:ext cx="3337560" cy="274320"/>
          </a:xfrm>
          <a:prstGeom prst="rect">
            <a:avLst/>
          </a:prstGeom>
          <a:noFill/>
          <a:ln/>
        </p:spPr>
        <p:txBody>
          <a:bodyPr wrap="square" lIns="0" tIns="0" rIns="0" bIns="0" rtlCol="0" anchor="ctr"/>
          <a:lstStyle/>
          <a:p>
            <a:pPr indent="0" marL="0">
              <a:buNone/>
            </a:pPr>
            <a:r>
              <a:rPr lang="en-US" sz="1100" b="1" dirty="0">
                <a:solidFill>
                  <a:srgbClr val="818CF8"/>
                </a:solidFill>
                <a:latin typeface="Calibri" pitchFamily="34" charset="0"/>
                <a:ea typeface="Calibri" pitchFamily="34" charset="-122"/>
                <a:cs typeface="Calibri" pitchFamily="34" charset="-120"/>
              </a:rPr>
              <a:t>Reviewed by</a:t>
            </a:r>
            <a:endParaRPr lang="en-US" sz="1100" dirty="0"/>
          </a:p>
        </p:txBody>
      </p:sp>
      <p:sp>
        <p:nvSpPr>
          <p:cNvPr id="51" name="Text 49"/>
          <p:cNvSpPr/>
          <p:nvPr/>
        </p:nvSpPr>
        <p:spPr>
          <a:xfrm>
            <a:off x="8229600" y="5715000"/>
            <a:ext cx="3337560" cy="45720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Same SPOC/Admin routing as tasks. Shows in Approvals as type = 'Accomplishments'.</a:t>
            </a:r>
            <a:endParaRPr lang="en-US" sz="900" dirty="0"/>
          </a:p>
        </p:txBody>
      </p:sp>
      <p:sp>
        <p:nvSpPr>
          <p:cNvPr id="52" name="Text 50"/>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53" name="Text 51"/>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16 / 28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14 — My Practice (SPOC view)</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SPOC only — reference.  The team roster SPOCs see: active on top, inactive below, nudge on the right.</a:t>
            </a:r>
            <a:endParaRPr lang="en-US" sz="1400" dirty="0"/>
          </a:p>
        </p:txBody>
      </p:sp>
      <p:sp>
        <p:nvSpPr>
          <p:cNvPr id="4" name="Shape 2"/>
          <p:cNvSpPr/>
          <p:nvPr/>
        </p:nvSpPr>
        <p:spPr>
          <a:xfrm>
            <a:off x="502920" y="1783080"/>
            <a:ext cx="11247120" cy="4663440"/>
          </a:xfrm>
          <a:prstGeom prst="roundRect">
            <a:avLst>
              <a:gd name="adj" fmla="val 1961"/>
            </a:avLst>
          </a:prstGeom>
          <a:solidFill>
            <a:srgbClr val="0B1223"/>
          </a:solidFill>
          <a:ln w="12700">
            <a:solidFill>
              <a:srgbClr val="CADCFC"/>
            </a:solidFill>
            <a:prstDash val="solid"/>
          </a:ln>
        </p:spPr>
      </p:sp>
      <p:sp>
        <p:nvSpPr>
          <p:cNvPr id="5" name="Shape 3"/>
          <p:cNvSpPr/>
          <p:nvPr/>
        </p:nvSpPr>
        <p:spPr>
          <a:xfrm>
            <a:off x="548640" y="1828800"/>
            <a:ext cx="11155680" cy="274320"/>
          </a:xfrm>
          <a:prstGeom prst="rect">
            <a:avLst/>
          </a:prstGeom>
          <a:solidFill>
            <a:srgbClr val="111833"/>
          </a:solidFill>
          <a:ln w="12700">
            <a:solidFill>
              <a:srgbClr val="111833"/>
            </a:solidFill>
            <a:prstDash val="solid"/>
          </a:ln>
        </p:spPr>
      </p:sp>
      <p:sp>
        <p:nvSpPr>
          <p:cNvPr id="6" name="Shape 4"/>
          <p:cNvSpPr/>
          <p:nvPr/>
        </p:nvSpPr>
        <p:spPr>
          <a:xfrm>
            <a:off x="640080" y="1892808"/>
            <a:ext cx="109728" cy="109728"/>
          </a:xfrm>
          <a:prstGeom prst="ellipse">
            <a:avLst/>
          </a:prstGeom>
          <a:solidFill>
            <a:srgbClr val="EF4444"/>
          </a:solidFill>
          <a:ln w="12700">
            <a:solidFill>
              <a:srgbClr val="EF4444"/>
            </a:solidFill>
            <a:prstDash val="solid"/>
          </a:ln>
        </p:spPr>
      </p:sp>
      <p:sp>
        <p:nvSpPr>
          <p:cNvPr id="7" name="Shape 5"/>
          <p:cNvSpPr/>
          <p:nvPr/>
        </p:nvSpPr>
        <p:spPr>
          <a:xfrm>
            <a:off x="786384" y="1892808"/>
            <a:ext cx="109728" cy="109728"/>
          </a:xfrm>
          <a:prstGeom prst="ellipse">
            <a:avLst/>
          </a:prstGeom>
          <a:solidFill>
            <a:srgbClr val="F59E0B"/>
          </a:solidFill>
          <a:ln w="12700">
            <a:solidFill>
              <a:srgbClr val="F59E0B"/>
            </a:solidFill>
            <a:prstDash val="solid"/>
          </a:ln>
        </p:spPr>
      </p:sp>
      <p:sp>
        <p:nvSpPr>
          <p:cNvPr id="8" name="Shape 6"/>
          <p:cNvSpPr/>
          <p:nvPr/>
        </p:nvSpPr>
        <p:spPr>
          <a:xfrm>
            <a:off x="932688" y="1892808"/>
            <a:ext cx="109728" cy="109728"/>
          </a:xfrm>
          <a:prstGeom prst="ellipse">
            <a:avLst/>
          </a:prstGeom>
          <a:solidFill>
            <a:srgbClr val="10B981"/>
          </a:solidFill>
          <a:ln w="12700">
            <a:solidFill>
              <a:srgbClr val="10B981"/>
            </a:solidFill>
            <a:prstDash val="solid"/>
          </a:ln>
        </p:spPr>
      </p:sp>
      <p:sp>
        <p:nvSpPr>
          <p:cNvPr id="9" name="Text 7"/>
          <p:cNvSpPr/>
          <p:nvPr/>
        </p:nvSpPr>
        <p:spPr>
          <a:xfrm>
            <a:off x="731520" y="1920240"/>
            <a:ext cx="64008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CES — Team Dashboard</a:t>
            </a:r>
            <a:endParaRPr lang="en-US" sz="1500" dirty="0"/>
          </a:p>
        </p:txBody>
      </p:sp>
      <p:sp>
        <p:nvSpPr>
          <p:cNvPr id="10" name="Shape 8"/>
          <p:cNvSpPr/>
          <p:nvPr/>
        </p:nvSpPr>
        <p:spPr>
          <a:xfrm>
            <a:off x="9921240" y="1938528"/>
            <a:ext cx="777240" cy="274320"/>
          </a:xfrm>
          <a:prstGeom prst="roundRect">
            <a:avLst>
              <a:gd name="adj" fmla="val 50000"/>
            </a:avLst>
          </a:prstGeom>
          <a:solidFill>
            <a:srgbClr val="1A2244"/>
          </a:solidFill>
          <a:ln w="12700">
            <a:solidFill>
              <a:srgbClr val="1A2244"/>
            </a:solidFill>
            <a:prstDash val="solid"/>
          </a:ln>
        </p:spPr>
      </p:sp>
      <p:sp>
        <p:nvSpPr>
          <p:cNvPr id="11" name="Text 9"/>
          <p:cNvSpPr/>
          <p:nvPr/>
        </p:nvSpPr>
        <p:spPr>
          <a:xfrm>
            <a:off x="9921240" y="1938528"/>
            <a:ext cx="7772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Export</a:t>
            </a:r>
            <a:endParaRPr lang="en-US" sz="900" dirty="0"/>
          </a:p>
        </p:txBody>
      </p:sp>
      <p:sp>
        <p:nvSpPr>
          <p:cNvPr id="12" name="Shape 10"/>
          <p:cNvSpPr/>
          <p:nvPr/>
        </p:nvSpPr>
        <p:spPr>
          <a:xfrm>
            <a:off x="10789920" y="1938528"/>
            <a:ext cx="914400" cy="274320"/>
          </a:xfrm>
          <a:prstGeom prst="roundRect">
            <a:avLst>
              <a:gd name="adj" fmla="val 50000"/>
            </a:avLst>
          </a:prstGeom>
          <a:solidFill>
            <a:srgbClr val="6366F1"/>
          </a:solidFill>
          <a:ln w="12700">
            <a:solidFill>
              <a:srgbClr val="6366F1"/>
            </a:solidFill>
            <a:prstDash val="solid"/>
          </a:ln>
        </p:spPr>
      </p:sp>
      <p:sp>
        <p:nvSpPr>
          <p:cNvPr id="13" name="Text 11"/>
          <p:cNvSpPr/>
          <p:nvPr/>
        </p:nvSpPr>
        <p:spPr>
          <a:xfrm>
            <a:off x="10789920" y="1938528"/>
            <a:ext cx="9144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Log Task</a:t>
            </a:r>
            <a:endParaRPr lang="en-US" sz="900" dirty="0"/>
          </a:p>
        </p:txBody>
      </p:sp>
      <p:sp>
        <p:nvSpPr>
          <p:cNvPr id="14" name="Shape 12"/>
          <p:cNvSpPr/>
          <p:nvPr/>
        </p:nvSpPr>
        <p:spPr>
          <a:xfrm>
            <a:off x="731520" y="2377440"/>
            <a:ext cx="2103120" cy="1005840"/>
          </a:xfrm>
          <a:prstGeom prst="roundRect">
            <a:avLst>
              <a:gd name="adj" fmla="val 7273"/>
            </a:avLst>
          </a:prstGeom>
          <a:solidFill>
            <a:srgbClr val="1A2244"/>
          </a:solidFill>
          <a:ln w="12700">
            <a:solidFill>
              <a:srgbClr val="2A3560"/>
            </a:solidFill>
            <a:prstDash val="solid"/>
          </a:ln>
        </p:spPr>
      </p:sp>
      <p:sp>
        <p:nvSpPr>
          <p:cNvPr id="15" name="Shape 13"/>
          <p:cNvSpPr/>
          <p:nvPr/>
        </p:nvSpPr>
        <p:spPr>
          <a:xfrm>
            <a:off x="731520" y="2377440"/>
            <a:ext cx="73152" cy="1005840"/>
          </a:xfrm>
          <a:prstGeom prst="rect">
            <a:avLst/>
          </a:prstGeom>
          <a:solidFill>
            <a:srgbClr val="6366F1"/>
          </a:solidFill>
          <a:ln w="12700">
            <a:solidFill>
              <a:srgbClr val="6366F1"/>
            </a:solidFill>
            <a:prstDash val="solid"/>
          </a:ln>
        </p:spPr>
      </p:sp>
      <p:sp>
        <p:nvSpPr>
          <p:cNvPr id="16" name="Text 14"/>
          <p:cNvSpPr/>
          <p:nvPr/>
        </p:nvSpPr>
        <p:spPr>
          <a:xfrm>
            <a:off x="914400" y="2468880"/>
            <a:ext cx="182880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0</a:t>
            </a:r>
            <a:endParaRPr lang="en-US" sz="2400" dirty="0"/>
          </a:p>
        </p:txBody>
      </p:sp>
      <p:sp>
        <p:nvSpPr>
          <p:cNvPr id="17" name="Text 15"/>
          <p:cNvSpPr/>
          <p:nvPr/>
        </p:nvSpPr>
        <p:spPr>
          <a:xfrm>
            <a:off x="914400" y="2971800"/>
            <a:ext cx="18288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Team Members</a:t>
            </a:r>
            <a:endParaRPr lang="en-US" sz="900" dirty="0"/>
          </a:p>
        </p:txBody>
      </p:sp>
      <p:sp>
        <p:nvSpPr>
          <p:cNvPr id="18" name="Shape 16"/>
          <p:cNvSpPr/>
          <p:nvPr/>
        </p:nvSpPr>
        <p:spPr>
          <a:xfrm>
            <a:off x="2944368" y="2377440"/>
            <a:ext cx="2103120" cy="1005840"/>
          </a:xfrm>
          <a:prstGeom prst="roundRect">
            <a:avLst>
              <a:gd name="adj" fmla="val 7273"/>
            </a:avLst>
          </a:prstGeom>
          <a:solidFill>
            <a:srgbClr val="1A2244"/>
          </a:solidFill>
          <a:ln w="12700">
            <a:solidFill>
              <a:srgbClr val="2A3560"/>
            </a:solidFill>
            <a:prstDash val="solid"/>
          </a:ln>
        </p:spPr>
      </p:sp>
      <p:sp>
        <p:nvSpPr>
          <p:cNvPr id="19" name="Shape 17"/>
          <p:cNvSpPr/>
          <p:nvPr/>
        </p:nvSpPr>
        <p:spPr>
          <a:xfrm>
            <a:off x="2944368" y="2377440"/>
            <a:ext cx="73152" cy="1005840"/>
          </a:xfrm>
          <a:prstGeom prst="rect">
            <a:avLst/>
          </a:prstGeom>
          <a:solidFill>
            <a:srgbClr val="3B82F6"/>
          </a:solidFill>
          <a:ln w="12700">
            <a:solidFill>
              <a:srgbClr val="3B82F6"/>
            </a:solidFill>
            <a:prstDash val="solid"/>
          </a:ln>
        </p:spPr>
      </p:sp>
      <p:sp>
        <p:nvSpPr>
          <p:cNvPr id="20" name="Text 18"/>
          <p:cNvSpPr/>
          <p:nvPr/>
        </p:nvSpPr>
        <p:spPr>
          <a:xfrm>
            <a:off x="3127248" y="2468880"/>
            <a:ext cx="182880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0</a:t>
            </a:r>
            <a:endParaRPr lang="en-US" sz="2400" dirty="0"/>
          </a:p>
        </p:txBody>
      </p:sp>
      <p:sp>
        <p:nvSpPr>
          <p:cNvPr id="21" name="Text 19"/>
          <p:cNvSpPr/>
          <p:nvPr/>
        </p:nvSpPr>
        <p:spPr>
          <a:xfrm>
            <a:off x="3127248" y="2971800"/>
            <a:ext cx="18288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Total Tasks</a:t>
            </a:r>
            <a:endParaRPr lang="en-US" sz="900" dirty="0"/>
          </a:p>
        </p:txBody>
      </p:sp>
      <p:sp>
        <p:nvSpPr>
          <p:cNvPr id="22" name="Shape 20"/>
          <p:cNvSpPr/>
          <p:nvPr/>
        </p:nvSpPr>
        <p:spPr>
          <a:xfrm>
            <a:off x="5157216" y="2377440"/>
            <a:ext cx="2103120" cy="1005840"/>
          </a:xfrm>
          <a:prstGeom prst="roundRect">
            <a:avLst>
              <a:gd name="adj" fmla="val 7273"/>
            </a:avLst>
          </a:prstGeom>
          <a:solidFill>
            <a:srgbClr val="1A2244"/>
          </a:solidFill>
          <a:ln w="12700">
            <a:solidFill>
              <a:srgbClr val="2A3560"/>
            </a:solidFill>
            <a:prstDash val="solid"/>
          </a:ln>
        </p:spPr>
      </p:sp>
      <p:sp>
        <p:nvSpPr>
          <p:cNvPr id="23" name="Shape 21"/>
          <p:cNvSpPr/>
          <p:nvPr/>
        </p:nvSpPr>
        <p:spPr>
          <a:xfrm>
            <a:off x="5157216" y="2377440"/>
            <a:ext cx="73152" cy="1005840"/>
          </a:xfrm>
          <a:prstGeom prst="rect">
            <a:avLst/>
          </a:prstGeom>
          <a:solidFill>
            <a:srgbClr val="10B981"/>
          </a:solidFill>
          <a:ln w="12700">
            <a:solidFill>
              <a:srgbClr val="10B981"/>
            </a:solidFill>
            <a:prstDash val="solid"/>
          </a:ln>
        </p:spPr>
      </p:sp>
      <p:sp>
        <p:nvSpPr>
          <p:cNvPr id="24" name="Text 22"/>
          <p:cNvSpPr/>
          <p:nvPr/>
        </p:nvSpPr>
        <p:spPr>
          <a:xfrm>
            <a:off x="5340096" y="2468880"/>
            <a:ext cx="182880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0</a:t>
            </a:r>
            <a:endParaRPr lang="en-US" sz="2400" dirty="0"/>
          </a:p>
        </p:txBody>
      </p:sp>
      <p:sp>
        <p:nvSpPr>
          <p:cNvPr id="25" name="Text 23"/>
          <p:cNvSpPr/>
          <p:nvPr/>
        </p:nvSpPr>
        <p:spPr>
          <a:xfrm>
            <a:off x="5340096" y="2971800"/>
            <a:ext cx="18288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CES Hours Saved</a:t>
            </a:r>
            <a:endParaRPr lang="en-US" sz="900" dirty="0"/>
          </a:p>
        </p:txBody>
      </p:sp>
      <p:sp>
        <p:nvSpPr>
          <p:cNvPr id="26" name="Shape 24"/>
          <p:cNvSpPr/>
          <p:nvPr/>
        </p:nvSpPr>
        <p:spPr>
          <a:xfrm>
            <a:off x="7370064" y="2377440"/>
            <a:ext cx="2103120" cy="1005840"/>
          </a:xfrm>
          <a:prstGeom prst="roundRect">
            <a:avLst>
              <a:gd name="adj" fmla="val 7273"/>
            </a:avLst>
          </a:prstGeom>
          <a:solidFill>
            <a:srgbClr val="1A2244"/>
          </a:solidFill>
          <a:ln w="12700">
            <a:solidFill>
              <a:srgbClr val="2A3560"/>
            </a:solidFill>
            <a:prstDash val="solid"/>
          </a:ln>
        </p:spPr>
      </p:sp>
      <p:sp>
        <p:nvSpPr>
          <p:cNvPr id="27" name="Shape 25"/>
          <p:cNvSpPr/>
          <p:nvPr/>
        </p:nvSpPr>
        <p:spPr>
          <a:xfrm>
            <a:off x="7370064" y="2377440"/>
            <a:ext cx="73152" cy="1005840"/>
          </a:xfrm>
          <a:prstGeom prst="rect">
            <a:avLst/>
          </a:prstGeom>
          <a:solidFill>
            <a:srgbClr val="14B8A6"/>
          </a:solidFill>
          <a:ln w="12700">
            <a:solidFill>
              <a:srgbClr val="14B8A6"/>
            </a:solidFill>
            <a:prstDash val="solid"/>
          </a:ln>
        </p:spPr>
      </p:sp>
      <p:sp>
        <p:nvSpPr>
          <p:cNvPr id="28" name="Text 26"/>
          <p:cNvSpPr/>
          <p:nvPr/>
        </p:nvSpPr>
        <p:spPr>
          <a:xfrm>
            <a:off x="7552944" y="2468880"/>
            <a:ext cx="182880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0%</a:t>
            </a:r>
            <a:endParaRPr lang="en-US" sz="2400" dirty="0"/>
          </a:p>
        </p:txBody>
      </p:sp>
      <p:sp>
        <p:nvSpPr>
          <p:cNvPr id="29" name="Text 27"/>
          <p:cNvSpPr/>
          <p:nvPr/>
        </p:nvSpPr>
        <p:spPr>
          <a:xfrm>
            <a:off x="7552944" y="2971800"/>
            <a:ext cx="18288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Avg Efficiency</a:t>
            </a:r>
            <a:endParaRPr lang="en-US" sz="900" dirty="0"/>
          </a:p>
        </p:txBody>
      </p:sp>
      <p:sp>
        <p:nvSpPr>
          <p:cNvPr id="30" name="Shape 28"/>
          <p:cNvSpPr/>
          <p:nvPr/>
        </p:nvSpPr>
        <p:spPr>
          <a:xfrm>
            <a:off x="9582912" y="2377440"/>
            <a:ext cx="2103120" cy="1005840"/>
          </a:xfrm>
          <a:prstGeom prst="roundRect">
            <a:avLst>
              <a:gd name="adj" fmla="val 7273"/>
            </a:avLst>
          </a:prstGeom>
          <a:solidFill>
            <a:srgbClr val="1A2244"/>
          </a:solidFill>
          <a:ln w="12700">
            <a:solidFill>
              <a:srgbClr val="2A3560"/>
            </a:solidFill>
            <a:prstDash val="solid"/>
          </a:ln>
        </p:spPr>
      </p:sp>
      <p:sp>
        <p:nvSpPr>
          <p:cNvPr id="31" name="Shape 29"/>
          <p:cNvSpPr/>
          <p:nvPr/>
        </p:nvSpPr>
        <p:spPr>
          <a:xfrm>
            <a:off x="9582912" y="2377440"/>
            <a:ext cx="73152" cy="1005840"/>
          </a:xfrm>
          <a:prstGeom prst="rect">
            <a:avLst/>
          </a:prstGeom>
          <a:solidFill>
            <a:srgbClr val="EF4444"/>
          </a:solidFill>
          <a:ln w="12700">
            <a:solidFill>
              <a:srgbClr val="EF4444"/>
            </a:solidFill>
            <a:prstDash val="solid"/>
          </a:ln>
        </p:spPr>
      </p:sp>
      <p:sp>
        <p:nvSpPr>
          <p:cNvPr id="32" name="Text 30"/>
          <p:cNvSpPr/>
          <p:nvPr/>
        </p:nvSpPr>
        <p:spPr>
          <a:xfrm>
            <a:off x="9765792" y="2468880"/>
            <a:ext cx="182880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13</a:t>
            </a:r>
            <a:endParaRPr lang="en-US" sz="2400" dirty="0"/>
          </a:p>
        </p:txBody>
      </p:sp>
      <p:sp>
        <p:nvSpPr>
          <p:cNvPr id="33" name="Text 31"/>
          <p:cNvSpPr/>
          <p:nvPr/>
        </p:nvSpPr>
        <p:spPr>
          <a:xfrm>
            <a:off x="9765792" y="2971800"/>
            <a:ext cx="18288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Inactive</a:t>
            </a:r>
            <a:endParaRPr lang="en-US" sz="900" dirty="0"/>
          </a:p>
        </p:txBody>
      </p:sp>
      <p:sp>
        <p:nvSpPr>
          <p:cNvPr id="34" name="Text 32"/>
          <p:cNvSpPr/>
          <p:nvPr/>
        </p:nvSpPr>
        <p:spPr>
          <a:xfrm>
            <a:off x="731520" y="3566160"/>
            <a:ext cx="50292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Team Members  ·  0 members</a:t>
            </a:r>
            <a:endParaRPr lang="en-US" sz="1100" dirty="0"/>
          </a:p>
        </p:txBody>
      </p:sp>
      <p:sp>
        <p:nvSpPr>
          <p:cNvPr id="35" name="Text 33"/>
          <p:cNvSpPr/>
          <p:nvPr/>
        </p:nvSpPr>
        <p:spPr>
          <a:xfrm>
            <a:off x="6035040" y="3566160"/>
            <a:ext cx="5669280" cy="27432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 Inactive Members  ·  13 members</a:t>
            </a:r>
            <a:endParaRPr lang="en-US" sz="1100" dirty="0"/>
          </a:p>
        </p:txBody>
      </p:sp>
      <p:sp>
        <p:nvSpPr>
          <p:cNvPr id="36" name="Shape 34"/>
          <p:cNvSpPr/>
          <p:nvPr/>
        </p:nvSpPr>
        <p:spPr>
          <a:xfrm>
            <a:off x="6035040" y="3886200"/>
            <a:ext cx="5669280" cy="548640"/>
          </a:xfrm>
          <a:prstGeom prst="roundRect">
            <a:avLst>
              <a:gd name="adj" fmla="val 13333"/>
            </a:avLst>
          </a:prstGeom>
          <a:solidFill>
            <a:srgbClr val="141B36"/>
          </a:solidFill>
          <a:ln w="12700">
            <a:solidFill>
              <a:srgbClr val="2A3560"/>
            </a:solidFill>
            <a:prstDash val="solid"/>
          </a:ln>
        </p:spPr>
      </p:sp>
      <p:sp>
        <p:nvSpPr>
          <p:cNvPr id="37" name="Text 35"/>
          <p:cNvSpPr/>
          <p:nvPr/>
        </p:nvSpPr>
        <p:spPr>
          <a:xfrm>
            <a:off x="6172200" y="4023360"/>
            <a:ext cx="2286000" cy="274320"/>
          </a:xfrm>
          <a:prstGeom prst="rect">
            <a:avLst/>
          </a:prstGeom>
          <a:noFill/>
          <a:ln/>
        </p:spPr>
        <p:txBody>
          <a:bodyPr wrap="square" lIns="0" tIns="0" rIns="0" bIns="0" rtlCol="0" anchor="ctr"/>
          <a:lstStyle/>
          <a:p>
            <a:pPr indent="0" marL="0">
              <a:buNone/>
            </a:pPr>
            <a:r>
              <a:rPr lang="en-US" sz="1000" b="1" dirty="0">
                <a:solidFill>
                  <a:srgbClr val="FFFFFF"/>
                </a:solidFill>
              </a:rPr>
              <a:t>Ahmed Ibrahim</a:t>
            </a:r>
            <a:endParaRPr lang="en-US" sz="1000" dirty="0"/>
          </a:p>
        </p:txBody>
      </p:sp>
      <p:sp>
        <p:nvSpPr>
          <p:cNvPr id="38" name="Text 36"/>
          <p:cNvSpPr/>
          <p:nvPr/>
        </p:nvSpPr>
        <p:spPr>
          <a:xfrm>
            <a:off x="8458200" y="4023360"/>
            <a:ext cx="1920240" cy="274320"/>
          </a:xfrm>
          <a:prstGeom prst="rect">
            <a:avLst/>
          </a:prstGeom>
          <a:noFill/>
          <a:ln/>
        </p:spPr>
        <p:txBody>
          <a:bodyPr wrap="square" lIns="0" tIns="0" rIns="0" bIns="0" rtlCol="0" anchor="ctr"/>
          <a:lstStyle/>
          <a:p>
            <a:pPr indent="0" marL="0">
              <a:buNone/>
            </a:pPr>
            <a:r>
              <a:rPr lang="en-US" sz="900" dirty="0">
                <a:solidFill>
                  <a:srgbClr val="94A3B8"/>
                </a:solidFill>
              </a:rPr>
              <a:t>Never logged</a:t>
            </a:r>
            <a:endParaRPr lang="en-US" sz="900" dirty="0"/>
          </a:p>
        </p:txBody>
      </p:sp>
      <p:sp>
        <p:nvSpPr>
          <p:cNvPr id="39" name="Shape 37"/>
          <p:cNvSpPr/>
          <p:nvPr/>
        </p:nvSpPr>
        <p:spPr>
          <a:xfrm>
            <a:off x="10424160" y="4023360"/>
            <a:ext cx="1143000" cy="274320"/>
          </a:xfrm>
          <a:prstGeom prst="roundRect">
            <a:avLst>
              <a:gd name="adj" fmla="val 50000"/>
            </a:avLst>
          </a:prstGeom>
          <a:solidFill>
            <a:srgbClr val="6366F1"/>
          </a:solidFill>
          <a:ln w="12700">
            <a:solidFill>
              <a:srgbClr val="6366F1"/>
            </a:solidFill>
            <a:prstDash val="solid"/>
          </a:ln>
        </p:spPr>
      </p:sp>
      <p:sp>
        <p:nvSpPr>
          <p:cNvPr id="40" name="Text 38"/>
          <p:cNvSpPr/>
          <p:nvPr/>
        </p:nvSpPr>
        <p:spPr>
          <a:xfrm>
            <a:off x="10424160" y="4023360"/>
            <a:ext cx="11430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Nudge →</a:t>
            </a:r>
            <a:endParaRPr lang="en-US" sz="900" dirty="0"/>
          </a:p>
        </p:txBody>
      </p:sp>
      <p:sp>
        <p:nvSpPr>
          <p:cNvPr id="41" name="Shape 39"/>
          <p:cNvSpPr/>
          <p:nvPr/>
        </p:nvSpPr>
        <p:spPr>
          <a:xfrm>
            <a:off x="6035040" y="4498848"/>
            <a:ext cx="5669280" cy="548640"/>
          </a:xfrm>
          <a:prstGeom prst="roundRect">
            <a:avLst>
              <a:gd name="adj" fmla="val 13333"/>
            </a:avLst>
          </a:prstGeom>
          <a:solidFill>
            <a:srgbClr val="141B36"/>
          </a:solidFill>
          <a:ln w="12700">
            <a:solidFill>
              <a:srgbClr val="2A3560"/>
            </a:solidFill>
            <a:prstDash val="solid"/>
          </a:ln>
        </p:spPr>
      </p:sp>
      <p:sp>
        <p:nvSpPr>
          <p:cNvPr id="42" name="Text 40"/>
          <p:cNvSpPr/>
          <p:nvPr/>
        </p:nvSpPr>
        <p:spPr>
          <a:xfrm>
            <a:off x="6172200" y="4636008"/>
            <a:ext cx="2286000" cy="274320"/>
          </a:xfrm>
          <a:prstGeom prst="rect">
            <a:avLst/>
          </a:prstGeom>
          <a:noFill/>
          <a:ln/>
        </p:spPr>
        <p:txBody>
          <a:bodyPr wrap="square" lIns="0" tIns="0" rIns="0" bIns="0" rtlCol="0" anchor="ctr"/>
          <a:lstStyle/>
          <a:p>
            <a:pPr indent="0" marL="0">
              <a:buNone/>
            </a:pPr>
            <a:r>
              <a:rPr lang="en-US" sz="1000" b="1" dirty="0">
                <a:solidFill>
                  <a:srgbClr val="FFFFFF"/>
                </a:solidFill>
              </a:rPr>
              <a:t>Malak Madkour</a:t>
            </a:r>
            <a:endParaRPr lang="en-US" sz="1000" dirty="0"/>
          </a:p>
        </p:txBody>
      </p:sp>
      <p:sp>
        <p:nvSpPr>
          <p:cNvPr id="43" name="Text 41"/>
          <p:cNvSpPr/>
          <p:nvPr/>
        </p:nvSpPr>
        <p:spPr>
          <a:xfrm>
            <a:off x="8458200" y="4636008"/>
            <a:ext cx="1920240" cy="274320"/>
          </a:xfrm>
          <a:prstGeom prst="rect">
            <a:avLst/>
          </a:prstGeom>
          <a:noFill/>
          <a:ln/>
        </p:spPr>
        <p:txBody>
          <a:bodyPr wrap="square" lIns="0" tIns="0" rIns="0" bIns="0" rtlCol="0" anchor="ctr"/>
          <a:lstStyle/>
          <a:p>
            <a:pPr indent="0" marL="0">
              <a:buNone/>
            </a:pPr>
            <a:r>
              <a:rPr lang="en-US" sz="900" dirty="0">
                <a:solidFill>
                  <a:srgbClr val="94A3B8"/>
                </a:solidFill>
              </a:rPr>
              <a:t>Never logged</a:t>
            </a:r>
            <a:endParaRPr lang="en-US" sz="900" dirty="0"/>
          </a:p>
        </p:txBody>
      </p:sp>
      <p:sp>
        <p:nvSpPr>
          <p:cNvPr id="44" name="Shape 42"/>
          <p:cNvSpPr/>
          <p:nvPr/>
        </p:nvSpPr>
        <p:spPr>
          <a:xfrm>
            <a:off x="10424160" y="4636008"/>
            <a:ext cx="1143000" cy="274320"/>
          </a:xfrm>
          <a:prstGeom prst="roundRect">
            <a:avLst>
              <a:gd name="adj" fmla="val 50000"/>
            </a:avLst>
          </a:prstGeom>
          <a:solidFill>
            <a:srgbClr val="6366F1"/>
          </a:solidFill>
          <a:ln w="12700">
            <a:solidFill>
              <a:srgbClr val="6366F1"/>
            </a:solidFill>
            <a:prstDash val="solid"/>
          </a:ln>
        </p:spPr>
      </p:sp>
      <p:sp>
        <p:nvSpPr>
          <p:cNvPr id="45" name="Text 43"/>
          <p:cNvSpPr/>
          <p:nvPr/>
        </p:nvSpPr>
        <p:spPr>
          <a:xfrm>
            <a:off x="10424160" y="4636008"/>
            <a:ext cx="11430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Nudge →</a:t>
            </a:r>
            <a:endParaRPr lang="en-US" sz="900" dirty="0"/>
          </a:p>
        </p:txBody>
      </p:sp>
      <p:sp>
        <p:nvSpPr>
          <p:cNvPr id="46" name="Shape 44"/>
          <p:cNvSpPr/>
          <p:nvPr/>
        </p:nvSpPr>
        <p:spPr>
          <a:xfrm>
            <a:off x="6035040" y="5111496"/>
            <a:ext cx="5669280" cy="548640"/>
          </a:xfrm>
          <a:prstGeom prst="roundRect">
            <a:avLst>
              <a:gd name="adj" fmla="val 13333"/>
            </a:avLst>
          </a:prstGeom>
          <a:solidFill>
            <a:srgbClr val="141B36"/>
          </a:solidFill>
          <a:ln w="12700">
            <a:solidFill>
              <a:srgbClr val="2A3560"/>
            </a:solidFill>
            <a:prstDash val="solid"/>
          </a:ln>
        </p:spPr>
      </p:sp>
      <p:sp>
        <p:nvSpPr>
          <p:cNvPr id="47" name="Text 45"/>
          <p:cNvSpPr/>
          <p:nvPr/>
        </p:nvSpPr>
        <p:spPr>
          <a:xfrm>
            <a:off x="6172200" y="5248656"/>
            <a:ext cx="2286000" cy="274320"/>
          </a:xfrm>
          <a:prstGeom prst="rect">
            <a:avLst/>
          </a:prstGeom>
          <a:noFill/>
          <a:ln/>
        </p:spPr>
        <p:txBody>
          <a:bodyPr wrap="square" lIns="0" tIns="0" rIns="0" bIns="0" rtlCol="0" anchor="ctr"/>
          <a:lstStyle/>
          <a:p>
            <a:pPr indent="0" marL="0">
              <a:buNone/>
            </a:pPr>
            <a:r>
              <a:rPr lang="en-US" sz="1000" b="1" dirty="0">
                <a:solidFill>
                  <a:srgbClr val="FFFFFF"/>
                </a:solidFill>
              </a:rPr>
              <a:t>Mohamed Mohsen</a:t>
            </a:r>
            <a:endParaRPr lang="en-US" sz="1000" dirty="0"/>
          </a:p>
        </p:txBody>
      </p:sp>
      <p:sp>
        <p:nvSpPr>
          <p:cNvPr id="48" name="Text 46"/>
          <p:cNvSpPr/>
          <p:nvPr/>
        </p:nvSpPr>
        <p:spPr>
          <a:xfrm>
            <a:off x="8458200" y="5248656"/>
            <a:ext cx="1920240" cy="274320"/>
          </a:xfrm>
          <a:prstGeom prst="rect">
            <a:avLst/>
          </a:prstGeom>
          <a:noFill/>
          <a:ln/>
        </p:spPr>
        <p:txBody>
          <a:bodyPr wrap="square" lIns="0" tIns="0" rIns="0" bIns="0" rtlCol="0" anchor="ctr"/>
          <a:lstStyle/>
          <a:p>
            <a:pPr indent="0" marL="0">
              <a:buNone/>
            </a:pPr>
            <a:r>
              <a:rPr lang="en-US" sz="900" dirty="0">
                <a:solidFill>
                  <a:srgbClr val="94A3B8"/>
                </a:solidFill>
              </a:rPr>
              <a:t>Never logged</a:t>
            </a:r>
            <a:endParaRPr lang="en-US" sz="900" dirty="0"/>
          </a:p>
        </p:txBody>
      </p:sp>
      <p:sp>
        <p:nvSpPr>
          <p:cNvPr id="49" name="Shape 47"/>
          <p:cNvSpPr/>
          <p:nvPr/>
        </p:nvSpPr>
        <p:spPr>
          <a:xfrm>
            <a:off x="10424160" y="5248656"/>
            <a:ext cx="1143000" cy="274320"/>
          </a:xfrm>
          <a:prstGeom prst="roundRect">
            <a:avLst>
              <a:gd name="adj" fmla="val 50000"/>
            </a:avLst>
          </a:prstGeom>
          <a:solidFill>
            <a:srgbClr val="6366F1"/>
          </a:solidFill>
          <a:ln w="12700">
            <a:solidFill>
              <a:srgbClr val="6366F1"/>
            </a:solidFill>
            <a:prstDash val="solid"/>
          </a:ln>
        </p:spPr>
      </p:sp>
      <p:sp>
        <p:nvSpPr>
          <p:cNvPr id="50" name="Text 48"/>
          <p:cNvSpPr/>
          <p:nvPr/>
        </p:nvSpPr>
        <p:spPr>
          <a:xfrm>
            <a:off x="10424160" y="5248656"/>
            <a:ext cx="11430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Nudge →</a:t>
            </a:r>
            <a:endParaRPr lang="en-US" sz="900" dirty="0"/>
          </a:p>
        </p:txBody>
      </p:sp>
      <p:sp>
        <p:nvSpPr>
          <p:cNvPr id="51" name="Shape 49"/>
          <p:cNvSpPr/>
          <p:nvPr/>
        </p:nvSpPr>
        <p:spPr>
          <a:xfrm>
            <a:off x="6035040" y="5724144"/>
            <a:ext cx="5669280" cy="548640"/>
          </a:xfrm>
          <a:prstGeom prst="roundRect">
            <a:avLst>
              <a:gd name="adj" fmla="val 13333"/>
            </a:avLst>
          </a:prstGeom>
          <a:solidFill>
            <a:srgbClr val="141B36"/>
          </a:solidFill>
          <a:ln w="12700">
            <a:solidFill>
              <a:srgbClr val="2A3560"/>
            </a:solidFill>
            <a:prstDash val="solid"/>
          </a:ln>
        </p:spPr>
      </p:sp>
      <p:sp>
        <p:nvSpPr>
          <p:cNvPr id="52" name="Text 50"/>
          <p:cNvSpPr/>
          <p:nvPr/>
        </p:nvSpPr>
        <p:spPr>
          <a:xfrm>
            <a:off x="6172200" y="5861304"/>
            <a:ext cx="2286000" cy="274320"/>
          </a:xfrm>
          <a:prstGeom prst="rect">
            <a:avLst/>
          </a:prstGeom>
          <a:noFill/>
          <a:ln/>
        </p:spPr>
        <p:txBody>
          <a:bodyPr wrap="square" lIns="0" tIns="0" rIns="0" bIns="0" rtlCol="0" anchor="ctr"/>
          <a:lstStyle/>
          <a:p>
            <a:pPr indent="0" marL="0">
              <a:buNone/>
            </a:pPr>
            <a:r>
              <a:rPr lang="en-US" sz="1000" b="1" dirty="0">
                <a:solidFill>
                  <a:srgbClr val="FFFFFF"/>
                </a:solidFill>
              </a:rPr>
              <a:t>Mostafa Khaled</a:t>
            </a:r>
            <a:endParaRPr lang="en-US" sz="1000" dirty="0"/>
          </a:p>
        </p:txBody>
      </p:sp>
      <p:sp>
        <p:nvSpPr>
          <p:cNvPr id="53" name="Text 51"/>
          <p:cNvSpPr/>
          <p:nvPr/>
        </p:nvSpPr>
        <p:spPr>
          <a:xfrm>
            <a:off x="8458200" y="5861304"/>
            <a:ext cx="1920240" cy="274320"/>
          </a:xfrm>
          <a:prstGeom prst="rect">
            <a:avLst/>
          </a:prstGeom>
          <a:noFill/>
          <a:ln/>
        </p:spPr>
        <p:txBody>
          <a:bodyPr wrap="square" lIns="0" tIns="0" rIns="0" bIns="0" rtlCol="0" anchor="ctr"/>
          <a:lstStyle/>
          <a:p>
            <a:pPr indent="0" marL="0">
              <a:buNone/>
            </a:pPr>
            <a:r>
              <a:rPr lang="en-US" sz="900" dirty="0">
                <a:solidFill>
                  <a:srgbClr val="94A3B8"/>
                </a:solidFill>
              </a:rPr>
              <a:t>Never logged</a:t>
            </a:r>
            <a:endParaRPr lang="en-US" sz="900" dirty="0"/>
          </a:p>
        </p:txBody>
      </p:sp>
      <p:sp>
        <p:nvSpPr>
          <p:cNvPr id="54" name="Shape 52"/>
          <p:cNvSpPr/>
          <p:nvPr/>
        </p:nvSpPr>
        <p:spPr>
          <a:xfrm>
            <a:off x="10424160" y="5861304"/>
            <a:ext cx="1143000" cy="274320"/>
          </a:xfrm>
          <a:prstGeom prst="roundRect">
            <a:avLst>
              <a:gd name="adj" fmla="val 50000"/>
            </a:avLst>
          </a:prstGeom>
          <a:solidFill>
            <a:srgbClr val="6366F1"/>
          </a:solidFill>
          <a:ln w="12700">
            <a:solidFill>
              <a:srgbClr val="6366F1"/>
            </a:solidFill>
            <a:prstDash val="solid"/>
          </a:ln>
        </p:spPr>
      </p:sp>
      <p:sp>
        <p:nvSpPr>
          <p:cNvPr id="55" name="Text 53"/>
          <p:cNvSpPr/>
          <p:nvPr/>
        </p:nvSpPr>
        <p:spPr>
          <a:xfrm>
            <a:off x="10424160" y="5861304"/>
            <a:ext cx="11430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Nudge →</a:t>
            </a:r>
            <a:endParaRPr lang="en-US" sz="900" dirty="0"/>
          </a:p>
        </p:txBody>
      </p:sp>
      <p:sp>
        <p:nvSpPr>
          <p:cNvPr id="56" name="Shape 54"/>
          <p:cNvSpPr/>
          <p:nvPr/>
        </p:nvSpPr>
        <p:spPr>
          <a:xfrm>
            <a:off x="731520" y="3886200"/>
            <a:ext cx="5074920" cy="2423160"/>
          </a:xfrm>
          <a:prstGeom prst="roundRect">
            <a:avLst>
              <a:gd name="adj" fmla="val 3019"/>
            </a:avLst>
          </a:prstGeom>
          <a:solidFill>
            <a:srgbClr val="141B36"/>
          </a:solidFill>
          <a:ln w="12700">
            <a:solidFill>
              <a:srgbClr val="2A3560"/>
            </a:solidFill>
            <a:prstDash val="solid"/>
          </a:ln>
        </p:spPr>
      </p:sp>
      <p:sp>
        <p:nvSpPr>
          <p:cNvPr id="57" name="Text 55"/>
          <p:cNvSpPr/>
          <p:nvPr/>
        </p:nvSpPr>
        <p:spPr>
          <a:xfrm>
            <a:off x="731520" y="4800600"/>
            <a:ext cx="5074920" cy="320040"/>
          </a:xfrm>
          <a:prstGeom prst="rect">
            <a:avLst/>
          </a:prstGeom>
          <a:noFill/>
          <a:ln/>
        </p:spPr>
        <p:txBody>
          <a:bodyPr wrap="square" lIns="0" tIns="0" rIns="0" bIns="0" rtlCol="0" anchor="ctr"/>
          <a:lstStyle/>
          <a:p>
            <a:pPr algn="ctr" indent="0" marL="0">
              <a:buNone/>
            </a:pPr>
            <a:r>
              <a:rPr lang="en-US" sz="1300" b="1" dirty="0">
                <a:solidFill>
                  <a:srgbClr val="94A3B8"/>
                </a:solidFill>
                <a:latin typeface="Calibri" pitchFamily="34" charset="0"/>
                <a:ea typeface="Calibri" pitchFamily="34" charset="-122"/>
                <a:cs typeface="Calibri" pitchFamily="34" charset="-120"/>
              </a:rPr>
              <a:t>No active members yet</a:t>
            </a:r>
            <a:endParaRPr lang="en-US" sz="1300" dirty="0"/>
          </a:p>
        </p:txBody>
      </p:sp>
      <p:sp>
        <p:nvSpPr>
          <p:cNvPr id="58" name="Text 56"/>
          <p:cNvSpPr/>
          <p:nvPr/>
        </p:nvSpPr>
        <p:spPr>
          <a:xfrm>
            <a:off x="731520" y="5120640"/>
            <a:ext cx="5074920" cy="27432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Nudge the right column to start logging.</a:t>
            </a:r>
            <a:endParaRPr lang="en-US" sz="1000" dirty="0"/>
          </a:p>
        </p:txBody>
      </p:sp>
      <p:sp>
        <p:nvSpPr>
          <p:cNvPr id="59" name="Text 57"/>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60" name="Text 58"/>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17 / 28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15 — Nudge an inactive member</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SPOC only — reference.  If you don't see Nudge, that's fine: your SPOC will handle it if you fall behind.</a:t>
            </a:r>
            <a:endParaRPr lang="en-US" sz="1400" dirty="0"/>
          </a:p>
        </p:txBody>
      </p:sp>
      <p:sp>
        <p:nvSpPr>
          <p:cNvPr id="4" name="Shape 2"/>
          <p:cNvSpPr/>
          <p:nvPr/>
        </p:nvSpPr>
        <p:spPr>
          <a:xfrm>
            <a:off x="502920" y="1783080"/>
            <a:ext cx="5532120" cy="2057400"/>
          </a:xfrm>
          <a:prstGeom prst="roundRect">
            <a:avLst>
              <a:gd name="adj" fmla="val 3556"/>
            </a:avLst>
          </a:prstGeom>
          <a:solidFill>
            <a:srgbClr val="1A2244"/>
          </a:solidFill>
          <a:ln w="12700">
            <a:solidFill>
              <a:srgbClr val="2A3560"/>
            </a:solidFill>
            <a:prstDash val="solid"/>
          </a:ln>
        </p:spPr>
      </p:sp>
      <p:sp>
        <p:nvSpPr>
          <p:cNvPr id="5" name="Shape 3"/>
          <p:cNvSpPr/>
          <p:nvPr/>
        </p:nvSpPr>
        <p:spPr>
          <a:xfrm>
            <a:off x="502920" y="1783080"/>
            <a:ext cx="73152" cy="2057400"/>
          </a:xfrm>
          <a:prstGeom prst="rect">
            <a:avLst/>
          </a:prstGeom>
          <a:solidFill>
            <a:srgbClr val="6366F1"/>
          </a:solidFill>
          <a:ln w="12700">
            <a:solidFill>
              <a:srgbClr val="6366F1"/>
            </a:solidFill>
            <a:prstDash val="solid"/>
          </a:ln>
        </p:spPr>
      </p:sp>
      <p:sp>
        <p:nvSpPr>
          <p:cNvPr id="6" name="Shape 4"/>
          <p:cNvSpPr/>
          <p:nvPr/>
        </p:nvSpPr>
        <p:spPr>
          <a:xfrm>
            <a:off x="731520" y="2011680"/>
            <a:ext cx="594360" cy="594360"/>
          </a:xfrm>
          <a:prstGeom prst="ellipse">
            <a:avLst/>
          </a:prstGeom>
          <a:solidFill>
            <a:srgbClr val="6366F1"/>
          </a:solidFill>
          <a:ln w="19050">
            <a:solidFill>
              <a:srgbClr val="FFFFFF"/>
            </a:solidFill>
            <a:prstDash val="solid"/>
          </a:ln>
        </p:spPr>
      </p:sp>
      <p:sp>
        <p:nvSpPr>
          <p:cNvPr id="7" name="Text 5"/>
          <p:cNvSpPr/>
          <p:nvPr/>
        </p:nvSpPr>
        <p:spPr>
          <a:xfrm>
            <a:off x="731520" y="2011680"/>
            <a:ext cx="59436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508760" y="2057400"/>
            <a:ext cx="443484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Open My Practice</a:t>
            </a:r>
            <a:endParaRPr lang="en-US" sz="1800" dirty="0"/>
          </a:p>
        </p:txBody>
      </p:sp>
      <p:sp>
        <p:nvSpPr>
          <p:cNvPr id="9" name="Text 7"/>
          <p:cNvSpPr/>
          <p:nvPr/>
        </p:nvSpPr>
        <p:spPr>
          <a:xfrm>
            <a:off x="777240" y="2743200"/>
            <a:ext cx="5120640" cy="10058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Sidebar → My Practice → Inactive Members section</a:t>
            </a:r>
            <a:endParaRPr lang="en-US" sz="1200" dirty="0"/>
          </a:p>
        </p:txBody>
      </p:sp>
      <p:sp>
        <p:nvSpPr>
          <p:cNvPr id="10" name="Shape 8"/>
          <p:cNvSpPr/>
          <p:nvPr/>
        </p:nvSpPr>
        <p:spPr>
          <a:xfrm>
            <a:off x="6263640" y="1783080"/>
            <a:ext cx="5532120" cy="2057400"/>
          </a:xfrm>
          <a:prstGeom prst="roundRect">
            <a:avLst>
              <a:gd name="adj" fmla="val 3556"/>
            </a:avLst>
          </a:prstGeom>
          <a:solidFill>
            <a:srgbClr val="1A2244"/>
          </a:solidFill>
          <a:ln w="12700">
            <a:solidFill>
              <a:srgbClr val="2A3560"/>
            </a:solidFill>
            <a:prstDash val="solid"/>
          </a:ln>
        </p:spPr>
      </p:sp>
      <p:sp>
        <p:nvSpPr>
          <p:cNvPr id="11" name="Shape 9"/>
          <p:cNvSpPr/>
          <p:nvPr/>
        </p:nvSpPr>
        <p:spPr>
          <a:xfrm>
            <a:off x="6263640" y="1783080"/>
            <a:ext cx="73152" cy="2057400"/>
          </a:xfrm>
          <a:prstGeom prst="rect">
            <a:avLst/>
          </a:prstGeom>
          <a:solidFill>
            <a:srgbClr val="3B82F6"/>
          </a:solidFill>
          <a:ln w="12700">
            <a:solidFill>
              <a:srgbClr val="3B82F6"/>
            </a:solidFill>
            <a:prstDash val="solid"/>
          </a:ln>
        </p:spPr>
      </p:sp>
      <p:sp>
        <p:nvSpPr>
          <p:cNvPr id="12" name="Shape 10"/>
          <p:cNvSpPr/>
          <p:nvPr/>
        </p:nvSpPr>
        <p:spPr>
          <a:xfrm>
            <a:off x="6492240" y="2011680"/>
            <a:ext cx="594360" cy="594360"/>
          </a:xfrm>
          <a:prstGeom prst="ellipse">
            <a:avLst/>
          </a:prstGeom>
          <a:solidFill>
            <a:srgbClr val="3B82F6"/>
          </a:solidFill>
          <a:ln w="19050">
            <a:solidFill>
              <a:srgbClr val="FFFFFF"/>
            </a:solidFill>
            <a:prstDash val="solid"/>
          </a:ln>
        </p:spPr>
      </p:sp>
      <p:sp>
        <p:nvSpPr>
          <p:cNvPr id="13" name="Text 11"/>
          <p:cNvSpPr/>
          <p:nvPr/>
        </p:nvSpPr>
        <p:spPr>
          <a:xfrm>
            <a:off x="6492240" y="2011680"/>
            <a:ext cx="59436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7269480" y="2057400"/>
            <a:ext cx="443484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Find the person</a:t>
            </a:r>
            <a:endParaRPr lang="en-US" sz="1800" dirty="0"/>
          </a:p>
        </p:txBody>
      </p:sp>
      <p:sp>
        <p:nvSpPr>
          <p:cNvPr id="15" name="Text 13"/>
          <p:cNvSpPr/>
          <p:nvPr/>
        </p:nvSpPr>
        <p:spPr>
          <a:xfrm>
            <a:off x="6537960" y="2743200"/>
            <a:ext cx="5120640" cy="10058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Sorted by Days Inactive (most inactive at top)</a:t>
            </a:r>
            <a:endParaRPr lang="en-US" sz="1200" dirty="0"/>
          </a:p>
        </p:txBody>
      </p:sp>
      <p:sp>
        <p:nvSpPr>
          <p:cNvPr id="16" name="Shape 14"/>
          <p:cNvSpPr/>
          <p:nvPr/>
        </p:nvSpPr>
        <p:spPr>
          <a:xfrm>
            <a:off x="502920" y="4114800"/>
            <a:ext cx="5532120" cy="2057400"/>
          </a:xfrm>
          <a:prstGeom prst="roundRect">
            <a:avLst>
              <a:gd name="adj" fmla="val 3556"/>
            </a:avLst>
          </a:prstGeom>
          <a:solidFill>
            <a:srgbClr val="1A2244"/>
          </a:solidFill>
          <a:ln w="12700">
            <a:solidFill>
              <a:srgbClr val="2A3560"/>
            </a:solidFill>
            <a:prstDash val="solid"/>
          </a:ln>
        </p:spPr>
      </p:sp>
      <p:sp>
        <p:nvSpPr>
          <p:cNvPr id="17" name="Shape 15"/>
          <p:cNvSpPr/>
          <p:nvPr/>
        </p:nvSpPr>
        <p:spPr>
          <a:xfrm>
            <a:off x="502920" y="4114800"/>
            <a:ext cx="73152" cy="2057400"/>
          </a:xfrm>
          <a:prstGeom prst="rect">
            <a:avLst/>
          </a:prstGeom>
          <a:solidFill>
            <a:srgbClr val="818CF8"/>
          </a:solidFill>
          <a:ln w="12700">
            <a:solidFill>
              <a:srgbClr val="818CF8"/>
            </a:solidFill>
            <a:prstDash val="solid"/>
          </a:ln>
        </p:spPr>
      </p:sp>
      <p:sp>
        <p:nvSpPr>
          <p:cNvPr id="18" name="Shape 16"/>
          <p:cNvSpPr/>
          <p:nvPr/>
        </p:nvSpPr>
        <p:spPr>
          <a:xfrm>
            <a:off x="731520" y="4343400"/>
            <a:ext cx="594360" cy="594360"/>
          </a:xfrm>
          <a:prstGeom prst="ellipse">
            <a:avLst/>
          </a:prstGeom>
          <a:solidFill>
            <a:srgbClr val="818CF8"/>
          </a:solidFill>
          <a:ln w="19050">
            <a:solidFill>
              <a:srgbClr val="FFFFFF"/>
            </a:solidFill>
            <a:prstDash val="solid"/>
          </a:ln>
        </p:spPr>
      </p:sp>
      <p:sp>
        <p:nvSpPr>
          <p:cNvPr id="19" name="Text 17"/>
          <p:cNvSpPr/>
          <p:nvPr/>
        </p:nvSpPr>
        <p:spPr>
          <a:xfrm>
            <a:off x="731520" y="4343400"/>
            <a:ext cx="59436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1508760" y="4389120"/>
            <a:ext cx="443484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Click Nudge →</a:t>
            </a:r>
            <a:endParaRPr lang="en-US" sz="1800" dirty="0"/>
          </a:p>
        </p:txBody>
      </p:sp>
      <p:sp>
        <p:nvSpPr>
          <p:cNvPr id="21" name="Text 19"/>
          <p:cNvSpPr/>
          <p:nvPr/>
        </p:nvSpPr>
        <p:spPr>
          <a:xfrm>
            <a:off x="777240" y="5074920"/>
            <a:ext cx="5120640" cy="10058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Button on the right end of the row</a:t>
            </a:r>
            <a:endParaRPr lang="en-US" sz="1200" dirty="0"/>
          </a:p>
        </p:txBody>
      </p:sp>
      <p:sp>
        <p:nvSpPr>
          <p:cNvPr id="22" name="Shape 20"/>
          <p:cNvSpPr/>
          <p:nvPr/>
        </p:nvSpPr>
        <p:spPr>
          <a:xfrm>
            <a:off x="6263640" y="4114800"/>
            <a:ext cx="5532120" cy="2057400"/>
          </a:xfrm>
          <a:prstGeom prst="roundRect">
            <a:avLst>
              <a:gd name="adj" fmla="val 3556"/>
            </a:avLst>
          </a:prstGeom>
          <a:solidFill>
            <a:srgbClr val="1A2244"/>
          </a:solidFill>
          <a:ln w="12700">
            <a:solidFill>
              <a:srgbClr val="2A3560"/>
            </a:solidFill>
            <a:prstDash val="solid"/>
          </a:ln>
        </p:spPr>
      </p:sp>
      <p:sp>
        <p:nvSpPr>
          <p:cNvPr id="23" name="Shape 21"/>
          <p:cNvSpPr/>
          <p:nvPr/>
        </p:nvSpPr>
        <p:spPr>
          <a:xfrm>
            <a:off x="6263640" y="4114800"/>
            <a:ext cx="73152" cy="2057400"/>
          </a:xfrm>
          <a:prstGeom prst="rect">
            <a:avLst/>
          </a:prstGeom>
          <a:solidFill>
            <a:srgbClr val="10B981"/>
          </a:solidFill>
          <a:ln w="12700">
            <a:solidFill>
              <a:srgbClr val="10B981"/>
            </a:solidFill>
            <a:prstDash val="solid"/>
          </a:ln>
        </p:spPr>
      </p:sp>
      <p:sp>
        <p:nvSpPr>
          <p:cNvPr id="24" name="Shape 22"/>
          <p:cNvSpPr/>
          <p:nvPr/>
        </p:nvSpPr>
        <p:spPr>
          <a:xfrm>
            <a:off x="6492240" y="4343400"/>
            <a:ext cx="594360" cy="594360"/>
          </a:xfrm>
          <a:prstGeom prst="ellipse">
            <a:avLst/>
          </a:prstGeom>
          <a:solidFill>
            <a:srgbClr val="10B981"/>
          </a:solidFill>
          <a:ln w="19050">
            <a:solidFill>
              <a:srgbClr val="FFFFFF"/>
            </a:solidFill>
            <a:prstDash val="solid"/>
          </a:ln>
        </p:spPr>
      </p:sp>
      <p:sp>
        <p:nvSpPr>
          <p:cNvPr id="25" name="Text 23"/>
          <p:cNvSpPr/>
          <p:nvPr/>
        </p:nvSpPr>
        <p:spPr>
          <a:xfrm>
            <a:off x="6492240" y="4343400"/>
            <a:ext cx="59436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p:nvPr/>
        </p:nvSpPr>
        <p:spPr>
          <a:xfrm>
            <a:off x="7269480" y="4389120"/>
            <a:ext cx="443484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Confirmation toast</a:t>
            </a:r>
            <a:endParaRPr lang="en-US" sz="1800" dirty="0"/>
          </a:p>
        </p:txBody>
      </p:sp>
      <p:sp>
        <p:nvSpPr>
          <p:cNvPr id="27" name="Text 25"/>
          <p:cNvSpPr/>
          <p:nvPr/>
        </p:nvSpPr>
        <p:spPr>
          <a:xfrm>
            <a:off x="6537960" y="5074920"/>
            <a:ext cx="5120640" cy="10058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Email fires, Last Nudged column updates, row dims</a:t>
            </a:r>
            <a:endParaRPr lang="en-US" sz="1200" dirty="0"/>
          </a:p>
        </p:txBody>
      </p:sp>
      <p:sp>
        <p:nvSpPr>
          <p:cNvPr id="28" name="Shape 26"/>
          <p:cNvSpPr/>
          <p:nvPr/>
        </p:nvSpPr>
        <p:spPr>
          <a:xfrm>
            <a:off x="502920" y="6400800"/>
            <a:ext cx="11201400" cy="274320"/>
          </a:xfrm>
          <a:prstGeom prst="roundRect">
            <a:avLst>
              <a:gd name="adj" fmla="val 26667"/>
            </a:avLst>
          </a:prstGeom>
          <a:solidFill>
            <a:srgbClr val="141B36"/>
          </a:solidFill>
          <a:ln w="12700">
            <a:solidFill>
              <a:srgbClr val="2A3560"/>
            </a:solidFill>
            <a:prstDash val="solid"/>
          </a:ln>
        </p:spPr>
      </p:sp>
      <p:sp>
        <p:nvSpPr>
          <p:cNvPr id="29" name="Text 27"/>
          <p:cNvSpPr/>
          <p:nvPr/>
        </p:nvSpPr>
        <p:spPr>
          <a:xfrm>
            <a:off x="640080" y="6419088"/>
            <a:ext cx="10972800" cy="256032"/>
          </a:xfrm>
          <a:prstGeom prst="rect">
            <a:avLst/>
          </a:prstGeom>
          <a:noFill/>
          <a:ln/>
        </p:spPr>
        <p:txBody>
          <a:bodyPr wrap="square" lIns="0" tIns="0" rIns="0" bIns="0" rtlCol="0" anchor="ctr"/>
          <a:lstStyle/>
          <a:p>
            <a:pPr indent="0" marL="0">
              <a:buNone/>
            </a:pPr>
            <a:r>
              <a:rPr lang="en-US" sz="1000" i="1" dirty="0">
                <a:solidFill>
                  <a:srgbClr val="F59E0B"/>
                </a:solidFill>
                <a:latin typeface="Calibri" pitchFamily="34" charset="0"/>
                <a:ea typeface="Calibri" pitchFamily="34" charset="-122"/>
                <a:cs typeface="Calibri" pitchFamily="34" charset="-120"/>
              </a:rPr>
              <a:t>A person can only be nudged once per 7 days — prevents spam.</a:t>
            </a:r>
            <a:endParaRPr lang="en-US" sz="10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31" name="Text 29"/>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18 / 28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16 — Manage Copilot Access (149 users)</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SPOC / Admin only — reference.  SPOCs add / edit / delete licensed users in their practice.</a:t>
            </a:r>
            <a:endParaRPr lang="en-US" sz="1400" dirty="0"/>
          </a:p>
        </p:txBody>
      </p:sp>
      <p:sp>
        <p:nvSpPr>
          <p:cNvPr id="4" name="Shape 2"/>
          <p:cNvSpPr/>
          <p:nvPr/>
        </p:nvSpPr>
        <p:spPr>
          <a:xfrm>
            <a:off x="502920" y="1783080"/>
            <a:ext cx="7635240" cy="4663440"/>
          </a:xfrm>
          <a:prstGeom prst="roundRect">
            <a:avLst>
              <a:gd name="adj" fmla="val 1961"/>
            </a:avLst>
          </a:prstGeom>
          <a:solidFill>
            <a:srgbClr val="0B1223"/>
          </a:solidFill>
          <a:ln w="12700">
            <a:solidFill>
              <a:srgbClr val="CADCFC"/>
            </a:solidFill>
            <a:prstDash val="solid"/>
          </a:ln>
        </p:spPr>
      </p:sp>
      <p:sp>
        <p:nvSpPr>
          <p:cNvPr id="5" name="Shape 3"/>
          <p:cNvSpPr/>
          <p:nvPr/>
        </p:nvSpPr>
        <p:spPr>
          <a:xfrm>
            <a:off x="548640" y="1828800"/>
            <a:ext cx="7543800" cy="274320"/>
          </a:xfrm>
          <a:prstGeom prst="rect">
            <a:avLst/>
          </a:prstGeom>
          <a:solidFill>
            <a:srgbClr val="111833"/>
          </a:solidFill>
          <a:ln w="12700">
            <a:solidFill>
              <a:srgbClr val="111833"/>
            </a:solidFill>
            <a:prstDash val="solid"/>
          </a:ln>
        </p:spPr>
      </p:sp>
      <p:sp>
        <p:nvSpPr>
          <p:cNvPr id="6" name="Shape 4"/>
          <p:cNvSpPr/>
          <p:nvPr/>
        </p:nvSpPr>
        <p:spPr>
          <a:xfrm>
            <a:off x="640080" y="1892808"/>
            <a:ext cx="109728" cy="109728"/>
          </a:xfrm>
          <a:prstGeom prst="ellipse">
            <a:avLst/>
          </a:prstGeom>
          <a:solidFill>
            <a:srgbClr val="EF4444"/>
          </a:solidFill>
          <a:ln w="12700">
            <a:solidFill>
              <a:srgbClr val="EF4444"/>
            </a:solidFill>
            <a:prstDash val="solid"/>
          </a:ln>
        </p:spPr>
      </p:sp>
      <p:sp>
        <p:nvSpPr>
          <p:cNvPr id="7" name="Shape 5"/>
          <p:cNvSpPr/>
          <p:nvPr/>
        </p:nvSpPr>
        <p:spPr>
          <a:xfrm>
            <a:off x="786384" y="1892808"/>
            <a:ext cx="109728" cy="109728"/>
          </a:xfrm>
          <a:prstGeom prst="ellipse">
            <a:avLst/>
          </a:prstGeom>
          <a:solidFill>
            <a:srgbClr val="F59E0B"/>
          </a:solidFill>
          <a:ln w="12700">
            <a:solidFill>
              <a:srgbClr val="F59E0B"/>
            </a:solidFill>
            <a:prstDash val="solid"/>
          </a:ln>
        </p:spPr>
      </p:sp>
      <p:sp>
        <p:nvSpPr>
          <p:cNvPr id="8" name="Shape 6"/>
          <p:cNvSpPr/>
          <p:nvPr/>
        </p:nvSpPr>
        <p:spPr>
          <a:xfrm>
            <a:off x="932688" y="1892808"/>
            <a:ext cx="109728" cy="109728"/>
          </a:xfrm>
          <a:prstGeom prst="ellipse">
            <a:avLst/>
          </a:prstGeom>
          <a:solidFill>
            <a:srgbClr val="10B981"/>
          </a:solidFill>
          <a:ln w="12700">
            <a:solidFill>
              <a:srgbClr val="10B981"/>
            </a:solidFill>
            <a:prstDash val="solid"/>
          </a:ln>
        </p:spPr>
      </p:sp>
      <p:sp>
        <p:nvSpPr>
          <p:cNvPr id="9" name="Text 7"/>
          <p:cNvSpPr/>
          <p:nvPr/>
        </p:nvSpPr>
        <p:spPr>
          <a:xfrm>
            <a:off x="731520" y="1920240"/>
            <a:ext cx="54864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Copilot Access  ·  149 users</a:t>
            </a:r>
            <a:endParaRPr lang="en-US" sz="1400" dirty="0"/>
          </a:p>
        </p:txBody>
      </p:sp>
      <p:sp>
        <p:nvSpPr>
          <p:cNvPr id="10" name="Shape 8"/>
          <p:cNvSpPr/>
          <p:nvPr/>
        </p:nvSpPr>
        <p:spPr>
          <a:xfrm>
            <a:off x="6263640" y="1938528"/>
            <a:ext cx="777240" cy="274320"/>
          </a:xfrm>
          <a:prstGeom prst="roundRect">
            <a:avLst>
              <a:gd name="adj" fmla="val 50000"/>
            </a:avLst>
          </a:prstGeom>
          <a:solidFill>
            <a:srgbClr val="1A2244"/>
          </a:solidFill>
          <a:ln w="12700">
            <a:solidFill>
              <a:srgbClr val="1A2244"/>
            </a:solidFill>
            <a:prstDash val="solid"/>
          </a:ln>
        </p:spPr>
      </p:sp>
      <p:sp>
        <p:nvSpPr>
          <p:cNvPr id="11" name="Text 9"/>
          <p:cNvSpPr/>
          <p:nvPr/>
        </p:nvSpPr>
        <p:spPr>
          <a:xfrm>
            <a:off x="6263640" y="1938528"/>
            <a:ext cx="7772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Export</a:t>
            </a:r>
            <a:endParaRPr lang="en-US" sz="900" dirty="0"/>
          </a:p>
        </p:txBody>
      </p:sp>
      <p:sp>
        <p:nvSpPr>
          <p:cNvPr id="12" name="Shape 10"/>
          <p:cNvSpPr/>
          <p:nvPr/>
        </p:nvSpPr>
        <p:spPr>
          <a:xfrm>
            <a:off x="7132320" y="1938528"/>
            <a:ext cx="914400" cy="274320"/>
          </a:xfrm>
          <a:prstGeom prst="roundRect">
            <a:avLst>
              <a:gd name="adj" fmla="val 50000"/>
            </a:avLst>
          </a:prstGeom>
          <a:solidFill>
            <a:srgbClr val="6366F1"/>
          </a:solidFill>
          <a:ln w="12700">
            <a:solidFill>
              <a:srgbClr val="6366F1"/>
            </a:solidFill>
            <a:prstDash val="solid"/>
          </a:ln>
        </p:spPr>
      </p:sp>
      <p:sp>
        <p:nvSpPr>
          <p:cNvPr id="13" name="Text 11"/>
          <p:cNvSpPr/>
          <p:nvPr/>
        </p:nvSpPr>
        <p:spPr>
          <a:xfrm>
            <a:off x="7132320" y="1938528"/>
            <a:ext cx="9144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Add User</a:t>
            </a:r>
            <a:endParaRPr lang="en-US" sz="900" dirty="0"/>
          </a:p>
        </p:txBody>
      </p:sp>
      <p:sp>
        <p:nvSpPr>
          <p:cNvPr id="14" name="Text 12"/>
          <p:cNvSpPr/>
          <p:nvPr/>
        </p:nvSpPr>
        <p:spPr>
          <a:xfrm>
            <a:off x="731520" y="2331720"/>
            <a:ext cx="1143000" cy="228600"/>
          </a:xfrm>
          <a:prstGeom prst="rect">
            <a:avLst/>
          </a:prstGeom>
          <a:noFill/>
          <a:ln/>
        </p:spPr>
        <p:txBody>
          <a:bodyPr wrap="square" lIns="0" tIns="0" rIns="0" bIns="0" rtlCol="0" anchor="ctr"/>
          <a:lstStyle/>
          <a:p>
            <a:pPr indent="0" marL="0">
              <a:buNone/>
            </a:pPr>
            <a:r>
              <a:rPr lang="en-US" sz="800" b="1" dirty="0">
                <a:solidFill>
                  <a:srgbClr val="94A3B8"/>
                </a:solidFill>
              </a:rPr>
              <a:t>Practice</a:t>
            </a:r>
            <a:endParaRPr lang="en-US" sz="800" dirty="0"/>
          </a:p>
        </p:txBody>
      </p:sp>
      <p:sp>
        <p:nvSpPr>
          <p:cNvPr id="15" name="Text 13"/>
          <p:cNvSpPr/>
          <p:nvPr/>
        </p:nvSpPr>
        <p:spPr>
          <a:xfrm>
            <a:off x="1883664" y="2331720"/>
            <a:ext cx="1143000" cy="228600"/>
          </a:xfrm>
          <a:prstGeom prst="rect">
            <a:avLst/>
          </a:prstGeom>
          <a:noFill/>
          <a:ln/>
        </p:spPr>
        <p:txBody>
          <a:bodyPr wrap="square" lIns="0" tIns="0" rIns="0" bIns="0" rtlCol="0" anchor="ctr"/>
          <a:lstStyle/>
          <a:p>
            <a:pPr indent="0" marL="0">
              <a:buNone/>
            </a:pPr>
            <a:r>
              <a:rPr lang="en-US" sz="800" b="1" dirty="0">
                <a:solidFill>
                  <a:srgbClr val="94A3B8"/>
                </a:solidFill>
              </a:rPr>
              <a:t>Name</a:t>
            </a:r>
            <a:endParaRPr lang="en-US" sz="800" dirty="0"/>
          </a:p>
        </p:txBody>
      </p:sp>
      <p:sp>
        <p:nvSpPr>
          <p:cNvPr id="16" name="Text 14"/>
          <p:cNvSpPr/>
          <p:nvPr/>
        </p:nvSpPr>
        <p:spPr>
          <a:xfrm>
            <a:off x="3035808" y="2331720"/>
            <a:ext cx="1143000" cy="228600"/>
          </a:xfrm>
          <a:prstGeom prst="rect">
            <a:avLst/>
          </a:prstGeom>
          <a:noFill/>
          <a:ln/>
        </p:spPr>
        <p:txBody>
          <a:bodyPr wrap="square" lIns="0" tIns="0" rIns="0" bIns="0" rtlCol="0" anchor="ctr"/>
          <a:lstStyle/>
          <a:p>
            <a:pPr indent="0" marL="0">
              <a:buNone/>
            </a:pPr>
            <a:r>
              <a:rPr lang="en-US" sz="800" b="1" dirty="0">
                <a:solidFill>
                  <a:srgbClr val="94A3B8"/>
                </a:solidFill>
              </a:rPr>
              <a:t>Email</a:t>
            </a:r>
            <a:endParaRPr lang="en-US" sz="800" dirty="0"/>
          </a:p>
        </p:txBody>
      </p:sp>
      <p:sp>
        <p:nvSpPr>
          <p:cNvPr id="17" name="Text 15"/>
          <p:cNvSpPr/>
          <p:nvPr/>
        </p:nvSpPr>
        <p:spPr>
          <a:xfrm>
            <a:off x="4187952" y="2331720"/>
            <a:ext cx="1143000" cy="228600"/>
          </a:xfrm>
          <a:prstGeom prst="rect">
            <a:avLst/>
          </a:prstGeom>
          <a:noFill/>
          <a:ln/>
        </p:spPr>
        <p:txBody>
          <a:bodyPr wrap="square" lIns="0" tIns="0" rIns="0" bIns="0" rtlCol="0" anchor="ctr"/>
          <a:lstStyle/>
          <a:p>
            <a:pPr indent="0" marL="0">
              <a:buNone/>
            </a:pPr>
            <a:r>
              <a:rPr lang="en-US" sz="800" b="1" dirty="0">
                <a:solidFill>
                  <a:srgbClr val="94A3B8"/>
                </a:solidFill>
              </a:rPr>
              <a:t>Role/Skill</a:t>
            </a:r>
            <a:endParaRPr lang="en-US" sz="800" dirty="0"/>
          </a:p>
        </p:txBody>
      </p:sp>
      <p:sp>
        <p:nvSpPr>
          <p:cNvPr id="18" name="Text 16"/>
          <p:cNvSpPr/>
          <p:nvPr/>
        </p:nvSpPr>
        <p:spPr>
          <a:xfrm>
            <a:off x="5340096" y="2331720"/>
            <a:ext cx="1143000" cy="228600"/>
          </a:xfrm>
          <a:prstGeom prst="rect">
            <a:avLst/>
          </a:prstGeom>
          <a:noFill/>
          <a:ln/>
        </p:spPr>
        <p:txBody>
          <a:bodyPr wrap="square" lIns="0" tIns="0" rIns="0" bIns="0" rtlCol="0" anchor="ctr"/>
          <a:lstStyle/>
          <a:p>
            <a:pPr indent="0" marL="0">
              <a:buNone/>
            </a:pPr>
            <a:r>
              <a:rPr lang="en-US" sz="800" b="1" dirty="0">
                <a:solidFill>
                  <a:srgbClr val="94A3B8"/>
                </a:solidFill>
              </a:rPr>
              <a:t>Status</a:t>
            </a:r>
            <a:endParaRPr lang="en-US" sz="800" dirty="0"/>
          </a:p>
        </p:txBody>
      </p:sp>
      <p:sp>
        <p:nvSpPr>
          <p:cNvPr id="19" name="Text 17"/>
          <p:cNvSpPr/>
          <p:nvPr/>
        </p:nvSpPr>
        <p:spPr>
          <a:xfrm>
            <a:off x="6492240" y="2331720"/>
            <a:ext cx="1143000" cy="228600"/>
          </a:xfrm>
          <a:prstGeom prst="rect">
            <a:avLst/>
          </a:prstGeom>
          <a:noFill/>
          <a:ln/>
        </p:spPr>
        <p:txBody>
          <a:bodyPr wrap="square" lIns="0" tIns="0" rIns="0" bIns="0" rtlCol="0" anchor="ctr"/>
          <a:lstStyle/>
          <a:p>
            <a:pPr indent="0" marL="0">
              <a:buNone/>
            </a:pPr>
            <a:r>
              <a:rPr lang="en-US" sz="800" b="1" dirty="0">
                <a:solidFill>
                  <a:srgbClr val="94A3B8"/>
                </a:solidFill>
              </a:rPr>
              <a:t>Actions</a:t>
            </a:r>
            <a:endParaRPr lang="en-US" sz="800" dirty="0"/>
          </a:p>
        </p:txBody>
      </p:sp>
      <p:sp>
        <p:nvSpPr>
          <p:cNvPr id="20" name="Shape 18"/>
          <p:cNvSpPr/>
          <p:nvPr/>
        </p:nvSpPr>
        <p:spPr>
          <a:xfrm>
            <a:off x="731520" y="2697480"/>
            <a:ext cx="7178040" cy="731520"/>
          </a:xfrm>
          <a:prstGeom prst="roundRect">
            <a:avLst>
              <a:gd name="adj" fmla="val 10000"/>
            </a:avLst>
          </a:prstGeom>
          <a:solidFill>
            <a:srgbClr val="141B36"/>
          </a:solidFill>
          <a:ln w="12700">
            <a:solidFill>
              <a:srgbClr val="2A3560"/>
            </a:solidFill>
            <a:prstDash val="solid"/>
          </a:ln>
        </p:spPr>
      </p:sp>
      <p:sp>
        <p:nvSpPr>
          <p:cNvPr id="21" name="Text 19"/>
          <p:cNvSpPr/>
          <p:nvPr/>
        </p:nvSpPr>
        <p:spPr>
          <a:xfrm>
            <a:off x="777240" y="2926080"/>
            <a:ext cx="1124712" cy="274320"/>
          </a:xfrm>
          <a:prstGeom prst="rect">
            <a:avLst/>
          </a:prstGeom>
          <a:noFill/>
          <a:ln/>
        </p:spPr>
        <p:txBody>
          <a:bodyPr wrap="square" lIns="0" tIns="0" rIns="0" bIns="0" rtlCol="0" anchor="ctr"/>
          <a:lstStyle/>
          <a:p>
            <a:pPr indent="0" marL="0">
              <a:buNone/>
            </a:pPr>
            <a:r>
              <a:rPr lang="en-US" sz="900" dirty="0">
                <a:solidFill>
                  <a:srgbClr val="FFFFFF"/>
                </a:solidFill>
              </a:rPr>
              <a:t>CES</a:t>
            </a:r>
            <a:endParaRPr lang="en-US" sz="900" dirty="0"/>
          </a:p>
        </p:txBody>
      </p:sp>
      <p:sp>
        <p:nvSpPr>
          <p:cNvPr id="22" name="Text 20"/>
          <p:cNvSpPr/>
          <p:nvPr/>
        </p:nvSpPr>
        <p:spPr>
          <a:xfrm>
            <a:off x="1929384" y="2926080"/>
            <a:ext cx="1124712" cy="274320"/>
          </a:xfrm>
          <a:prstGeom prst="rect">
            <a:avLst/>
          </a:prstGeom>
          <a:noFill/>
          <a:ln/>
        </p:spPr>
        <p:txBody>
          <a:bodyPr wrap="square" lIns="0" tIns="0" rIns="0" bIns="0" rtlCol="0" anchor="ctr"/>
          <a:lstStyle/>
          <a:p>
            <a:pPr indent="0" marL="0">
              <a:buNone/>
            </a:pPr>
            <a:r>
              <a:rPr lang="en-US" sz="900" dirty="0">
                <a:solidFill>
                  <a:srgbClr val="FFFFFF"/>
                </a:solidFill>
              </a:rPr>
              <a:t>Norah W.</a:t>
            </a:r>
            <a:endParaRPr lang="en-US" sz="900" dirty="0"/>
          </a:p>
        </p:txBody>
      </p:sp>
      <p:sp>
        <p:nvSpPr>
          <p:cNvPr id="23" name="Text 21"/>
          <p:cNvSpPr/>
          <p:nvPr/>
        </p:nvSpPr>
        <p:spPr>
          <a:xfrm>
            <a:off x="3081528" y="2926080"/>
            <a:ext cx="1124712" cy="274320"/>
          </a:xfrm>
          <a:prstGeom prst="rect">
            <a:avLst/>
          </a:prstGeom>
          <a:noFill/>
          <a:ln/>
        </p:spPr>
        <p:txBody>
          <a:bodyPr wrap="square" lIns="0" tIns="0" rIns="0" bIns="0" rtlCol="0" anchor="ctr"/>
          <a:lstStyle/>
          <a:p>
            <a:pPr indent="0" marL="0">
              <a:buNone/>
            </a:pPr>
            <a:r>
              <a:rPr lang="en-US" sz="900" dirty="0">
                <a:solidFill>
                  <a:srgbClr val="FFFFFF"/>
                </a:solidFill>
              </a:rPr>
              <a:t>norah.alwabel@...</a:t>
            </a:r>
            <a:endParaRPr lang="en-US" sz="900" dirty="0"/>
          </a:p>
        </p:txBody>
      </p:sp>
      <p:sp>
        <p:nvSpPr>
          <p:cNvPr id="24" name="Text 22"/>
          <p:cNvSpPr/>
          <p:nvPr/>
        </p:nvSpPr>
        <p:spPr>
          <a:xfrm>
            <a:off x="4233672" y="2926080"/>
            <a:ext cx="1124712" cy="274320"/>
          </a:xfrm>
          <a:prstGeom prst="rect">
            <a:avLst/>
          </a:prstGeom>
          <a:noFill/>
          <a:ln/>
        </p:spPr>
        <p:txBody>
          <a:bodyPr wrap="square" lIns="0" tIns="0" rIns="0" bIns="0" rtlCol="0" anchor="ctr"/>
          <a:lstStyle/>
          <a:p>
            <a:pPr indent="0" marL="0">
              <a:buNone/>
            </a:pPr>
            <a:r>
              <a:rPr lang="en-US" sz="900" dirty="0">
                <a:solidFill>
                  <a:srgbClr val="FFFFFF"/>
                </a:solidFill>
              </a:rPr>
              <a:t>SPOC</a:t>
            </a:r>
            <a:endParaRPr lang="en-US" sz="900" dirty="0"/>
          </a:p>
        </p:txBody>
      </p:sp>
      <p:sp>
        <p:nvSpPr>
          <p:cNvPr id="25" name="Shape 23"/>
          <p:cNvSpPr/>
          <p:nvPr/>
        </p:nvSpPr>
        <p:spPr>
          <a:xfrm>
            <a:off x="5385816" y="2898648"/>
            <a:ext cx="822960" cy="292608"/>
          </a:xfrm>
          <a:prstGeom prst="roundRect">
            <a:avLst>
              <a:gd name="adj" fmla="val 50000"/>
            </a:avLst>
          </a:prstGeom>
          <a:solidFill>
            <a:srgbClr val="10B981"/>
          </a:solidFill>
          <a:ln w="12700">
            <a:solidFill>
              <a:srgbClr val="10B981"/>
            </a:solidFill>
            <a:prstDash val="solid"/>
          </a:ln>
        </p:spPr>
      </p:sp>
      <p:sp>
        <p:nvSpPr>
          <p:cNvPr id="26" name="Text 24"/>
          <p:cNvSpPr/>
          <p:nvPr/>
        </p:nvSpPr>
        <p:spPr>
          <a:xfrm>
            <a:off x="5385816" y="2898648"/>
            <a:ext cx="8229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Active</a:t>
            </a:r>
            <a:endParaRPr lang="en-US" sz="900" dirty="0"/>
          </a:p>
        </p:txBody>
      </p:sp>
      <p:sp>
        <p:nvSpPr>
          <p:cNvPr id="27" name="Shape 25"/>
          <p:cNvSpPr/>
          <p:nvPr/>
        </p:nvSpPr>
        <p:spPr>
          <a:xfrm>
            <a:off x="7269480" y="2880360"/>
            <a:ext cx="292608" cy="320040"/>
          </a:xfrm>
          <a:prstGeom prst="roundRect">
            <a:avLst>
              <a:gd name="adj" fmla="val 15625"/>
            </a:avLst>
          </a:prstGeom>
          <a:solidFill>
            <a:srgbClr val="1A2244"/>
          </a:solidFill>
          <a:ln w="12700">
            <a:solidFill>
              <a:srgbClr val="3B82F6"/>
            </a:solidFill>
            <a:prstDash val="solid"/>
          </a:ln>
        </p:spPr>
      </p:sp>
      <p:sp>
        <p:nvSpPr>
          <p:cNvPr id="28" name="Text 26"/>
          <p:cNvSpPr/>
          <p:nvPr/>
        </p:nvSpPr>
        <p:spPr>
          <a:xfrm>
            <a:off x="7269480" y="2880360"/>
            <a:ext cx="292608" cy="320040"/>
          </a:xfrm>
          <a:prstGeom prst="rect">
            <a:avLst/>
          </a:prstGeom>
          <a:noFill/>
          <a:ln/>
        </p:spPr>
        <p:txBody>
          <a:bodyPr wrap="square" lIns="0" tIns="0" rIns="0" bIns="0" rtlCol="0" anchor="ctr"/>
          <a:lstStyle/>
          <a:p>
            <a:pPr algn="ctr" indent="0" marL="0">
              <a:buNone/>
            </a:pPr>
            <a:r>
              <a:rPr lang="en-US" sz="1200" dirty="0">
                <a:solidFill>
                  <a:srgbClr val="3B82F6"/>
                </a:solidFill>
              </a:rPr>
              <a:t>✎</a:t>
            </a:r>
            <a:endParaRPr lang="en-US" sz="1200" dirty="0"/>
          </a:p>
        </p:txBody>
      </p:sp>
      <p:sp>
        <p:nvSpPr>
          <p:cNvPr id="29" name="Shape 27"/>
          <p:cNvSpPr/>
          <p:nvPr/>
        </p:nvSpPr>
        <p:spPr>
          <a:xfrm>
            <a:off x="7607808" y="2880360"/>
            <a:ext cx="292608" cy="320040"/>
          </a:xfrm>
          <a:prstGeom prst="roundRect">
            <a:avLst>
              <a:gd name="adj" fmla="val 15625"/>
            </a:avLst>
          </a:prstGeom>
          <a:solidFill>
            <a:srgbClr val="1A2244"/>
          </a:solidFill>
          <a:ln w="12700">
            <a:solidFill>
              <a:srgbClr val="EF4444"/>
            </a:solidFill>
            <a:prstDash val="solid"/>
          </a:ln>
        </p:spPr>
      </p:sp>
      <p:sp>
        <p:nvSpPr>
          <p:cNvPr id="30" name="Text 28"/>
          <p:cNvSpPr/>
          <p:nvPr/>
        </p:nvSpPr>
        <p:spPr>
          <a:xfrm>
            <a:off x="7607808" y="2880360"/>
            <a:ext cx="292608" cy="320040"/>
          </a:xfrm>
          <a:prstGeom prst="rect">
            <a:avLst/>
          </a:prstGeom>
          <a:noFill/>
          <a:ln/>
        </p:spPr>
        <p:txBody>
          <a:bodyPr wrap="square" lIns="0" tIns="0" rIns="0" bIns="0" rtlCol="0" anchor="ctr"/>
          <a:lstStyle/>
          <a:p>
            <a:pPr algn="ctr" indent="0" marL="0">
              <a:buNone/>
            </a:pPr>
            <a:r>
              <a:rPr lang="en-US" sz="1200" b="1" dirty="0">
                <a:solidFill>
                  <a:srgbClr val="EF4444"/>
                </a:solidFill>
              </a:rPr>
              <a:t>✗</a:t>
            </a:r>
            <a:endParaRPr lang="en-US" sz="1200" dirty="0"/>
          </a:p>
        </p:txBody>
      </p:sp>
      <p:sp>
        <p:nvSpPr>
          <p:cNvPr id="31" name="Shape 29"/>
          <p:cNvSpPr/>
          <p:nvPr/>
        </p:nvSpPr>
        <p:spPr>
          <a:xfrm>
            <a:off x="731520" y="3566160"/>
            <a:ext cx="7178040" cy="731520"/>
          </a:xfrm>
          <a:prstGeom prst="roundRect">
            <a:avLst>
              <a:gd name="adj" fmla="val 10000"/>
            </a:avLst>
          </a:prstGeom>
          <a:solidFill>
            <a:srgbClr val="141B36"/>
          </a:solidFill>
          <a:ln w="12700">
            <a:solidFill>
              <a:srgbClr val="2A3560"/>
            </a:solidFill>
            <a:prstDash val="solid"/>
          </a:ln>
        </p:spPr>
      </p:sp>
      <p:sp>
        <p:nvSpPr>
          <p:cNvPr id="32" name="Text 30"/>
          <p:cNvSpPr/>
          <p:nvPr/>
        </p:nvSpPr>
        <p:spPr>
          <a:xfrm>
            <a:off x="777240" y="3794760"/>
            <a:ext cx="1124712" cy="274320"/>
          </a:xfrm>
          <a:prstGeom prst="rect">
            <a:avLst/>
          </a:prstGeom>
          <a:noFill/>
          <a:ln/>
        </p:spPr>
        <p:txBody>
          <a:bodyPr wrap="square" lIns="0" tIns="0" rIns="0" bIns="0" rtlCol="0" anchor="ctr"/>
          <a:lstStyle/>
          <a:p>
            <a:pPr indent="0" marL="0">
              <a:buNone/>
            </a:pPr>
            <a:r>
              <a:rPr lang="en-US" sz="900" dirty="0">
                <a:solidFill>
                  <a:srgbClr val="FFFFFF"/>
                </a:solidFill>
              </a:rPr>
              <a:t>CES</a:t>
            </a:r>
            <a:endParaRPr lang="en-US" sz="900" dirty="0"/>
          </a:p>
        </p:txBody>
      </p:sp>
      <p:sp>
        <p:nvSpPr>
          <p:cNvPr id="33" name="Text 31"/>
          <p:cNvSpPr/>
          <p:nvPr/>
        </p:nvSpPr>
        <p:spPr>
          <a:xfrm>
            <a:off x="1929384" y="3794760"/>
            <a:ext cx="1124712" cy="274320"/>
          </a:xfrm>
          <a:prstGeom prst="rect">
            <a:avLst/>
          </a:prstGeom>
          <a:noFill/>
          <a:ln/>
        </p:spPr>
        <p:txBody>
          <a:bodyPr wrap="square" lIns="0" tIns="0" rIns="0" bIns="0" rtlCol="0" anchor="ctr"/>
          <a:lstStyle/>
          <a:p>
            <a:pPr indent="0" marL="0">
              <a:buNone/>
            </a:pPr>
            <a:r>
              <a:rPr lang="en-US" sz="900" dirty="0">
                <a:solidFill>
                  <a:srgbClr val="FFFFFF"/>
                </a:solidFill>
              </a:rPr>
              <a:t>Ahmed I.</a:t>
            </a:r>
            <a:endParaRPr lang="en-US" sz="900" dirty="0"/>
          </a:p>
        </p:txBody>
      </p:sp>
      <p:sp>
        <p:nvSpPr>
          <p:cNvPr id="34" name="Text 32"/>
          <p:cNvSpPr/>
          <p:nvPr/>
        </p:nvSpPr>
        <p:spPr>
          <a:xfrm>
            <a:off x="3081528" y="3794760"/>
            <a:ext cx="1124712" cy="274320"/>
          </a:xfrm>
          <a:prstGeom prst="rect">
            <a:avLst/>
          </a:prstGeom>
          <a:noFill/>
          <a:ln/>
        </p:spPr>
        <p:txBody>
          <a:bodyPr wrap="square" lIns="0" tIns="0" rIns="0" bIns="0" rtlCol="0" anchor="ctr"/>
          <a:lstStyle/>
          <a:p>
            <a:pPr indent="0" marL="0">
              <a:buNone/>
            </a:pPr>
            <a:r>
              <a:rPr lang="en-US" sz="900" dirty="0">
                <a:solidFill>
                  <a:srgbClr val="FFFFFF"/>
                </a:solidFill>
              </a:rPr>
              <a:t>aibrahim@ejada...</a:t>
            </a:r>
            <a:endParaRPr lang="en-US" sz="900" dirty="0"/>
          </a:p>
        </p:txBody>
      </p:sp>
      <p:sp>
        <p:nvSpPr>
          <p:cNvPr id="35" name="Text 33"/>
          <p:cNvSpPr/>
          <p:nvPr/>
        </p:nvSpPr>
        <p:spPr>
          <a:xfrm>
            <a:off x="4233672" y="3794760"/>
            <a:ext cx="1124712" cy="274320"/>
          </a:xfrm>
          <a:prstGeom prst="rect">
            <a:avLst/>
          </a:prstGeom>
          <a:noFill/>
          <a:ln/>
        </p:spPr>
        <p:txBody>
          <a:bodyPr wrap="square" lIns="0" tIns="0" rIns="0" bIns="0" rtlCol="0" anchor="ctr"/>
          <a:lstStyle/>
          <a:p>
            <a:pPr indent="0" marL="0">
              <a:buNone/>
            </a:pPr>
            <a:r>
              <a:rPr lang="en-US" sz="900" dirty="0">
                <a:solidFill>
                  <a:srgbClr val="FFFFFF"/>
                </a:solidFill>
              </a:rPr>
              <a:t>Developer</a:t>
            </a:r>
            <a:endParaRPr lang="en-US" sz="900" dirty="0"/>
          </a:p>
        </p:txBody>
      </p:sp>
      <p:sp>
        <p:nvSpPr>
          <p:cNvPr id="36" name="Shape 34"/>
          <p:cNvSpPr/>
          <p:nvPr/>
        </p:nvSpPr>
        <p:spPr>
          <a:xfrm>
            <a:off x="5385816" y="3767328"/>
            <a:ext cx="822960" cy="292608"/>
          </a:xfrm>
          <a:prstGeom prst="roundRect">
            <a:avLst>
              <a:gd name="adj" fmla="val 50000"/>
            </a:avLst>
          </a:prstGeom>
          <a:solidFill>
            <a:srgbClr val="10B981"/>
          </a:solidFill>
          <a:ln w="12700">
            <a:solidFill>
              <a:srgbClr val="10B981"/>
            </a:solidFill>
            <a:prstDash val="solid"/>
          </a:ln>
        </p:spPr>
      </p:sp>
      <p:sp>
        <p:nvSpPr>
          <p:cNvPr id="37" name="Text 35"/>
          <p:cNvSpPr/>
          <p:nvPr/>
        </p:nvSpPr>
        <p:spPr>
          <a:xfrm>
            <a:off x="5385816" y="3767328"/>
            <a:ext cx="8229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Active</a:t>
            </a:r>
            <a:endParaRPr lang="en-US" sz="900" dirty="0"/>
          </a:p>
        </p:txBody>
      </p:sp>
      <p:sp>
        <p:nvSpPr>
          <p:cNvPr id="38" name="Shape 36"/>
          <p:cNvSpPr/>
          <p:nvPr/>
        </p:nvSpPr>
        <p:spPr>
          <a:xfrm>
            <a:off x="7269480" y="3749040"/>
            <a:ext cx="292608" cy="320040"/>
          </a:xfrm>
          <a:prstGeom prst="roundRect">
            <a:avLst>
              <a:gd name="adj" fmla="val 15625"/>
            </a:avLst>
          </a:prstGeom>
          <a:solidFill>
            <a:srgbClr val="1A2244"/>
          </a:solidFill>
          <a:ln w="12700">
            <a:solidFill>
              <a:srgbClr val="3B82F6"/>
            </a:solidFill>
            <a:prstDash val="solid"/>
          </a:ln>
        </p:spPr>
      </p:sp>
      <p:sp>
        <p:nvSpPr>
          <p:cNvPr id="39" name="Text 37"/>
          <p:cNvSpPr/>
          <p:nvPr/>
        </p:nvSpPr>
        <p:spPr>
          <a:xfrm>
            <a:off x="7269480" y="3749040"/>
            <a:ext cx="292608" cy="320040"/>
          </a:xfrm>
          <a:prstGeom prst="rect">
            <a:avLst/>
          </a:prstGeom>
          <a:noFill/>
          <a:ln/>
        </p:spPr>
        <p:txBody>
          <a:bodyPr wrap="square" lIns="0" tIns="0" rIns="0" bIns="0" rtlCol="0" anchor="ctr"/>
          <a:lstStyle/>
          <a:p>
            <a:pPr algn="ctr" indent="0" marL="0">
              <a:buNone/>
            </a:pPr>
            <a:r>
              <a:rPr lang="en-US" sz="1200" dirty="0">
                <a:solidFill>
                  <a:srgbClr val="3B82F6"/>
                </a:solidFill>
              </a:rPr>
              <a:t>✎</a:t>
            </a:r>
            <a:endParaRPr lang="en-US" sz="1200" dirty="0"/>
          </a:p>
        </p:txBody>
      </p:sp>
      <p:sp>
        <p:nvSpPr>
          <p:cNvPr id="40" name="Shape 38"/>
          <p:cNvSpPr/>
          <p:nvPr/>
        </p:nvSpPr>
        <p:spPr>
          <a:xfrm>
            <a:off x="7607808" y="3749040"/>
            <a:ext cx="292608" cy="320040"/>
          </a:xfrm>
          <a:prstGeom prst="roundRect">
            <a:avLst>
              <a:gd name="adj" fmla="val 15625"/>
            </a:avLst>
          </a:prstGeom>
          <a:solidFill>
            <a:srgbClr val="1A2244"/>
          </a:solidFill>
          <a:ln w="12700">
            <a:solidFill>
              <a:srgbClr val="EF4444"/>
            </a:solidFill>
            <a:prstDash val="solid"/>
          </a:ln>
        </p:spPr>
      </p:sp>
      <p:sp>
        <p:nvSpPr>
          <p:cNvPr id="41" name="Text 39"/>
          <p:cNvSpPr/>
          <p:nvPr/>
        </p:nvSpPr>
        <p:spPr>
          <a:xfrm>
            <a:off x="7607808" y="3749040"/>
            <a:ext cx="292608" cy="320040"/>
          </a:xfrm>
          <a:prstGeom prst="rect">
            <a:avLst/>
          </a:prstGeom>
          <a:noFill/>
          <a:ln/>
        </p:spPr>
        <p:txBody>
          <a:bodyPr wrap="square" lIns="0" tIns="0" rIns="0" bIns="0" rtlCol="0" anchor="ctr"/>
          <a:lstStyle/>
          <a:p>
            <a:pPr algn="ctr" indent="0" marL="0">
              <a:buNone/>
            </a:pPr>
            <a:r>
              <a:rPr lang="en-US" sz="1200" b="1" dirty="0">
                <a:solidFill>
                  <a:srgbClr val="EF4444"/>
                </a:solidFill>
              </a:rPr>
              <a:t>✗</a:t>
            </a:r>
            <a:endParaRPr lang="en-US" sz="1200" dirty="0"/>
          </a:p>
        </p:txBody>
      </p:sp>
      <p:sp>
        <p:nvSpPr>
          <p:cNvPr id="42" name="Shape 40"/>
          <p:cNvSpPr/>
          <p:nvPr/>
        </p:nvSpPr>
        <p:spPr>
          <a:xfrm>
            <a:off x="731520" y="4434840"/>
            <a:ext cx="7178040" cy="731520"/>
          </a:xfrm>
          <a:prstGeom prst="roundRect">
            <a:avLst>
              <a:gd name="adj" fmla="val 10000"/>
            </a:avLst>
          </a:prstGeom>
          <a:solidFill>
            <a:srgbClr val="141B36"/>
          </a:solidFill>
          <a:ln w="12700">
            <a:solidFill>
              <a:srgbClr val="2A3560"/>
            </a:solidFill>
            <a:prstDash val="solid"/>
          </a:ln>
        </p:spPr>
      </p:sp>
      <p:sp>
        <p:nvSpPr>
          <p:cNvPr id="43" name="Text 41"/>
          <p:cNvSpPr/>
          <p:nvPr/>
        </p:nvSpPr>
        <p:spPr>
          <a:xfrm>
            <a:off x="777240" y="4663440"/>
            <a:ext cx="1124712" cy="274320"/>
          </a:xfrm>
          <a:prstGeom prst="rect">
            <a:avLst/>
          </a:prstGeom>
          <a:noFill/>
          <a:ln/>
        </p:spPr>
        <p:txBody>
          <a:bodyPr wrap="square" lIns="0" tIns="0" rIns="0" bIns="0" rtlCol="0" anchor="ctr"/>
          <a:lstStyle/>
          <a:p>
            <a:pPr indent="0" marL="0">
              <a:buNone/>
            </a:pPr>
            <a:r>
              <a:rPr lang="en-US" sz="900" dirty="0">
                <a:solidFill>
                  <a:srgbClr val="FFFFFF"/>
                </a:solidFill>
              </a:rPr>
              <a:t>CES</a:t>
            </a:r>
            <a:endParaRPr lang="en-US" sz="900" dirty="0"/>
          </a:p>
        </p:txBody>
      </p:sp>
      <p:sp>
        <p:nvSpPr>
          <p:cNvPr id="44" name="Text 42"/>
          <p:cNvSpPr/>
          <p:nvPr/>
        </p:nvSpPr>
        <p:spPr>
          <a:xfrm>
            <a:off x="1929384" y="4663440"/>
            <a:ext cx="1124712" cy="274320"/>
          </a:xfrm>
          <a:prstGeom prst="rect">
            <a:avLst/>
          </a:prstGeom>
          <a:noFill/>
          <a:ln/>
        </p:spPr>
        <p:txBody>
          <a:bodyPr wrap="square" lIns="0" tIns="0" rIns="0" bIns="0" rtlCol="0" anchor="ctr"/>
          <a:lstStyle/>
          <a:p>
            <a:pPr indent="0" marL="0">
              <a:buNone/>
            </a:pPr>
            <a:r>
              <a:rPr lang="en-US" sz="900" dirty="0">
                <a:solidFill>
                  <a:srgbClr val="FFFFFF"/>
                </a:solidFill>
              </a:rPr>
              <a:t>Malak M.</a:t>
            </a:r>
            <a:endParaRPr lang="en-US" sz="900" dirty="0"/>
          </a:p>
        </p:txBody>
      </p:sp>
      <p:sp>
        <p:nvSpPr>
          <p:cNvPr id="45" name="Text 43"/>
          <p:cNvSpPr/>
          <p:nvPr/>
        </p:nvSpPr>
        <p:spPr>
          <a:xfrm>
            <a:off x="3081528" y="4663440"/>
            <a:ext cx="1124712" cy="274320"/>
          </a:xfrm>
          <a:prstGeom prst="rect">
            <a:avLst/>
          </a:prstGeom>
          <a:noFill/>
          <a:ln/>
        </p:spPr>
        <p:txBody>
          <a:bodyPr wrap="square" lIns="0" tIns="0" rIns="0" bIns="0" rtlCol="0" anchor="ctr"/>
          <a:lstStyle/>
          <a:p>
            <a:pPr indent="0" marL="0">
              <a:buNone/>
            </a:pPr>
            <a:r>
              <a:rPr lang="en-US" sz="900" dirty="0">
                <a:solidFill>
                  <a:srgbClr val="FFFFFF"/>
                </a:solidFill>
              </a:rPr>
              <a:t>mmadkour@ejada...</a:t>
            </a:r>
            <a:endParaRPr lang="en-US" sz="900" dirty="0"/>
          </a:p>
        </p:txBody>
      </p:sp>
      <p:sp>
        <p:nvSpPr>
          <p:cNvPr id="46" name="Text 44"/>
          <p:cNvSpPr/>
          <p:nvPr/>
        </p:nvSpPr>
        <p:spPr>
          <a:xfrm>
            <a:off x="4233672" y="4663440"/>
            <a:ext cx="1124712" cy="274320"/>
          </a:xfrm>
          <a:prstGeom prst="rect">
            <a:avLst/>
          </a:prstGeom>
          <a:noFill/>
          <a:ln/>
        </p:spPr>
        <p:txBody>
          <a:bodyPr wrap="square" lIns="0" tIns="0" rIns="0" bIns="0" rtlCol="0" anchor="ctr"/>
          <a:lstStyle/>
          <a:p>
            <a:pPr indent="0" marL="0">
              <a:buNone/>
            </a:pPr>
            <a:r>
              <a:rPr lang="en-US" sz="900" dirty="0">
                <a:solidFill>
                  <a:srgbClr val="FFFFFF"/>
                </a:solidFill>
              </a:rPr>
              <a:t>Developer</a:t>
            </a:r>
            <a:endParaRPr lang="en-US" sz="900" dirty="0"/>
          </a:p>
        </p:txBody>
      </p:sp>
      <p:sp>
        <p:nvSpPr>
          <p:cNvPr id="47" name="Shape 45"/>
          <p:cNvSpPr/>
          <p:nvPr/>
        </p:nvSpPr>
        <p:spPr>
          <a:xfrm>
            <a:off x="5385816" y="4636008"/>
            <a:ext cx="822960" cy="292608"/>
          </a:xfrm>
          <a:prstGeom prst="roundRect">
            <a:avLst>
              <a:gd name="adj" fmla="val 50000"/>
            </a:avLst>
          </a:prstGeom>
          <a:solidFill>
            <a:srgbClr val="10B981"/>
          </a:solidFill>
          <a:ln w="12700">
            <a:solidFill>
              <a:srgbClr val="10B981"/>
            </a:solidFill>
            <a:prstDash val="solid"/>
          </a:ln>
        </p:spPr>
      </p:sp>
      <p:sp>
        <p:nvSpPr>
          <p:cNvPr id="48" name="Text 46"/>
          <p:cNvSpPr/>
          <p:nvPr/>
        </p:nvSpPr>
        <p:spPr>
          <a:xfrm>
            <a:off x="5385816" y="4636008"/>
            <a:ext cx="8229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Active</a:t>
            </a:r>
            <a:endParaRPr lang="en-US" sz="900" dirty="0"/>
          </a:p>
        </p:txBody>
      </p:sp>
      <p:sp>
        <p:nvSpPr>
          <p:cNvPr id="49" name="Shape 47"/>
          <p:cNvSpPr/>
          <p:nvPr/>
        </p:nvSpPr>
        <p:spPr>
          <a:xfrm>
            <a:off x="7269480" y="4617720"/>
            <a:ext cx="292608" cy="320040"/>
          </a:xfrm>
          <a:prstGeom prst="roundRect">
            <a:avLst>
              <a:gd name="adj" fmla="val 15625"/>
            </a:avLst>
          </a:prstGeom>
          <a:solidFill>
            <a:srgbClr val="1A2244"/>
          </a:solidFill>
          <a:ln w="12700">
            <a:solidFill>
              <a:srgbClr val="3B82F6"/>
            </a:solidFill>
            <a:prstDash val="solid"/>
          </a:ln>
        </p:spPr>
      </p:sp>
      <p:sp>
        <p:nvSpPr>
          <p:cNvPr id="50" name="Text 48"/>
          <p:cNvSpPr/>
          <p:nvPr/>
        </p:nvSpPr>
        <p:spPr>
          <a:xfrm>
            <a:off x="7269480" y="4617720"/>
            <a:ext cx="292608" cy="320040"/>
          </a:xfrm>
          <a:prstGeom prst="rect">
            <a:avLst/>
          </a:prstGeom>
          <a:noFill/>
          <a:ln/>
        </p:spPr>
        <p:txBody>
          <a:bodyPr wrap="square" lIns="0" tIns="0" rIns="0" bIns="0" rtlCol="0" anchor="ctr"/>
          <a:lstStyle/>
          <a:p>
            <a:pPr algn="ctr" indent="0" marL="0">
              <a:buNone/>
            </a:pPr>
            <a:r>
              <a:rPr lang="en-US" sz="1200" dirty="0">
                <a:solidFill>
                  <a:srgbClr val="3B82F6"/>
                </a:solidFill>
              </a:rPr>
              <a:t>✎</a:t>
            </a:r>
            <a:endParaRPr lang="en-US" sz="1200" dirty="0"/>
          </a:p>
        </p:txBody>
      </p:sp>
      <p:sp>
        <p:nvSpPr>
          <p:cNvPr id="51" name="Shape 49"/>
          <p:cNvSpPr/>
          <p:nvPr/>
        </p:nvSpPr>
        <p:spPr>
          <a:xfrm>
            <a:off x="7607808" y="4617720"/>
            <a:ext cx="292608" cy="320040"/>
          </a:xfrm>
          <a:prstGeom prst="roundRect">
            <a:avLst>
              <a:gd name="adj" fmla="val 15625"/>
            </a:avLst>
          </a:prstGeom>
          <a:solidFill>
            <a:srgbClr val="1A2244"/>
          </a:solidFill>
          <a:ln w="12700">
            <a:solidFill>
              <a:srgbClr val="EF4444"/>
            </a:solidFill>
            <a:prstDash val="solid"/>
          </a:ln>
        </p:spPr>
      </p:sp>
      <p:sp>
        <p:nvSpPr>
          <p:cNvPr id="52" name="Text 50"/>
          <p:cNvSpPr/>
          <p:nvPr/>
        </p:nvSpPr>
        <p:spPr>
          <a:xfrm>
            <a:off x="7607808" y="4617720"/>
            <a:ext cx="292608" cy="320040"/>
          </a:xfrm>
          <a:prstGeom prst="rect">
            <a:avLst/>
          </a:prstGeom>
          <a:noFill/>
          <a:ln/>
        </p:spPr>
        <p:txBody>
          <a:bodyPr wrap="square" lIns="0" tIns="0" rIns="0" bIns="0" rtlCol="0" anchor="ctr"/>
          <a:lstStyle/>
          <a:p>
            <a:pPr algn="ctr" indent="0" marL="0">
              <a:buNone/>
            </a:pPr>
            <a:r>
              <a:rPr lang="en-US" sz="1200" b="1" dirty="0">
                <a:solidFill>
                  <a:srgbClr val="EF4444"/>
                </a:solidFill>
              </a:rPr>
              <a:t>✗</a:t>
            </a:r>
            <a:endParaRPr lang="en-US" sz="1200" dirty="0"/>
          </a:p>
        </p:txBody>
      </p:sp>
      <p:sp>
        <p:nvSpPr>
          <p:cNvPr id="53" name="Shape 51"/>
          <p:cNvSpPr/>
          <p:nvPr/>
        </p:nvSpPr>
        <p:spPr>
          <a:xfrm>
            <a:off x="731520" y="5303520"/>
            <a:ext cx="7178040" cy="731520"/>
          </a:xfrm>
          <a:prstGeom prst="roundRect">
            <a:avLst>
              <a:gd name="adj" fmla="val 10000"/>
            </a:avLst>
          </a:prstGeom>
          <a:solidFill>
            <a:srgbClr val="141B36"/>
          </a:solidFill>
          <a:ln w="12700">
            <a:solidFill>
              <a:srgbClr val="2A3560"/>
            </a:solidFill>
            <a:prstDash val="solid"/>
          </a:ln>
        </p:spPr>
      </p:sp>
      <p:sp>
        <p:nvSpPr>
          <p:cNvPr id="54" name="Text 52"/>
          <p:cNvSpPr/>
          <p:nvPr/>
        </p:nvSpPr>
        <p:spPr>
          <a:xfrm>
            <a:off x="777240" y="5532120"/>
            <a:ext cx="1124712" cy="274320"/>
          </a:xfrm>
          <a:prstGeom prst="rect">
            <a:avLst/>
          </a:prstGeom>
          <a:noFill/>
          <a:ln/>
        </p:spPr>
        <p:txBody>
          <a:bodyPr wrap="square" lIns="0" tIns="0" rIns="0" bIns="0" rtlCol="0" anchor="ctr"/>
          <a:lstStyle/>
          <a:p>
            <a:pPr indent="0" marL="0">
              <a:buNone/>
            </a:pPr>
            <a:r>
              <a:rPr lang="en-US" sz="900" dirty="0">
                <a:solidFill>
                  <a:srgbClr val="FFFFFF"/>
                </a:solidFill>
              </a:rPr>
              <a:t>ERP</a:t>
            </a:r>
            <a:endParaRPr lang="en-US" sz="900" dirty="0"/>
          </a:p>
        </p:txBody>
      </p:sp>
      <p:sp>
        <p:nvSpPr>
          <p:cNvPr id="55" name="Text 53"/>
          <p:cNvSpPr/>
          <p:nvPr/>
        </p:nvSpPr>
        <p:spPr>
          <a:xfrm>
            <a:off x="1929384" y="5532120"/>
            <a:ext cx="1124712" cy="274320"/>
          </a:xfrm>
          <a:prstGeom prst="rect">
            <a:avLst/>
          </a:prstGeom>
          <a:noFill/>
          <a:ln/>
        </p:spPr>
        <p:txBody>
          <a:bodyPr wrap="square" lIns="0" tIns="0" rIns="0" bIns="0" rtlCol="0" anchor="ctr"/>
          <a:lstStyle/>
          <a:p>
            <a:pPr indent="0" marL="0">
              <a:buNone/>
            </a:pPr>
            <a:r>
              <a:rPr lang="en-US" sz="900" dirty="0">
                <a:solidFill>
                  <a:srgbClr val="FFFFFF"/>
                </a:solidFill>
              </a:rPr>
              <a:t>Reham I.</a:t>
            </a:r>
            <a:endParaRPr lang="en-US" sz="900" dirty="0"/>
          </a:p>
        </p:txBody>
      </p:sp>
      <p:sp>
        <p:nvSpPr>
          <p:cNvPr id="56" name="Text 54"/>
          <p:cNvSpPr/>
          <p:nvPr/>
        </p:nvSpPr>
        <p:spPr>
          <a:xfrm>
            <a:off x="3081528" y="5532120"/>
            <a:ext cx="1124712" cy="274320"/>
          </a:xfrm>
          <a:prstGeom prst="rect">
            <a:avLst/>
          </a:prstGeom>
          <a:noFill/>
          <a:ln/>
        </p:spPr>
        <p:txBody>
          <a:bodyPr wrap="square" lIns="0" tIns="0" rIns="0" bIns="0" rtlCol="0" anchor="ctr"/>
          <a:lstStyle/>
          <a:p>
            <a:pPr indent="0" marL="0">
              <a:buNone/>
            </a:pPr>
            <a:r>
              <a:rPr lang="en-US" sz="900" dirty="0">
                <a:solidFill>
                  <a:srgbClr val="FFFFFF"/>
                </a:solidFill>
              </a:rPr>
              <a:t>reham.ibr@ejada...</a:t>
            </a:r>
            <a:endParaRPr lang="en-US" sz="900" dirty="0"/>
          </a:p>
        </p:txBody>
      </p:sp>
      <p:sp>
        <p:nvSpPr>
          <p:cNvPr id="57" name="Text 55"/>
          <p:cNvSpPr/>
          <p:nvPr/>
        </p:nvSpPr>
        <p:spPr>
          <a:xfrm>
            <a:off x="4233672" y="5532120"/>
            <a:ext cx="1124712" cy="274320"/>
          </a:xfrm>
          <a:prstGeom prst="rect">
            <a:avLst/>
          </a:prstGeom>
          <a:noFill/>
          <a:ln/>
        </p:spPr>
        <p:txBody>
          <a:bodyPr wrap="square" lIns="0" tIns="0" rIns="0" bIns="0" rtlCol="0" anchor="ctr"/>
          <a:lstStyle/>
          <a:p>
            <a:pPr indent="0" marL="0">
              <a:buNone/>
            </a:pPr>
            <a:r>
              <a:rPr lang="en-US" sz="900" dirty="0">
                <a:solidFill>
                  <a:srgbClr val="FFFFFF"/>
                </a:solidFill>
              </a:rPr>
              <a:t>SPOC</a:t>
            </a:r>
            <a:endParaRPr lang="en-US" sz="900" dirty="0"/>
          </a:p>
        </p:txBody>
      </p:sp>
      <p:sp>
        <p:nvSpPr>
          <p:cNvPr id="58" name="Shape 56"/>
          <p:cNvSpPr/>
          <p:nvPr/>
        </p:nvSpPr>
        <p:spPr>
          <a:xfrm>
            <a:off x="5385816" y="5504688"/>
            <a:ext cx="822960" cy="292608"/>
          </a:xfrm>
          <a:prstGeom prst="roundRect">
            <a:avLst>
              <a:gd name="adj" fmla="val 50000"/>
            </a:avLst>
          </a:prstGeom>
          <a:solidFill>
            <a:srgbClr val="10B981"/>
          </a:solidFill>
          <a:ln w="12700">
            <a:solidFill>
              <a:srgbClr val="10B981"/>
            </a:solidFill>
            <a:prstDash val="solid"/>
          </a:ln>
        </p:spPr>
      </p:sp>
      <p:sp>
        <p:nvSpPr>
          <p:cNvPr id="59" name="Text 57"/>
          <p:cNvSpPr/>
          <p:nvPr/>
        </p:nvSpPr>
        <p:spPr>
          <a:xfrm>
            <a:off x="5385816" y="5504688"/>
            <a:ext cx="8229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Active</a:t>
            </a:r>
            <a:endParaRPr lang="en-US" sz="900" dirty="0"/>
          </a:p>
        </p:txBody>
      </p:sp>
      <p:sp>
        <p:nvSpPr>
          <p:cNvPr id="60" name="Shape 58"/>
          <p:cNvSpPr/>
          <p:nvPr/>
        </p:nvSpPr>
        <p:spPr>
          <a:xfrm>
            <a:off x="7269480" y="5486400"/>
            <a:ext cx="292608" cy="320040"/>
          </a:xfrm>
          <a:prstGeom prst="roundRect">
            <a:avLst>
              <a:gd name="adj" fmla="val 15625"/>
            </a:avLst>
          </a:prstGeom>
          <a:solidFill>
            <a:srgbClr val="1A2244"/>
          </a:solidFill>
          <a:ln w="12700">
            <a:solidFill>
              <a:srgbClr val="3B82F6"/>
            </a:solidFill>
            <a:prstDash val="solid"/>
          </a:ln>
        </p:spPr>
      </p:sp>
      <p:sp>
        <p:nvSpPr>
          <p:cNvPr id="61" name="Text 59"/>
          <p:cNvSpPr/>
          <p:nvPr/>
        </p:nvSpPr>
        <p:spPr>
          <a:xfrm>
            <a:off x="7269480" y="5486400"/>
            <a:ext cx="292608" cy="320040"/>
          </a:xfrm>
          <a:prstGeom prst="rect">
            <a:avLst/>
          </a:prstGeom>
          <a:noFill/>
          <a:ln/>
        </p:spPr>
        <p:txBody>
          <a:bodyPr wrap="square" lIns="0" tIns="0" rIns="0" bIns="0" rtlCol="0" anchor="ctr"/>
          <a:lstStyle/>
          <a:p>
            <a:pPr algn="ctr" indent="0" marL="0">
              <a:buNone/>
            </a:pPr>
            <a:r>
              <a:rPr lang="en-US" sz="1200" dirty="0">
                <a:solidFill>
                  <a:srgbClr val="3B82F6"/>
                </a:solidFill>
              </a:rPr>
              <a:t>✎</a:t>
            </a:r>
            <a:endParaRPr lang="en-US" sz="1200" dirty="0"/>
          </a:p>
        </p:txBody>
      </p:sp>
      <p:sp>
        <p:nvSpPr>
          <p:cNvPr id="62" name="Shape 60"/>
          <p:cNvSpPr/>
          <p:nvPr/>
        </p:nvSpPr>
        <p:spPr>
          <a:xfrm>
            <a:off x="7607808" y="5486400"/>
            <a:ext cx="292608" cy="320040"/>
          </a:xfrm>
          <a:prstGeom prst="roundRect">
            <a:avLst>
              <a:gd name="adj" fmla="val 15625"/>
            </a:avLst>
          </a:prstGeom>
          <a:solidFill>
            <a:srgbClr val="1A2244"/>
          </a:solidFill>
          <a:ln w="12700">
            <a:solidFill>
              <a:srgbClr val="EF4444"/>
            </a:solidFill>
            <a:prstDash val="solid"/>
          </a:ln>
        </p:spPr>
      </p:sp>
      <p:sp>
        <p:nvSpPr>
          <p:cNvPr id="63" name="Text 61"/>
          <p:cNvSpPr/>
          <p:nvPr/>
        </p:nvSpPr>
        <p:spPr>
          <a:xfrm>
            <a:off x="7607808" y="5486400"/>
            <a:ext cx="292608" cy="320040"/>
          </a:xfrm>
          <a:prstGeom prst="rect">
            <a:avLst/>
          </a:prstGeom>
          <a:noFill/>
          <a:ln/>
        </p:spPr>
        <p:txBody>
          <a:bodyPr wrap="square" lIns="0" tIns="0" rIns="0" bIns="0" rtlCol="0" anchor="ctr"/>
          <a:lstStyle/>
          <a:p>
            <a:pPr algn="ctr" indent="0" marL="0">
              <a:buNone/>
            </a:pPr>
            <a:r>
              <a:rPr lang="en-US" sz="1200" b="1" dirty="0">
                <a:solidFill>
                  <a:srgbClr val="EF4444"/>
                </a:solidFill>
              </a:rPr>
              <a:t>✗</a:t>
            </a:r>
            <a:endParaRPr lang="en-US" sz="1200" dirty="0"/>
          </a:p>
        </p:txBody>
      </p:sp>
      <p:sp>
        <p:nvSpPr>
          <p:cNvPr id="64" name="Shape 62"/>
          <p:cNvSpPr/>
          <p:nvPr/>
        </p:nvSpPr>
        <p:spPr>
          <a:xfrm>
            <a:off x="8275320" y="1783080"/>
            <a:ext cx="3474720" cy="4663440"/>
          </a:xfrm>
          <a:prstGeom prst="roundRect">
            <a:avLst>
              <a:gd name="adj" fmla="val 2105"/>
            </a:avLst>
          </a:prstGeom>
          <a:solidFill>
            <a:srgbClr val="1A2244"/>
          </a:solidFill>
          <a:ln w="12700">
            <a:solidFill>
              <a:srgbClr val="2A3560"/>
            </a:solidFill>
            <a:prstDash val="solid"/>
          </a:ln>
        </p:spPr>
      </p:sp>
      <p:sp>
        <p:nvSpPr>
          <p:cNvPr id="65" name="Text 63"/>
          <p:cNvSpPr/>
          <p:nvPr/>
        </p:nvSpPr>
        <p:spPr>
          <a:xfrm>
            <a:off x="8412480" y="1920240"/>
            <a:ext cx="32918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Add Copilot User</a:t>
            </a:r>
            <a:endParaRPr lang="en-US" sz="1400" dirty="0"/>
          </a:p>
        </p:txBody>
      </p:sp>
      <p:sp>
        <p:nvSpPr>
          <p:cNvPr id="66" name="Text 64"/>
          <p:cNvSpPr/>
          <p:nvPr/>
        </p:nvSpPr>
        <p:spPr>
          <a:xfrm>
            <a:off x="8412480" y="2331720"/>
            <a:ext cx="3200400" cy="201168"/>
          </a:xfrm>
          <a:prstGeom prst="rect">
            <a:avLst/>
          </a:prstGeom>
          <a:noFill/>
          <a:ln/>
        </p:spPr>
        <p:txBody>
          <a:bodyPr wrap="square" lIns="0" tIns="0" rIns="0" bIns="0" rtlCol="0" anchor="ctr"/>
          <a:lstStyle/>
          <a:p>
            <a:pPr indent="0" marL="0">
              <a:buNone/>
            </a:pPr>
            <a:r>
              <a:rPr lang="en-US" sz="900" b="1" dirty="0">
                <a:solidFill>
                  <a:srgbClr val="CADCFC"/>
                </a:solidFill>
                <a:latin typeface="Calibri" pitchFamily="34" charset="0"/>
                <a:ea typeface="Calibri" pitchFamily="34" charset="-122"/>
                <a:cs typeface="Calibri" pitchFamily="34" charset="-120"/>
              </a:rPr>
              <a:t>Practice</a:t>
            </a:r>
            <a:endParaRPr lang="en-US" sz="900" dirty="0"/>
          </a:p>
        </p:txBody>
      </p:sp>
      <p:sp>
        <p:nvSpPr>
          <p:cNvPr id="67" name="Shape 65"/>
          <p:cNvSpPr/>
          <p:nvPr/>
        </p:nvSpPr>
        <p:spPr>
          <a:xfrm>
            <a:off x="8412480" y="2532888"/>
            <a:ext cx="3200400" cy="320040"/>
          </a:xfrm>
          <a:prstGeom prst="roundRect">
            <a:avLst>
              <a:gd name="adj" fmla="val 11429"/>
            </a:avLst>
          </a:prstGeom>
          <a:solidFill>
            <a:srgbClr val="141B36"/>
          </a:solidFill>
          <a:ln w="6350">
            <a:solidFill>
              <a:srgbClr val="2A3560"/>
            </a:solidFill>
            <a:prstDash val="solid"/>
          </a:ln>
        </p:spPr>
      </p:sp>
      <p:sp>
        <p:nvSpPr>
          <p:cNvPr id="68" name="Text 66"/>
          <p:cNvSpPr/>
          <p:nvPr/>
        </p:nvSpPr>
        <p:spPr>
          <a:xfrm>
            <a:off x="8503920" y="2532888"/>
            <a:ext cx="3017520" cy="320040"/>
          </a:xfrm>
          <a:prstGeom prst="rect">
            <a:avLst/>
          </a:prstGeom>
          <a:noFill/>
          <a:ln/>
        </p:spPr>
        <p:txBody>
          <a:bodyPr wrap="square" lIns="0" tIns="0" rIns="0" bIns="0" rtlCol="0" anchor="ctr"/>
          <a:lstStyle/>
          <a:p>
            <a:pPr indent="0" marL="0">
              <a:buNone/>
            </a:pPr>
            <a:r>
              <a:rPr lang="en-US" sz="900" dirty="0">
                <a:solidFill>
                  <a:srgbClr val="FFFFFF"/>
                </a:solidFill>
              </a:rPr>
              <a:t>CES</a:t>
            </a:r>
            <a:endParaRPr lang="en-US" sz="900" dirty="0"/>
          </a:p>
        </p:txBody>
      </p:sp>
      <p:sp>
        <p:nvSpPr>
          <p:cNvPr id="69" name="Text 67"/>
          <p:cNvSpPr/>
          <p:nvPr/>
        </p:nvSpPr>
        <p:spPr>
          <a:xfrm>
            <a:off x="8412480" y="3044952"/>
            <a:ext cx="3200400" cy="201168"/>
          </a:xfrm>
          <a:prstGeom prst="rect">
            <a:avLst/>
          </a:prstGeom>
          <a:noFill/>
          <a:ln/>
        </p:spPr>
        <p:txBody>
          <a:bodyPr wrap="square" lIns="0" tIns="0" rIns="0" bIns="0" rtlCol="0" anchor="ctr"/>
          <a:lstStyle/>
          <a:p>
            <a:pPr indent="0" marL="0">
              <a:buNone/>
            </a:pPr>
            <a:r>
              <a:rPr lang="en-US" sz="900" b="1" dirty="0">
                <a:solidFill>
                  <a:srgbClr val="CADCFC"/>
                </a:solidFill>
                <a:latin typeface="Calibri" pitchFamily="34" charset="0"/>
                <a:ea typeface="Calibri" pitchFamily="34" charset="-122"/>
                <a:cs typeface="Calibri" pitchFamily="34" charset="-120"/>
              </a:rPr>
              <a:t>Name</a:t>
            </a:r>
            <a:endParaRPr lang="en-US" sz="900" dirty="0"/>
          </a:p>
        </p:txBody>
      </p:sp>
      <p:sp>
        <p:nvSpPr>
          <p:cNvPr id="70" name="Shape 68"/>
          <p:cNvSpPr/>
          <p:nvPr/>
        </p:nvSpPr>
        <p:spPr>
          <a:xfrm>
            <a:off x="8412480" y="3246120"/>
            <a:ext cx="3200400" cy="320040"/>
          </a:xfrm>
          <a:prstGeom prst="roundRect">
            <a:avLst>
              <a:gd name="adj" fmla="val 11429"/>
            </a:avLst>
          </a:prstGeom>
          <a:solidFill>
            <a:srgbClr val="141B36"/>
          </a:solidFill>
          <a:ln w="6350">
            <a:solidFill>
              <a:srgbClr val="2A3560"/>
            </a:solidFill>
            <a:prstDash val="solid"/>
          </a:ln>
        </p:spPr>
      </p:sp>
      <p:sp>
        <p:nvSpPr>
          <p:cNvPr id="71" name="Text 69"/>
          <p:cNvSpPr/>
          <p:nvPr/>
        </p:nvSpPr>
        <p:spPr>
          <a:xfrm>
            <a:off x="8503920" y="3246120"/>
            <a:ext cx="3017520" cy="320040"/>
          </a:xfrm>
          <a:prstGeom prst="rect">
            <a:avLst/>
          </a:prstGeom>
          <a:noFill/>
          <a:ln/>
        </p:spPr>
        <p:txBody>
          <a:bodyPr wrap="square" lIns="0" tIns="0" rIns="0" bIns="0" rtlCol="0" anchor="ctr"/>
          <a:lstStyle/>
          <a:p>
            <a:pPr indent="0" marL="0">
              <a:buNone/>
            </a:pPr>
            <a:r>
              <a:rPr lang="en-US" sz="900" dirty="0">
                <a:solidFill>
                  <a:srgbClr val="FFFFFF"/>
                </a:solidFill>
              </a:rPr>
              <a:t>Mona Khalid</a:t>
            </a:r>
            <a:endParaRPr lang="en-US" sz="900" dirty="0"/>
          </a:p>
        </p:txBody>
      </p:sp>
      <p:sp>
        <p:nvSpPr>
          <p:cNvPr id="72" name="Text 70"/>
          <p:cNvSpPr/>
          <p:nvPr/>
        </p:nvSpPr>
        <p:spPr>
          <a:xfrm>
            <a:off x="8412480" y="3758184"/>
            <a:ext cx="3200400" cy="201168"/>
          </a:xfrm>
          <a:prstGeom prst="rect">
            <a:avLst/>
          </a:prstGeom>
          <a:noFill/>
          <a:ln/>
        </p:spPr>
        <p:txBody>
          <a:bodyPr wrap="square" lIns="0" tIns="0" rIns="0" bIns="0" rtlCol="0" anchor="ctr"/>
          <a:lstStyle/>
          <a:p>
            <a:pPr indent="0" marL="0">
              <a:buNone/>
            </a:pPr>
            <a:r>
              <a:rPr lang="en-US" sz="900" b="1" dirty="0">
                <a:solidFill>
                  <a:srgbClr val="CADCFC"/>
                </a:solidFill>
                <a:latin typeface="Calibri" pitchFamily="34" charset="0"/>
                <a:ea typeface="Calibri" pitchFamily="34" charset="-122"/>
                <a:cs typeface="Calibri" pitchFamily="34" charset="-120"/>
              </a:rPr>
              <a:t>Email</a:t>
            </a:r>
            <a:endParaRPr lang="en-US" sz="900" dirty="0"/>
          </a:p>
        </p:txBody>
      </p:sp>
      <p:sp>
        <p:nvSpPr>
          <p:cNvPr id="73" name="Shape 71"/>
          <p:cNvSpPr/>
          <p:nvPr/>
        </p:nvSpPr>
        <p:spPr>
          <a:xfrm>
            <a:off x="8412480" y="3959352"/>
            <a:ext cx="3200400" cy="320040"/>
          </a:xfrm>
          <a:prstGeom prst="roundRect">
            <a:avLst>
              <a:gd name="adj" fmla="val 11429"/>
            </a:avLst>
          </a:prstGeom>
          <a:solidFill>
            <a:srgbClr val="141B36"/>
          </a:solidFill>
          <a:ln w="6350">
            <a:solidFill>
              <a:srgbClr val="2A3560"/>
            </a:solidFill>
            <a:prstDash val="solid"/>
          </a:ln>
        </p:spPr>
      </p:sp>
      <p:sp>
        <p:nvSpPr>
          <p:cNvPr id="74" name="Text 72"/>
          <p:cNvSpPr/>
          <p:nvPr/>
        </p:nvSpPr>
        <p:spPr>
          <a:xfrm>
            <a:off x="8503920" y="3959352"/>
            <a:ext cx="3017520" cy="320040"/>
          </a:xfrm>
          <a:prstGeom prst="rect">
            <a:avLst/>
          </a:prstGeom>
          <a:noFill/>
          <a:ln/>
        </p:spPr>
        <p:txBody>
          <a:bodyPr wrap="square" lIns="0" tIns="0" rIns="0" bIns="0" rtlCol="0" anchor="ctr"/>
          <a:lstStyle/>
          <a:p>
            <a:pPr indent="0" marL="0">
              <a:buNone/>
            </a:pPr>
            <a:r>
              <a:rPr lang="en-US" sz="900" dirty="0">
                <a:solidFill>
                  <a:srgbClr val="FFFFFF"/>
                </a:solidFill>
              </a:rPr>
              <a:t>mkhalid@ejada.com</a:t>
            </a:r>
            <a:endParaRPr lang="en-US" sz="900" dirty="0"/>
          </a:p>
        </p:txBody>
      </p:sp>
      <p:sp>
        <p:nvSpPr>
          <p:cNvPr id="75" name="Text 73"/>
          <p:cNvSpPr/>
          <p:nvPr/>
        </p:nvSpPr>
        <p:spPr>
          <a:xfrm>
            <a:off x="8412480" y="4471416"/>
            <a:ext cx="3200400" cy="201168"/>
          </a:xfrm>
          <a:prstGeom prst="rect">
            <a:avLst/>
          </a:prstGeom>
          <a:noFill/>
          <a:ln/>
        </p:spPr>
        <p:txBody>
          <a:bodyPr wrap="square" lIns="0" tIns="0" rIns="0" bIns="0" rtlCol="0" anchor="ctr"/>
          <a:lstStyle/>
          <a:p>
            <a:pPr indent="0" marL="0">
              <a:buNone/>
            </a:pPr>
            <a:r>
              <a:rPr lang="en-US" sz="900" b="1" dirty="0">
                <a:solidFill>
                  <a:srgbClr val="CADCFC"/>
                </a:solidFill>
                <a:latin typeface="Calibri" pitchFamily="34" charset="0"/>
                <a:ea typeface="Calibri" pitchFamily="34" charset="-122"/>
                <a:cs typeface="Calibri" pitchFamily="34" charset="-120"/>
              </a:rPr>
              <a:t>Role / Skill</a:t>
            </a:r>
            <a:endParaRPr lang="en-US" sz="900" dirty="0"/>
          </a:p>
        </p:txBody>
      </p:sp>
      <p:sp>
        <p:nvSpPr>
          <p:cNvPr id="76" name="Shape 74"/>
          <p:cNvSpPr/>
          <p:nvPr/>
        </p:nvSpPr>
        <p:spPr>
          <a:xfrm>
            <a:off x="8412480" y="4672584"/>
            <a:ext cx="3200400" cy="320040"/>
          </a:xfrm>
          <a:prstGeom prst="roundRect">
            <a:avLst>
              <a:gd name="adj" fmla="val 11429"/>
            </a:avLst>
          </a:prstGeom>
          <a:solidFill>
            <a:srgbClr val="141B36"/>
          </a:solidFill>
          <a:ln w="6350">
            <a:solidFill>
              <a:srgbClr val="2A3560"/>
            </a:solidFill>
            <a:prstDash val="solid"/>
          </a:ln>
        </p:spPr>
      </p:sp>
      <p:sp>
        <p:nvSpPr>
          <p:cNvPr id="77" name="Text 75"/>
          <p:cNvSpPr/>
          <p:nvPr/>
        </p:nvSpPr>
        <p:spPr>
          <a:xfrm>
            <a:off x="8503920" y="4672584"/>
            <a:ext cx="3017520" cy="320040"/>
          </a:xfrm>
          <a:prstGeom prst="rect">
            <a:avLst/>
          </a:prstGeom>
          <a:noFill/>
          <a:ln/>
        </p:spPr>
        <p:txBody>
          <a:bodyPr wrap="square" lIns="0" tIns="0" rIns="0" bIns="0" rtlCol="0" anchor="ctr"/>
          <a:lstStyle/>
          <a:p>
            <a:pPr indent="0" marL="0">
              <a:buNone/>
            </a:pPr>
            <a:r>
              <a:rPr lang="en-US" sz="900" dirty="0">
                <a:solidFill>
                  <a:srgbClr val="FFFFFF"/>
                </a:solidFill>
              </a:rPr>
              <a:t>Developer</a:t>
            </a:r>
            <a:endParaRPr lang="en-US" sz="900" dirty="0"/>
          </a:p>
        </p:txBody>
      </p:sp>
      <p:sp>
        <p:nvSpPr>
          <p:cNvPr id="78" name="Text 76"/>
          <p:cNvSpPr/>
          <p:nvPr/>
        </p:nvSpPr>
        <p:spPr>
          <a:xfrm>
            <a:off x="8412480" y="5184648"/>
            <a:ext cx="3200400" cy="201168"/>
          </a:xfrm>
          <a:prstGeom prst="rect">
            <a:avLst/>
          </a:prstGeom>
          <a:noFill/>
          <a:ln/>
        </p:spPr>
        <p:txBody>
          <a:bodyPr wrap="square" lIns="0" tIns="0" rIns="0" bIns="0" rtlCol="0" anchor="ctr"/>
          <a:lstStyle/>
          <a:p>
            <a:pPr indent="0" marL="0">
              <a:buNone/>
            </a:pPr>
            <a:r>
              <a:rPr lang="en-US" sz="900" b="1" dirty="0">
                <a:solidFill>
                  <a:srgbClr val="CADCFC"/>
                </a:solidFill>
                <a:latin typeface="Calibri" pitchFamily="34" charset="0"/>
                <a:ea typeface="Calibri" pitchFamily="34" charset="-122"/>
                <a:cs typeface="Calibri" pitchFamily="34" charset="-120"/>
              </a:rPr>
              <a:t>Status</a:t>
            </a:r>
            <a:endParaRPr lang="en-US" sz="900" dirty="0"/>
          </a:p>
        </p:txBody>
      </p:sp>
      <p:sp>
        <p:nvSpPr>
          <p:cNvPr id="79" name="Shape 77"/>
          <p:cNvSpPr/>
          <p:nvPr/>
        </p:nvSpPr>
        <p:spPr>
          <a:xfrm>
            <a:off x="8412480" y="5385816"/>
            <a:ext cx="3200400" cy="320040"/>
          </a:xfrm>
          <a:prstGeom prst="roundRect">
            <a:avLst>
              <a:gd name="adj" fmla="val 11429"/>
            </a:avLst>
          </a:prstGeom>
          <a:solidFill>
            <a:srgbClr val="141B36"/>
          </a:solidFill>
          <a:ln w="6350">
            <a:solidFill>
              <a:srgbClr val="2A3560"/>
            </a:solidFill>
            <a:prstDash val="solid"/>
          </a:ln>
        </p:spPr>
      </p:sp>
      <p:sp>
        <p:nvSpPr>
          <p:cNvPr id="80" name="Text 78"/>
          <p:cNvSpPr/>
          <p:nvPr/>
        </p:nvSpPr>
        <p:spPr>
          <a:xfrm>
            <a:off x="8503920" y="5385816"/>
            <a:ext cx="3017520" cy="320040"/>
          </a:xfrm>
          <a:prstGeom prst="rect">
            <a:avLst/>
          </a:prstGeom>
          <a:noFill/>
          <a:ln/>
        </p:spPr>
        <p:txBody>
          <a:bodyPr wrap="square" lIns="0" tIns="0" rIns="0" bIns="0" rtlCol="0" anchor="ctr"/>
          <a:lstStyle/>
          <a:p>
            <a:pPr indent="0" marL="0">
              <a:buNone/>
            </a:pPr>
            <a:r>
              <a:rPr lang="en-US" sz="900" dirty="0">
                <a:solidFill>
                  <a:srgbClr val="FFFFFF"/>
                </a:solidFill>
              </a:rPr>
              <a:t>Active</a:t>
            </a:r>
            <a:endParaRPr lang="en-US" sz="900" dirty="0"/>
          </a:p>
        </p:txBody>
      </p:sp>
      <p:sp>
        <p:nvSpPr>
          <p:cNvPr id="81" name="Shape 79"/>
          <p:cNvSpPr/>
          <p:nvPr/>
        </p:nvSpPr>
        <p:spPr>
          <a:xfrm>
            <a:off x="8412480" y="5989320"/>
            <a:ext cx="3200400" cy="411480"/>
          </a:xfrm>
          <a:prstGeom prst="roundRect">
            <a:avLst>
              <a:gd name="adj" fmla="val 11111"/>
            </a:avLst>
          </a:prstGeom>
          <a:solidFill>
            <a:srgbClr val="6366F1"/>
          </a:solidFill>
          <a:ln w="12700">
            <a:solidFill>
              <a:srgbClr val="6366F1"/>
            </a:solidFill>
            <a:prstDash val="solid"/>
          </a:ln>
        </p:spPr>
      </p:sp>
      <p:sp>
        <p:nvSpPr>
          <p:cNvPr id="82" name="Text 80"/>
          <p:cNvSpPr/>
          <p:nvPr/>
        </p:nvSpPr>
        <p:spPr>
          <a:xfrm>
            <a:off x="8412480" y="5989320"/>
            <a:ext cx="3200400" cy="411480"/>
          </a:xfrm>
          <a:prstGeom prst="rect">
            <a:avLst/>
          </a:prstGeom>
          <a:noFill/>
          <a:ln/>
        </p:spPr>
        <p:txBody>
          <a:bodyPr wrap="square" lIns="0" tIns="0" rIns="0" bIns="0" rtlCol="0" anchor="ctr"/>
          <a:lstStyle/>
          <a:p>
            <a:pPr algn="ctr" indent="0" marL="0">
              <a:buNone/>
            </a:pPr>
            <a:r>
              <a:rPr lang="en-US" sz="1200" b="1" dirty="0">
                <a:solidFill>
                  <a:srgbClr val="FFFFFF"/>
                </a:solidFill>
              </a:rPr>
              <a:t>Save</a:t>
            </a:r>
            <a:endParaRPr lang="en-US" sz="1200" dirty="0"/>
          </a:p>
        </p:txBody>
      </p:sp>
      <p:sp>
        <p:nvSpPr>
          <p:cNvPr id="83" name="Text 81"/>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84" name="Text 82"/>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19 / 28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17 — Projects catalog (read-only for you)</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Admin-maintained. You pick from this list when logging a task. No create/edit access — email the admin if yours is missing.</a:t>
            </a:r>
            <a:endParaRPr lang="en-US" sz="1400" dirty="0"/>
          </a:p>
        </p:txBody>
      </p:sp>
      <p:sp>
        <p:nvSpPr>
          <p:cNvPr id="4" name="Shape 2"/>
          <p:cNvSpPr/>
          <p:nvPr/>
        </p:nvSpPr>
        <p:spPr>
          <a:xfrm>
            <a:off x="502920" y="1783080"/>
            <a:ext cx="11247120" cy="4663440"/>
          </a:xfrm>
          <a:prstGeom prst="roundRect">
            <a:avLst>
              <a:gd name="adj" fmla="val 1961"/>
            </a:avLst>
          </a:prstGeom>
          <a:solidFill>
            <a:srgbClr val="0B1223"/>
          </a:solidFill>
          <a:ln w="12700">
            <a:solidFill>
              <a:srgbClr val="CADCFC"/>
            </a:solidFill>
            <a:prstDash val="solid"/>
          </a:ln>
        </p:spPr>
      </p:sp>
      <p:sp>
        <p:nvSpPr>
          <p:cNvPr id="5" name="Shape 3"/>
          <p:cNvSpPr/>
          <p:nvPr/>
        </p:nvSpPr>
        <p:spPr>
          <a:xfrm>
            <a:off x="548640" y="1828800"/>
            <a:ext cx="11155680" cy="274320"/>
          </a:xfrm>
          <a:prstGeom prst="rect">
            <a:avLst/>
          </a:prstGeom>
          <a:solidFill>
            <a:srgbClr val="111833"/>
          </a:solidFill>
          <a:ln w="12700">
            <a:solidFill>
              <a:srgbClr val="111833"/>
            </a:solidFill>
            <a:prstDash val="solid"/>
          </a:ln>
        </p:spPr>
      </p:sp>
      <p:sp>
        <p:nvSpPr>
          <p:cNvPr id="6" name="Shape 4"/>
          <p:cNvSpPr/>
          <p:nvPr/>
        </p:nvSpPr>
        <p:spPr>
          <a:xfrm>
            <a:off x="640080" y="1892808"/>
            <a:ext cx="109728" cy="109728"/>
          </a:xfrm>
          <a:prstGeom prst="ellipse">
            <a:avLst/>
          </a:prstGeom>
          <a:solidFill>
            <a:srgbClr val="EF4444"/>
          </a:solidFill>
          <a:ln w="12700">
            <a:solidFill>
              <a:srgbClr val="EF4444"/>
            </a:solidFill>
            <a:prstDash val="solid"/>
          </a:ln>
        </p:spPr>
      </p:sp>
      <p:sp>
        <p:nvSpPr>
          <p:cNvPr id="7" name="Shape 5"/>
          <p:cNvSpPr/>
          <p:nvPr/>
        </p:nvSpPr>
        <p:spPr>
          <a:xfrm>
            <a:off x="786384" y="1892808"/>
            <a:ext cx="109728" cy="109728"/>
          </a:xfrm>
          <a:prstGeom prst="ellipse">
            <a:avLst/>
          </a:prstGeom>
          <a:solidFill>
            <a:srgbClr val="F59E0B"/>
          </a:solidFill>
          <a:ln w="12700">
            <a:solidFill>
              <a:srgbClr val="F59E0B"/>
            </a:solidFill>
            <a:prstDash val="solid"/>
          </a:ln>
        </p:spPr>
      </p:sp>
      <p:sp>
        <p:nvSpPr>
          <p:cNvPr id="8" name="Shape 6"/>
          <p:cNvSpPr/>
          <p:nvPr/>
        </p:nvSpPr>
        <p:spPr>
          <a:xfrm>
            <a:off x="932688" y="1892808"/>
            <a:ext cx="109728" cy="109728"/>
          </a:xfrm>
          <a:prstGeom prst="ellipse">
            <a:avLst/>
          </a:prstGeom>
          <a:solidFill>
            <a:srgbClr val="10B981"/>
          </a:solidFill>
          <a:ln w="12700">
            <a:solidFill>
              <a:srgbClr val="10B981"/>
            </a:solidFill>
            <a:prstDash val="solid"/>
          </a:ln>
        </p:spPr>
      </p:sp>
      <p:sp>
        <p:nvSpPr>
          <p:cNvPr id="9" name="Text 7"/>
          <p:cNvSpPr/>
          <p:nvPr/>
        </p:nvSpPr>
        <p:spPr>
          <a:xfrm>
            <a:off x="731520" y="1920240"/>
            <a:ext cx="64008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AI Projects</a:t>
            </a:r>
            <a:endParaRPr lang="en-US" sz="1500" dirty="0"/>
          </a:p>
        </p:txBody>
      </p:sp>
      <p:sp>
        <p:nvSpPr>
          <p:cNvPr id="10" name="Text 8"/>
          <p:cNvSpPr/>
          <p:nvPr/>
        </p:nvSpPr>
        <p:spPr>
          <a:xfrm>
            <a:off x="731520" y="2194560"/>
            <a:ext cx="6400800" cy="22860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Projects tracked for AI adoption</a:t>
            </a:r>
            <a:endParaRPr lang="en-US" sz="1000" dirty="0"/>
          </a:p>
        </p:txBody>
      </p:sp>
      <p:sp>
        <p:nvSpPr>
          <p:cNvPr id="11" name="Shape 9"/>
          <p:cNvSpPr/>
          <p:nvPr/>
        </p:nvSpPr>
        <p:spPr>
          <a:xfrm>
            <a:off x="10835640" y="1938528"/>
            <a:ext cx="868680" cy="274320"/>
          </a:xfrm>
          <a:prstGeom prst="roundRect">
            <a:avLst>
              <a:gd name="adj" fmla="val 50000"/>
            </a:avLst>
          </a:prstGeom>
          <a:solidFill>
            <a:srgbClr val="1A2244"/>
          </a:solidFill>
          <a:ln w="12700">
            <a:solidFill>
              <a:srgbClr val="1A2244"/>
            </a:solidFill>
            <a:prstDash val="solid"/>
          </a:ln>
        </p:spPr>
      </p:sp>
      <p:sp>
        <p:nvSpPr>
          <p:cNvPr id="12" name="Text 10"/>
          <p:cNvSpPr/>
          <p:nvPr/>
        </p:nvSpPr>
        <p:spPr>
          <a:xfrm>
            <a:off x="10835640" y="1938528"/>
            <a:ext cx="8686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Export</a:t>
            </a:r>
            <a:endParaRPr lang="en-US" sz="900" dirty="0"/>
          </a:p>
        </p:txBody>
      </p:sp>
      <p:sp>
        <p:nvSpPr>
          <p:cNvPr id="13" name="Text 11"/>
          <p:cNvSpPr/>
          <p:nvPr/>
        </p:nvSpPr>
        <p:spPr>
          <a:xfrm>
            <a:off x="731520" y="2606040"/>
            <a:ext cx="1188720" cy="228600"/>
          </a:xfrm>
          <a:prstGeom prst="rect">
            <a:avLst/>
          </a:prstGeom>
          <a:noFill/>
          <a:ln/>
        </p:spPr>
        <p:txBody>
          <a:bodyPr wrap="square" lIns="0" tIns="0" rIns="0" bIns="0" rtlCol="0" anchor="ctr"/>
          <a:lstStyle/>
          <a:p>
            <a:pPr indent="0" marL="0">
              <a:buNone/>
            </a:pPr>
            <a:r>
              <a:rPr lang="en-US" sz="800" b="1" dirty="0">
                <a:solidFill>
                  <a:srgbClr val="94A3B8"/>
                </a:solidFill>
              </a:rPr>
              <a:t>Practice</a:t>
            </a:r>
            <a:endParaRPr lang="en-US" sz="800" dirty="0"/>
          </a:p>
        </p:txBody>
      </p:sp>
      <p:sp>
        <p:nvSpPr>
          <p:cNvPr id="14" name="Text 12"/>
          <p:cNvSpPr/>
          <p:nvPr/>
        </p:nvSpPr>
        <p:spPr>
          <a:xfrm>
            <a:off x="1965960" y="2606040"/>
            <a:ext cx="1188720" cy="228600"/>
          </a:xfrm>
          <a:prstGeom prst="rect">
            <a:avLst/>
          </a:prstGeom>
          <a:noFill/>
          <a:ln/>
        </p:spPr>
        <p:txBody>
          <a:bodyPr wrap="square" lIns="0" tIns="0" rIns="0" bIns="0" rtlCol="0" anchor="ctr"/>
          <a:lstStyle/>
          <a:p>
            <a:pPr indent="0" marL="0">
              <a:buNone/>
            </a:pPr>
            <a:r>
              <a:rPr lang="en-US" sz="800" b="1" dirty="0">
                <a:solidFill>
                  <a:srgbClr val="94A3B8"/>
                </a:solidFill>
              </a:rPr>
              <a:t>Project Name</a:t>
            </a:r>
            <a:endParaRPr lang="en-US" sz="800" dirty="0"/>
          </a:p>
        </p:txBody>
      </p:sp>
      <p:sp>
        <p:nvSpPr>
          <p:cNvPr id="15" name="Text 13"/>
          <p:cNvSpPr/>
          <p:nvPr/>
        </p:nvSpPr>
        <p:spPr>
          <a:xfrm>
            <a:off x="3200400" y="2606040"/>
            <a:ext cx="1188720" cy="228600"/>
          </a:xfrm>
          <a:prstGeom prst="rect">
            <a:avLst/>
          </a:prstGeom>
          <a:noFill/>
          <a:ln/>
        </p:spPr>
        <p:txBody>
          <a:bodyPr wrap="square" lIns="0" tIns="0" rIns="0" bIns="0" rtlCol="0" anchor="ctr"/>
          <a:lstStyle/>
          <a:p>
            <a:pPr indent="0" marL="0">
              <a:buNone/>
            </a:pPr>
            <a:r>
              <a:rPr lang="en-US" sz="800" b="1" dirty="0">
                <a:solidFill>
                  <a:srgbClr val="94A3B8"/>
                </a:solidFill>
              </a:rPr>
              <a:t>Code</a:t>
            </a:r>
            <a:endParaRPr lang="en-US" sz="800" dirty="0"/>
          </a:p>
        </p:txBody>
      </p:sp>
      <p:sp>
        <p:nvSpPr>
          <p:cNvPr id="16" name="Text 14"/>
          <p:cNvSpPr/>
          <p:nvPr/>
        </p:nvSpPr>
        <p:spPr>
          <a:xfrm>
            <a:off x="4434840" y="2606040"/>
            <a:ext cx="1188720" cy="228600"/>
          </a:xfrm>
          <a:prstGeom prst="rect">
            <a:avLst/>
          </a:prstGeom>
          <a:noFill/>
          <a:ln/>
        </p:spPr>
        <p:txBody>
          <a:bodyPr wrap="square" lIns="0" tIns="0" rIns="0" bIns="0" rtlCol="0" anchor="ctr"/>
          <a:lstStyle/>
          <a:p>
            <a:pPr indent="0" marL="0">
              <a:buNone/>
            </a:pPr>
            <a:r>
              <a:rPr lang="en-US" sz="800" b="1" dirty="0">
                <a:solidFill>
                  <a:srgbClr val="94A3B8"/>
                </a:solidFill>
              </a:rPr>
              <a:t>Customer</a:t>
            </a:r>
            <a:endParaRPr lang="en-US" sz="800" dirty="0"/>
          </a:p>
        </p:txBody>
      </p:sp>
      <p:sp>
        <p:nvSpPr>
          <p:cNvPr id="17" name="Text 15"/>
          <p:cNvSpPr/>
          <p:nvPr/>
        </p:nvSpPr>
        <p:spPr>
          <a:xfrm>
            <a:off x="5669280" y="2606040"/>
            <a:ext cx="1188720" cy="228600"/>
          </a:xfrm>
          <a:prstGeom prst="rect">
            <a:avLst/>
          </a:prstGeom>
          <a:noFill/>
          <a:ln/>
        </p:spPr>
        <p:txBody>
          <a:bodyPr wrap="square" lIns="0" tIns="0" rIns="0" bIns="0" rtlCol="0" anchor="ctr"/>
          <a:lstStyle/>
          <a:p>
            <a:pPr indent="0" marL="0">
              <a:buNone/>
            </a:pPr>
            <a:r>
              <a:rPr lang="en-US" sz="800" b="1" dirty="0">
                <a:solidFill>
                  <a:srgbClr val="94A3B8"/>
                </a:solidFill>
              </a:rPr>
              <a:t>Value (SAR)</a:t>
            </a:r>
            <a:endParaRPr lang="en-US" sz="800" dirty="0"/>
          </a:p>
        </p:txBody>
      </p:sp>
      <p:sp>
        <p:nvSpPr>
          <p:cNvPr id="18" name="Text 16"/>
          <p:cNvSpPr/>
          <p:nvPr/>
        </p:nvSpPr>
        <p:spPr>
          <a:xfrm>
            <a:off x="6903720" y="2606040"/>
            <a:ext cx="1188720" cy="228600"/>
          </a:xfrm>
          <a:prstGeom prst="rect">
            <a:avLst/>
          </a:prstGeom>
          <a:noFill/>
          <a:ln/>
        </p:spPr>
        <p:txBody>
          <a:bodyPr wrap="square" lIns="0" tIns="0" rIns="0" bIns="0" rtlCol="0" anchor="ctr"/>
          <a:lstStyle/>
          <a:p>
            <a:pPr indent="0" marL="0">
              <a:buNone/>
            </a:pPr>
            <a:r>
              <a:rPr lang="en-US" sz="800" b="1" dirty="0">
                <a:solidFill>
                  <a:srgbClr val="94A3B8"/>
                </a:solidFill>
              </a:rPr>
              <a:t>Start</a:t>
            </a:r>
            <a:endParaRPr lang="en-US" sz="800" dirty="0"/>
          </a:p>
        </p:txBody>
      </p:sp>
      <p:sp>
        <p:nvSpPr>
          <p:cNvPr id="19" name="Text 17"/>
          <p:cNvSpPr/>
          <p:nvPr/>
        </p:nvSpPr>
        <p:spPr>
          <a:xfrm>
            <a:off x="8138160" y="2606040"/>
            <a:ext cx="1188720" cy="228600"/>
          </a:xfrm>
          <a:prstGeom prst="rect">
            <a:avLst/>
          </a:prstGeom>
          <a:noFill/>
          <a:ln/>
        </p:spPr>
        <p:txBody>
          <a:bodyPr wrap="square" lIns="0" tIns="0" rIns="0" bIns="0" rtlCol="0" anchor="ctr"/>
          <a:lstStyle/>
          <a:p>
            <a:pPr indent="0" marL="0">
              <a:buNone/>
            </a:pPr>
            <a:r>
              <a:rPr lang="en-US" sz="800" b="1" dirty="0">
                <a:solidFill>
                  <a:srgbClr val="94A3B8"/>
                </a:solidFill>
              </a:rPr>
              <a:t>End</a:t>
            </a:r>
            <a:endParaRPr lang="en-US" sz="800" dirty="0"/>
          </a:p>
        </p:txBody>
      </p:sp>
      <p:sp>
        <p:nvSpPr>
          <p:cNvPr id="20" name="Text 18"/>
          <p:cNvSpPr/>
          <p:nvPr/>
        </p:nvSpPr>
        <p:spPr>
          <a:xfrm>
            <a:off x="9372600" y="2606040"/>
            <a:ext cx="1188720" cy="228600"/>
          </a:xfrm>
          <a:prstGeom prst="rect">
            <a:avLst/>
          </a:prstGeom>
          <a:noFill/>
          <a:ln/>
        </p:spPr>
        <p:txBody>
          <a:bodyPr wrap="square" lIns="0" tIns="0" rIns="0" bIns="0" rtlCol="0" anchor="ctr"/>
          <a:lstStyle/>
          <a:p>
            <a:pPr indent="0" marL="0">
              <a:buNone/>
            </a:pPr>
            <a:r>
              <a:rPr lang="en-US" sz="800" b="1" dirty="0">
                <a:solidFill>
                  <a:srgbClr val="94A3B8"/>
                </a:solidFill>
              </a:rPr>
              <a:t>Type</a:t>
            </a:r>
            <a:endParaRPr lang="en-US" sz="800" dirty="0"/>
          </a:p>
        </p:txBody>
      </p:sp>
      <p:sp>
        <p:nvSpPr>
          <p:cNvPr id="21" name="Text 19"/>
          <p:cNvSpPr/>
          <p:nvPr/>
        </p:nvSpPr>
        <p:spPr>
          <a:xfrm>
            <a:off x="10607040" y="2606040"/>
            <a:ext cx="1188720" cy="228600"/>
          </a:xfrm>
          <a:prstGeom prst="rect">
            <a:avLst/>
          </a:prstGeom>
          <a:noFill/>
          <a:ln/>
        </p:spPr>
        <p:txBody>
          <a:bodyPr wrap="square" lIns="0" tIns="0" rIns="0" bIns="0" rtlCol="0" anchor="ctr"/>
          <a:lstStyle/>
          <a:p>
            <a:pPr indent="0" marL="0">
              <a:buNone/>
            </a:pPr>
            <a:r>
              <a:rPr lang="en-US" sz="800" b="1" dirty="0">
                <a:solidFill>
                  <a:srgbClr val="94A3B8"/>
                </a:solidFill>
              </a:rPr>
              <a:t>PM</a:t>
            </a:r>
            <a:endParaRPr lang="en-US" sz="800" dirty="0"/>
          </a:p>
        </p:txBody>
      </p:sp>
      <p:sp>
        <p:nvSpPr>
          <p:cNvPr id="22" name="Shape 20"/>
          <p:cNvSpPr/>
          <p:nvPr/>
        </p:nvSpPr>
        <p:spPr>
          <a:xfrm>
            <a:off x="731520" y="2971800"/>
            <a:ext cx="10972800" cy="658368"/>
          </a:xfrm>
          <a:prstGeom prst="roundRect">
            <a:avLst>
              <a:gd name="adj" fmla="val 11111"/>
            </a:avLst>
          </a:prstGeom>
          <a:solidFill>
            <a:srgbClr val="141B36"/>
          </a:solidFill>
          <a:ln w="12700">
            <a:solidFill>
              <a:srgbClr val="2A3560"/>
            </a:solidFill>
            <a:prstDash val="solid"/>
          </a:ln>
        </p:spPr>
      </p:sp>
      <p:sp>
        <p:nvSpPr>
          <p:cNvPr id="23" name="Text 21"/>
          <p:cNvSpPr/>
          <p:nvPr/>
        </p:nvSpPr>
        <p:spPr>
          <a:xfrm>
            <a:off x="777240" y="3154680"/>
            <a:ext cx="1188720" cy="320040"/>
          </a:xfrm>
          <a:prstGeom prst="rect">
            <a:avLst/>
          </a:prstGeom>
          <a:noFill/>
          <a:ln/>
        </p:spPr>
        <p:txBody>
          <a:bodyPr wrap="square" lIns="0" tIns="0" rIns="0" bIns="0" rtlCol="0" anchor="ctr"/>
          <a:lstStyle/>
          <a:p>
            <a:pPr indent="0" marL="0">
              <a:buNone/>
            </a:pPr>
            <a:r>
              <a:rPr lang="en-US" sz="900" dirty="0">
                <a:solidFill>
                  <a:srgbClr val="FFFFFF"/>
                </a:solidFill>
              </a:rPr>
              <a:t>EPS</a:t>
            </a:r>
            <a:endParaRPr lang="en-US" sz="900" dirty="0"/>
          </a:p>
        </p:txBody>
      </p:sp>
      <p:sp>
        <p:nvSpPr>
          <p:cNvPr id="24" name="Text 22"/>
          <p:cNvSpPr/>
          <p:nvPr/>
        </p:nvSpPr>
        <p:spPr>
          <a:xfrm>
            <a:off x="2011680" y="3154680"/>
            <a:ext cx="1188720" cy="320040"/>
          </a:xfrm>
          <a:prstGeom prst="rect">
            <a:avLst/>
          </a:prstGeom>
          <a:noFill/>
          <a:ln/>
        </p:spPr>
        <p:txBody>
          <a:bodyPr wrap="square" lIns="0" tIns="0" rIns="0" bIns="0" rtlCol="0" anchor="ctr"/>
          <a:lstStyle/>
          <a:p>
            <a:pPr indent="0" marL="0">
              <a:buNone/>
            </a:pPr>
            <a:r>
              <a:rPr lang="en-US" sz="900" dirty="0">
                <a:solidFill>
                  <a:srgbClr val="FFFFFF"/>
                </a:solidFill>
              </a:rPr>
              <a:t>ANB EPS Corporate</a:t>
            </a:r>
            <a:endParaRPr lang="en-US" sz="900" dirty="0"/>
          </a:p>
        </p:txBody>
      </p:sp>
      <p:sp>
        <p:nvSpPr>
          <p:cNvPr id="25" name="Text 23"/>
          <p:cNvSpPr/>
          <p:nvPr/>
        </p:nvSpPr>
        <p:spPr>
          <a:xfrm>
            <a:off x="3246120" y="3154680"/>
            <a:ext cx="1188720" cy="320040"/>
          </a:xfrm>
          <a:prstGeom prst="rect">
            <a:avLst/>
          </a:prstGeom>
          <a:noFill/>
          <a:ln/>
        </p:spPr>
        <p:txBody>
          <a:bodyPr wrap="square" lIns="0" tIns="0" rIns="0" bIns="0" rtlCol="0" anchor="ctr"/>
          <a:lstStyle/>
          <a:p>
            <a:pPr indent="0" marL="0">
              <a:buNone/>
            </a:pPr>
            <a:r>
              <a:rPr lang="en-US" sz="900" dirty="0">
                <a:solidFill>
                  <a:srgbClr val="FFFFFF"/>
                </a:solidFill>
              </a:rPr>
              <a:t>EPS-01</a:t>
            </a:r>
            <a:endParaRPr lang="en-US" sz="900" dirty="0"/>
          </a:p>
        </p:txBody>
      </p:sp>
      <p:sp>
        <p:nvSpPr>
          <p:cNvPr id="26" name="Text 24"/>
          <p:cNvSpPr/>
          <p:nvPr/>
        </p:nvSpPr>
        <p:spPr>
          <a:xfrm>
            <a:off x="4480560" y="3154680"/>
            <a:ext cx="1188720" cy="320040"/>
          </a:xfrm>
          <a:prstGeom prst="rect">
            <a:avLst/>
          </a:prstGeom>
          <a:noFill/>
          <a:ln/>
        </p:spPr>
        <p:txBody>
          <a:bodyPr wrap="square" lIns="0" tIns="0" rIns="0" bIns="0" rtlCol="0" anchor="ctr"/>
          <a:lstStyle/>
          <a:p>
            <a:pPr indent="0" marL="0">
              <a:buNone/>
            </a:pPr>
            <a:r>
              <a:rPr lang="en-US" sz="900" dirty="0">
                <a:solidFill>
                  <a:srgbClr val="FFFFFF"/>
                </a:solidFill>
              </a:rPr>
              <a:t>ANB</a:t>
            </a:r>
            <a:endParaRPr lang="en-US" sz="900" dirty="0"/>
          </a:p>
        </p:txBody>
      </p:sp>
      <p:sp>
        <p:nvSpPr>
          <p:cNvPr id="27" name="Text 25"/>
          <p:cNvSpPr/>
          <p:nvPr/>
        </p:nvSpPr>
        <p:spPr>
          <a:xfrm>
            <a:off x="5715000" y="3154680"/>
            <a:ext cx="1188720" cy="320040"/>
          </a:xfrm>
          <a:prstGeom prst="rect">
            <a:avLst/>
          </a:prstGeom>
          <a:noFill/>
          <a:ln/>
        </p:spPr>
        <p:txBody>
          <a:bodyPr wrap="square" lIns="0" tIns="0" rIns="0" bIns="0" rtlCol="0" anchor="ctr"/>
          <a:lstStyle/>
          <a:p>
            <a:pPr indent="0" marL="0">
              <a:buNone/>
            </a:pPr>
            <a:r>
              <a:rPr lang="en-US" sz="900" dirty="0">
                <a:solidFill>
                  <a:srgbClr val="FFFFFF"/>
                </a:solidFill>
              </a:rPr>
              <a:t>12.4M</a:t>
            </a:r>
            <a:endParaRPr lang="en-US" sz="900" dirty="0"/>
          </a:p>
        </p:txBody>
      </p:sp>
      <p:sp>
        <p:nvSpPr>
          <p:cNvPr id="28" name="Text 26"/>
          <p:cNvSpPr/>
          <p:nvPr/>
        </p:nvSpPr>
        <p:spPr>
          <a:xfrm>
            <a:off x="6949440" y="3154680"/>
            <a:ext cx="1188720" cy="320040"/>
          </a:xfrm>
          <a:prstGeom prst="rect">
            <a:avLst/>
          </a:prstGeom>
          <a:noFill/>
          <a:ln/>
        </p:spPr>
        <p:txBody>
          <a:bodyPr wrap="square" lIns="0" tIns="0" rIns="0" bIns="0" rtlCol="0" anchor="ctr"/>
          <a:lstStyle/>
          <a:p>
            <a:pPr indent="0" marL="0">
              <a:buNone/>
            </a:pPr>
            <a:r>
              <a:rPr lang="en-US" sz="900" dirty="0">
                <a:solidFill>
                  <a:srgbClr val="FFFFFF"/>
                </a:solidFill>
              </a:rPr>
              <a:t>Jan 26</a:t>
            </a:r>
            <a:endParaRPr lang="en-US" sz="900" dirty="0"/>
          </a:p>
        </p:txBody>
      </p:sp>
      <p:sp>
        <p:nvSpPr>
          <p:cNvPr id="29" name="Text 27"/>
          <p:cNvSpPr/>
          <p:nvPr/>
        </p:nvSpPr>
        <p:spPr>
          <a:xfrm>
            <a:off x="8183880" y="3154680"/>
            <a:ext cx="1188720" cy="320040"/>
          </a:xfrm>
          <a:prstGeom prst="rect">
            <a:avLst/>
          </a:prstGeom>
          <a:noFill/>
          <a:ln/>
        </p:spPr>
        <p:txBody>
          <a:bodyPr wrap="square" lIns="0" tIns="0" rIns="0" bIns="0" rtlCol="0" anchor="ctr"/>
          <a:lstStyle/>
          <a:p>
            <a:pPr indent="0" marL="0">
              <a:buNone/>
            </a:pPr>
            <a:r>
              <a:rPr lang="en-US" sz="900" dirty="0">
                <a:solidFill>
                  <a:srgbClr val="FFFFFF"/>
                </a:solidFill>
              </a:rPr>
              <a:t>Dec 26</a:t>
            </a:r>
            <a:endParaRPr lang="en-US" sz="900" dirty="0"/>
          </a:p>
        </p:txBody>
      </p:sp>
      <p:sp>
        <p:nvSpPr>
          <p:cNvPr id="30" name="Text 28"/>
          <p:cNvSpPr/>
          <p:nvPr/>
        </p:nvSpPr>
        <p:spPr>
          <a:xfrm>
            <a:off x="9418320" y="3154680"/>
            <a:ext cx="1188720" cy="320040"/>
          </a:xfrm>
          <a:prstGeom prst="rect">
            <a:avLst/>
          </a:prstGeom>
          <a:noFill/>
          <a:ln/>
        </p:spPr>
        <p:txBody>
          <a:bodyPr wrap="square" lIns="0" tIns="0" rIns="0" bIns="0" rtlCol="0" anchor="ctr"/>
          <a:lstStyle/>
          <a:p>
            <a:pPr indent="0" marL="0">
              <a:buNone/>
            </a:pPr>
            <a:r>
              <a:rPr lang="en-US" sz="900" dirty="0">
                <a:solidFill>
                  <a:srgbClr val="FFFFFF"/>
                </a:solidFill>
              </a:rPr>
              <a:t>Managed</a:t>
            </a:r>
            <a:endParaRPr lang="en-US" sz="900" dirty="0"/>
          </a:p>
        </p:txBody>
      </p:sp>
      <p:sp>
        <p:nvSpPr>
          <p:cNvPr id="31" name="Text 29"/>
          <p:cNvSpPr/>
          <p:nvPr/>
        </p:nvSpPr>
        <p:spPr>
          <a:xfrm>
            <a:off x="10652760" y="3154680"/>
            <a:ext cx="1188720" cy="320040"/>
          </a:xfrm>
          <a:prstGeom prst="rect">
            <a:avLst/>
          </a:prstGeom>
          <a:noFill/>
          <a:ln/>
        </p:spPr>
        <p:txBody>
          <a:bodyPr wrap="square" lIns="0" tIns="0" rIns="0" bIns="0" rtlCol="0" anchor="ctr"/>
          <a:lstStyle/>
          <a:p>
            <a:pPr indent="0" marL="0">
              <a:buNone/>
            </a:pPr>
            <a:r>
              <a:rPr lang="en-US" sz="900" dirty="0">
                <a:solidFill>
                  <a:srgbClr val="FFFFFF"/>
                </a:solidFill>
              </a:rPr>
              <a:t>R.Ibrahim</a:t>
            </a:r>
            <a:endParaRPr lang="en-US" sz="900" dirty="0"/>
          </a:p>
        </p:txBody>
      </p:sp>
      <p:sp>
        <p:nvSpPr>
          <p:cNvPr id="32" name="Shape 30"/>
          <p:cNvSpPr/>
          <p:nvPr/>
        </p:nvSpPr>
        <p:spPr>
          <a:xfrm>
            <a:off x="731520" y="3749040"/>
            <a:ext cx="10972800" cy="658368"/>
          </a:xfrm>
          <a:prstGeom prst="roundRect">
            <a:avLst>
              <a:gd name="adj" fmla="val 11111"/>
            </a:avLst>
          </a:prstGeom>
          <a:solidFill>
            <a:srgbClr val="141B36"/>
          </a:solidFill>
          <a:ln w="12700">
            <a:solidFill>
              <a:srgbClr val="2A3560"/>
            </a:solidFill>
            <a:prstDash val="solid"/>
          </a:ln>
        </p:spPr>
      </p:sp>
      <p:sp>
        <p:nvSpPr>
          <p:cNvPr id="33" name="Text 31"/>
          <p:cNvSpPr/>
          <p:nvPr/>
        </p:nvSpPr>
        <p:spPr>
          <a:xfrm>
            <a:off x="777240" y="3931920"/>
            <a:ext cx="1188720" cy="320040"/>
          </a:xfrm>
          <a:prstGeom prst="rect">
            <a:avLst/>
          </a:prstGeom>
          <a:noFill/>
          <a:ln/>
        </p:spPr>
        <p:txBody>
          <a:bodyPr wrap="square" lIns="0" tIns="0" rIns="0" bIns="0" rtlCol="0" anchor="ctr"/>
          <a:lstStyle/>
          <a:p>
            <a:pPr indent="0" marL="0">
              <a:buNone/>
            </a:pPr>
            <a:r>
              <a:rPr lang="en-US" sz="900" dirty="0">
                <a:solidFill>
                  <a:srgbClr val="FFFFFF"/>
                </a:solidFill>
              </a:rPr>
              <a:t>ERP</a:t>
            </a:r>
            <a:endParaRPr lang="en-US" sz="900" dirty="0"/>
          </a:p>
        </p:txBody>
      </p:sp>
      <p:sp>
        <p:nvSpPr>
          <p:cNvPr id="34" name="Text 32"/>
          <p:cNvSpPr/>
          <p:nvPr/>
        </p:nvSpPr>
        <p:spPr>
          <a:xfrm>
            <a:off x="2011680" y="3931920"/>
            <a:ext cx="1188720" cy="320040"/>
          </a:xfrm>
          <a:prstGeom prst="rect">
            <a:avLst/>
          </a:prstGeom>
          <a:noFill/>
          <a:ln/>
        </p:spPr>
        <p:txBody>
          <a:bodyPr wrap="square" lIns="0" tIns="0" rIns="0" bIns="0" rtlCol="0" anchor="ctr"/>
          <a:lstStyle/>
          <a:p>
            <a:pPr indent="0" marL="0">
              <a:buNone/>
            </a:pPr>
            <a:r>
              <a:rPr lang="en-US" sz="900" dirty="0">
                <a:solidFill>
                  <a:srgbClr val="FFFFFF"/>
                </a:solidFill>
              </a:rPr>
              <a:t>UCDE</a:t>
            </a:r>
            <a:endParaRPr lang="en-US" sz="900" dirty="0"/>
          </a:p>
        </p:txBody>
      </p:sp>
      <p:sp>
        <p:nvSpPr>
          <p:cNvPr id="35" name="Text 33"/>
          <p:cNvSpPr/>
          <p:nvPr/>
        </p:nvSpPr>
        <p:spPr>
          <a:xfrm>
            <a:off x="3246120" y="3931920"/>
            <a:ext cx="1188720" cy="320040"/>
          </a:xfrm>
          <a:prstGeom prst="rect">
            <a:avLst/>
          </a:prstGeom>
          <a:noFill/>
          <a:ln/>
        </p:spPr>
        <p:txBody>
          <a:bodyPr wrap="square" lIns="0" tIns="0" rIns="0" bIns="0" rtlCol="0" anchor="ctr"/>
          <a:lstStyle/>
          <a:p>
            <a:pPr indent="0" marL="0">
              <a:buNone/>
            </a:pPr>
            <a:r>
              <a:rPr lang="en-US" sz="900" dirty="0">
                <a:solidFill>
                  <a:srgbClr val="FFFFFF"/>
                </a:solidFill>
              </a:rPr>
              <a:t>ERP-03</a:t>
            </a:r>
            <a:endParaRPr lang="en-US" sz="900" dirty="0"/>
          </a:p>
        </p:txBody>
      </p:sp>
      <p:sp>
        <p:nvSpPr>
          <p:cNvPr id="36" name="Text 34"/>
          <p:cNvSpPr/>
          <p:nvPr/>
        </p:nvSpPr>
        <p:spPr>
          <a:xfrm>
            <a:off x="4480560" y="3931920"/>
            <a:ext cx="1188720" cy="320040"/>
          </a:xfrm>
          <a:prstGeom prst="rect">
            <a:avLst/>
          </a:prstGeom>
          <a:noFill/>
          <a:ln/>
        </p:spPr>
        <p:txBody>
          <a:bodyPr wrap="square" lIns="0" tIns="0" rIns="0" bIns="0" rtlCol="0" anchor="ctr"/>
          <a:lstStyle/>
          <a:p>
            <a:pPr indent="0" marL="0">
              <a:buNone/>
            </a:pPr>
            <a:r>
              <a:rPr lang="en-US" sz="900" dirty="0">
                <a:solidFill>
                  <a:srgbClr val="FFFFFF"/>
                </a:solidFill>
              </a:rPr>
              <a:t>PIF</a:t>
            </a:r>
            <a:endParaRPr lang="en-US" sz="900" dirty="0"/>
          </a:p>
        </p:txBody>
      </p:sp>
      <p:sp>
        <p:nvSpPr>
          <p:cNvPr id="37" name="Text 35"/>
          <p:cNvSpPr/>
          <p:nvPr/>
        </p:nvSpPr>
        <p:spPr>
          <a:xfrm>
            <a:off x="5715000" y="3931920"/>
            <a:ext cx="1188720" cy="320040"/>
          </a:xfrm>
          <a:prstGeom prst="rect">
            <a:avLst/>
          </a:prstGeom>
          <a:noFill/>
          <a:ln/>
        </p:spPr>
        <p:txBody>
          <a:bodyPr wrap="square" lIns="0" tIns="0" rIns="0" bIns="0" rtlCol="0" anchor="ctr"/>
          <a:lstStyle/>
          <a:p>
            <a:pPr indent="0" marL="0">
              <a:buNone/>
            </a:pPr>
            <a:r>
              <a:rPr lang="en-US" sz="900" dirty="0">
                <a:solidFill>
                  <a:srgbClr val="FFFFFF"/>
                </a:solidFill>
              </a:rPr>
              <a:t>8.2M</a:t>
            </a:r>
            <a:endParaRPr lang="en-US" sz="900" dirty="0"/>
          </a:p>
        </p:txBody>
      </p:sp>
      <p:sp>
        <p:nvSpPr>
          <p:cNvPr id="38" name="Text 36"/>
          <p:cNvSpPr/>
          <p:nvPr/>
        </p:nvSpPr>
        <p:spPr>
          <a:xfrm>
            <a:off x="6949440" y="3931920"/>
            <a:ext cx="1188720" cy="320040"/>
          </a:xfrm>
          <a:prstGeom prst="rect">
            <a:avLst/>
          </a:prstGeom>
          <a:noFill/>
          <a:ln/>
        </p:spPr>
        <p:txBody>
          <a:bodyPr wrap="square" lIns="0" tIns="0" rIns="0" bIns="0" rtlCol="0" anchor="ctr"/>
          <a:lstStyle/>
          <a:p>
            <a:pPr indent="0" marL="0">
              <a:buNone/>
            </a:pPr>
            <a:r>
              <a:rPr lang="en-US" sz="900" dirty="0">
                <a:solidFill>
                  <a:srgbClr val="FFFFFF"/>
                </a:solidFill>
              </a:rPr>
              <a:t>Mar 26</a:t>
            </a:r>
            <a:endParaRPr lang="en-US" sz="900" dirty="0"/>
          </a:p>
        </p:txBody>
      </p:sp>
      <p:sp>
        <p:nvSpPr>
          <p:cNvPr id="39" name="Text 37"/>
          <p:cNvSpPr/>
          <p:nvPr/>
        </p:nvSpPr>
        <p:spPr>
          <a:xfrm>
            <a:off x="8183880" y="3931920"/>
            <a:ext cx="1188720" cy="320040"/>
          </a:xfrm>
          <a:prstGeom prst="rect">
            <a:avLst/>
          </a:prstGeom>
          <a:noFill/>
          <a:ln/>
        </p:spPr>
        <p:txBody>
          <a:bodyPr wrap="square" lIns="0" tIns="0" rIns="0" bIns="0" rtlCol="0" anchor="ctr"/>
          <a:lstStyle/>
          <a:p>
            <a:pPr indent="0" marL="0">
              <a:buNone/>
            </a:pPr>
            <a:r>
              <a:rPr lang="en-US" sz="900" dirty="0">
                <a:solidFill>
                  <a:srgbClr val="FFFFFF"/>
                </a:solidFill>
              </a:rPr>
              <a:t>Dec 26</a:t>
            </a:r>
            <a:endParaRPr lang="en-US" sz="900" dirty="0"/>
          </a:p>
        </p:txBody>
      </p:sp>
      <p:sp>
        <p:nvSpPr>
          <p:cNvPr id="40" name="Text 38"/>
          <p:cNvSpPr/>
          <p:nvPr/>
        </p:nvSpPr>
        <p:spPr>
          <a:xfrm>
            <a:off x="9418320" y="3931920"/>
            <a:ext cx="1188720" cy="320040"/>
          </a:xfrm>
          <a:prstGeom prst="rect">
            <a:avLst/>
          </a:prstGeom>
          <a:noFill/>
          <a:ln/>
        </p:spPr>
        <p:txBody>
          <a:bodyPr wrap="square" lIns="0" tIns="0" rIns="0" bIns="0" rtlCol="0" anchor="ctr"/>
          <a:lstStyle/>
          <a:p>
            <a:pPr indent="0" marL="0">
              <a:buNone/>
            </a:pPr>
            <a:r>
              <a:rPr lang="en-US" sz="900" dirty="0">
                <a:solidFill>
                  <a:srgbClr val="FFFFFF"/>
                </a:solidFill>
              </a:rPr>
              <a:t>Fixed</a:t>
            </a:r>
            <a:endParaRPr lang="en-US" sz="900" dirty="0"/>
          </a:p>
        </p:txBody>
      </p:sp>
      <p:sp>
        <p:nvSpPr>
          <p:cNvPr id="41" name="Text 39"/>
          <p:cNvSpPr/>
          <p:nvPr/>
        </p:nvSpPr>
        <p:spPr>
          <a:xfrm>
            <a:off x="10652760" y="3931920"/>
            <a:ext cx="1188720" cy="320040"/>
          </a:xfrm>
          <a:prstGeom prst="rect">
            <a:avLst/>
          </a:prstGeom>
          <a:noFill/>
          <a:ln/>
        </p:spPr>
        <p:txBody>
          <a:bodyPr wrap="square" lIns="0" tIns="0" rIns="0" bIns="0" rtlCol="0" anchor="ctr"/>
          <a:lstStyle/>
          <a:p>
            <a:pPr indent="0" marL="0">
              <a:buNone/>
            </a:pPr>
            <a:r>
              <a:rPr lang="en-US" sz="900" dirty="0">
                <a:solidFill>
                  <a:srgbClr val="FFFFFF"/>
                </a:solidFill>
              </a:rPr>
              <a:t>Y.Milhem</a:t>
            </a:r>
            <a:endParaRPr lang="en-US" sz="900" dirty="0"/>
          </a:p>
        </p:txBody>
      </p:sp>
      <p:sp>
        <p:nvSpPr>
          <p:cNvPr id="42" name="Shape 40"/>
          <p:cNvSpPr/>
          <p:nvPr/>
        </p:nvSpPr>
        <p:spPr>
          <a:xfrm>
            <a:off x="731520" y="4526280"/>
            <a:ext cx="10972800" cy="658368"/>
          </a:xfrm>
          <a:prstGeom prst="roundRect">
            <a:avLst>
              <a:gd name="adj" fmla="val 11111"/>
            </a:avLst>
          </a:prstGeom>
          <a:solidFill>
            <a:srgbClr val="141B36"/>
          </a:solidFill>
          <a:ln w="12700">
            <a:solidFill>
              <a:srgbClr val="2A3560"/>
            </a:solidFill>
            <a:prstDash val="solid"/>
          </a:ln>
        </p:spPr>
      </p:sp>
      <p:sp>
        <p:nvSpPr>
          <p:cNvPr id="43" name="Text 41"/>
          <p:cNvSpPr/>
          <p:nvPr/>
        </p:nvSpPr>
        <p:spPr>
          <a:xfrm>
            <a:off x="777240" y="4709160"/>
            <a:ext cx="1188720" cy="320040"/>
          </a:xfrm>
          <a:prstGeom prst="rect">
            <a:avLst/>
          </a:prstGeom>
          <a:noFill/>
          <a:ln/>
        </p:spPr>
        <p:txBody>
          <a:bodyPr wrap="square" lIns="0" tIns="0" rIns="0" bIns="0" rtlCol="0" anchor="ctr"/>
          <a:lstStyle/>
          <a:p>
            <a:pPr indent="0" marL="0">
              <a:buNone/>
            </a:pPr>
            <a:r>
              <a:rPr lang="en-US" sz="900" dirty="0">
                <a:solidFill>
                  <a:srgbClr val="FFFFFF"/>
                </a:solidFill>
              </a:rPr>
              <a:t>GRC</a:t>
            </a:r>
            <a:endParaRPr lang="en-US" sz="900" dirty="0"/>
          </a:p>
        </p:txBody>
      </p:sp>
      <p:sp>
        <p:nvSpPr>
          <p:cNvPr id="44" name="Text 42"/>
          <p:cNvSpPr/>
          <p:nvPr/>
        </p:nvSpPr>
        <p:spPr>
          <a:xfrm>
            <a:off x="2011680" y="4709160"/>
            <a:ext cx="1188720" cy="320040"/>
          </a:xfrm>
          <a:prstGeom prst="rect">
            <a:avLst/>
          </a:prstGeom>
          <a:noFill/>
          <a:ln/>
        </p:spPr>
        <p:txBody>
          <a:bodyPr wrap="square" lIns="0" tIns="0" rIns="0" bIns="0" rtlCol="0" anchor="ctr"/>
          <a:lstStyle/>
          <a:p>
            <a:pPr indent="0" marL="0">
              <a:buNone/>
            </a:pPr>
            <a:r>
              <a:rPr lang="en-US" sz="900" dirty="0">
                <a:solidFill>
                  <a:srgbClr val="FFFFFF"/>
                </a:solidFill>
              </a:rPr>
              <a:t>VAT App Support</a:t>
            </a:r>
            <a:endParaRPr lang="en-US" sz="900" dirty="0"/>
          </a:p>
        </p:txBody>
      </p:sp>
      <p:sp>
        <p:nvSpPr>
          <p:cNvPr id="45" name="Text 43"/>
          <p:cNvSpPr/>
          <p:nvPr/>
        </p:nvSpPr>
        <p:spPr>
          <a:xfrm>
            <a:off x="3246120" y="4709160"/>
            <a:ext cx="1188720" cy="320040"/>
          </a:xfrm>
          <a:prstGeom prst="rect">
            <a:avLst/>
          </a:prstGeom>
          <a:noFill/>
          <a:ln/>
        </p:spPr>
        <p:txBody>
          <a:bodyPr wrap="square" lIns="0" tIns="0" rIns="0" bIns="0" rtlCol="0" anchor="ctr"/>
          <a:lstStyle/>
          <a:p>
            <a:pPr indent="0" marL="0">
              <a:buNone/>
            </a:pPr>
            <a:r>
              <a:rPr lang="en-US" sz="900" dirty="0">
                <a:solidFill>
                  <a:srgbClr val="FFFFFF"/>
                </a:solidFill>
              </a:rPr>
              <a:t>GRC-07</a:t>
            </a:r>
            <a:endParaRPr lang="en-US" sz="900" dirty="0"/>
          </a:p>
        </p:txBody>
      </p:sp>
      <p:sp>
        <p:nvSpPr>
          <p:cNvPr id="46" name="Text 44"/>
          <p:cNvSpPr/>
          <p:nvPr/>
        </p:nvSpPr>
        <p:spPr>
          <a:xfrm>
            <a:off x="4480560" y="4709160"/>
            <a:ext cx="1188720" cy="320040"/>
          </a:xfrm>
          <a:prstGeom prst="rect">
            <a:avLst/>
          </a:prstGeom>
          <a:noFill/>
          <a:ln/>
        </p:spPr>
        <p:txBody>
          <a:bodyPr wrap="square" lIns="0" tIns="0" rIns="0" bIns="0" rtlCol="0" anchor="ctr"/>
          <a:lstStyle/>
          <a:p>
            <a:pPr indent="0" marL="0">
              <a:buNone/>
            </a:pPr>
            <a:r>
              <a:rPr lang="en-US" sz="900" dirty="0">
                <a:solidFill>
                  <a:srgbClr val="FFFFFF"/>
                </a:solidFill>
              </a:rPr>
              <a:t>ZATCA</a:t>
            </a:r>
            <a:endParaRPr lang="en-US" sz="900" dirty="0"/>
          </a:p>
        </p:txBody>
      </p:sp>
      <p:sp>
        <p:nvSpPr>
          <p:cNvPr id="47" name="Text 45"/>
          <p:cNvSpPr/>
          <p:nvPr/>
        </p:nvSpPr>
        <p:spPr>
          <a:xfrm>
            <a:off x="5715000" y="4709160"/>
            <a:ext cx="1188720" cy="320040"/>
          </a:xfrm>
          <a:prstGeom prst="rect">
            <a:avLst/>
          </a:prstGeom>
          <a:noFill/>
          <a:ln/>
        </p:spPr>
        <p:txBody>
          <a:bodyPr wrap="square" lIns="0" tIns="0" rIns="0" bIns="0" rtlCol="0" anchor="ctr"/>
          <a:lstStyle/>
          <a:p>
            <a:pPr indent="0" marL="0">
              <a:buNone/>
            </a:pPr>
            <a:r>
              <a:rPr lang="en-US" sz="900" dirty="0">
                <a:solidFill>
                  <a:srgbClr val="FFFFFF"/>
                </a:solidFill>
              </a:rPr>
              <a:t>2.1M</a:t>
            </a:r>
            <a:endParaRPr lang="en-US" sz="900" dirty="0"/>
          </a:p>
        </p:txBody>
      </p:sp>
      <p:sp>
        <p:nvSpPr>
          <p:cNvPr id="48" name="Text 46"/>
          <p:cNvSpPr/>
          <p:nvPr/>
        </p:nvSpPr>
        <p:spPr>
          <a:xfrm>
            <a:off x="6949440" y="4709160"/>
            <a:ext cx="1188720" cy="320040"/>
          </a:xfrm>
          <a:prstGeom prst="rect">
            <a:avLst/>
          </a:prstGeom>
          <a:noFill/>
          <a:ln/>
        </p:spPr>
        <p:txBody>
          <a:bodyPr wrap="square" lIns="0" tIns="0" rIns="0" bIns="0" rtlCol="0" anchor="ctr"/>
          <a:lstStyle/>
          <a:p>
            <a:pPr indent="0" marL="0">
              <a:buNone/>
            </a:pPr>
            <a:r>
              <a:rPr lang="en-US" sz="900" dirty="0">
                <a:solidFill>
                  <a:srgbClr val="FFFFFF"/>
                </a:solidFill>
              </a:rPr>
              <a:t>Feb 26</a:t>
            </a:r>
            <a:endParaRPr lang="en-US" sz="900" dirty="0"/>
          </a:p>
        </p:txBody>
      </p:sp>
      <p:sp>
        <p:nvSpPr>
          <p:cNvPr id="49" name="Text 47"/>
          <p:cNvSpPr/>
          <p:nvPr/>
        </p:nvSpPr>
        <p:spPr>
          <a:xfrm>
            <a:off x="8183880" y="4709160"/>
            <a:ext cx="1188720" cy="320040"/>
          </a:xfrm>
          <a:prstGeom prst="rect">
            <a:avLst/>
          </a:prstGeom>
          <a:noFill/>
          <a:ln/>
        </p:spPr>
        <p:txBody>
          <a:bodyPr wrap="square" lIns="0" tIns="0" rIns="0" bIns="0" rtlCol="0" anchor="ctr"/>
          <a:lstStyle/>
          <a:p>
            <a:pPr indent="0" marL="0">
              <a:buNone/>
            </a:pPr>
            <a:r>
              <a:rPr lang="en-US" sz="900" dirty="0">
                <a:solidFill>
                  <a:srgbClr val="FFFFFF"/>
                </a:solidFill>
              </a:rPr>
              <a:t>Jul 26</a:t>
            </a:r>
            <a:endParaRPr lang="en-US" sz="900" dirty="0"/>
          </a:p>
        </p:txBody>
      </p:sp>
      <p:sp>
        <p:nvSpPr>
          <p:cNvPr id="50" name="Text 48"/>
          <p:cNvSpPr/>
          <p:nvPr/>
        </p:nvSpPr>
        <p:spPr>
          <a:xfrm>
            <a:off x="9418320" y="4709160"/>
            <a:ext cx="1188720" cy="320040"/>
          </a:xfrm>
          <a:prstGeom prst="rect">
            <a:avLst/>
          </a:prstGeom>
          <a:noFill/>
          <a:ln/>
        </p:spPr>
        <p:txBody>
          <a:bodyPr wrap="square" lIns="0" tIns="0" rIns="0" bIns="0" rtlCol="0" anchor="ctr"/>
          <a:lstStyle/>
          <a:p>
            <a:pPr indent="0" marL="0">
              <a:buNone/>
            </a:pPr>
            <a:r>
              <a:rPr lang="en-US" sz="900" dirty="0">
                <a:solidFill>
                  <a:srgbClr val="FFFFFF"/>
                </a:solidFill>
              </a:rPr>
              <a:t>T&amp;M</a:t>
            </a:r>
            <a:endParaRPr lang="en-US" sz="900" dirty="0"/>
          </a:p>
        </p:txBody>
      </p:sp>
      <p:sp>
        <p:nvSpPr>
          <p:cNvPr id="51" name="Text 49"/>
          <p:cNvSpPr/>
          <p:nvPr/>
        </p:nvSpPr>
        <p:spPr>
          <a:xfrm>
            <a:off x="10652760" y="4709160"/>
            <a:ext cx="1188720" cy="320040"/>
          </a:xfrm>
          <a:prstGeom prst="rect">
            <a:avLst/>
          </a:prstGeom>
          <a:noFill/>
          <a:ln/>
        </p:spPr>
        <p:txBody>
          <a:bodyPr wrap="square" lIns="0" tIns="0" rIns="0" bIns="0" rtlCol="0" anchor="ctr"/>
          <a:lstStyle/>
          <a:p>
            <a:pPr indent="0" marL="0">
              <a:buNone/>
            </a:pPr>
            <a:r>
              <a:rPr lang="en-US" sz="900" dirty="0">
                <a:solidFill>
                  <a:srgbClr val="FFFFFF"/>
                </a:solidFill>
              </a:rPr>
              <a:t>M.Essam</a:t>
            </a:r>
            <a:endParaRPr lang="en-US" sz="900" dirty="0"/>
          </a:p>
        </p:txBody>
      </p:sp>
      <p:sp>
        <p:nvSpPr>
          <p:cNvPr id="52" name="Shape 50"/>
          <p:cNvSpPr/>
          <p:nvPr/>
        </p:nvSpPr>
        <p:spPr>
          <a:xfrm>
            <a:off x="731520" y="5303520"/>
            <a:ext cx="10972800" cy="658368"/>
          </a:xfrm>
          <a:prstGeom prst="roundRect">
            <a:avLst>
              <a:gd name="adj" fmla="val 11111"/>
            </a:avLst>
          </a:prstGeom>
          <a:solidFill>
            <a:srgbClr val="141B36"/>
          </a:solidFill>
          <a:ln w="12700">
            <a:solidFill>
              <a:srgbClr val="2A3560"/>
            </a:solidFill>
            <a:prstDash val="solid"/>
          </a:ln>
        </p:spPr>
      </p:sp>
      <p:sp>
        <p:nvSpPr>
          <p:cNvPr id="53" name="Text 51"/>
          <p:cNvSpPr/>
          <p:nvPr/>
        </p:nvSpPr>
        <p:spPr>
          <a:xfrm>
            <a:off x="777240" y="5486400"/>
            <a:ext cx="1188720" cy="320040"/>
          </a:xfrm>
          <a:prstGeom prst="rect">
            <a:avLst/>
          </a:prstGeom>
          <a:noFill/>
          <a:ln/>
        </p:spPr>
        <p:txBody>
          <a:bodyPr wrap="square" lIns="0" tIns="0" rIns="0" bIns="0" rtlCol="0" anchor="ctr"/>
          <a:lstStyle/>
          <a:p>
            <a:pPr indent="0" marL="0">
              <a:buNone/>
            </a:pPr>
            <a:r>
              <a:rPr lang="en-US" sz="900" dirty="0">
                <a:solidFill>
                  <a:srgbClr val="FFFFFF"/>
                </a:solidFill>
              </a:rPr>
              <a:t>CES</a:t>
            </a:r>
            <a:endParaRPr lang="en-US" sz="900" dirty="0"/>
          </a:p>
        </p:txBody>
      </p:sp>
      <p:sp>
        <p:nvSpPr>
          <p:cNvPr id="54" name="Text 52"/>
          <p:cNvSpPr/>
          <p:nvPr/>
        </p:nvSpPr>
        <p:spPr>
          <a:xfrm>
            <a:off x="2011680" y="5486400"/>
            <a:ext cx="1188720" cy="320040"/>
          </a:xfrm>
          <a:prstGeom prst="rect">
            <a:avLst/>
          </a:prstGeom>
          <a:noFill/>
          <a:ln/>
        </p:spPr>
        <p:txBody>
          <a:bodyPr wrap="square" lIns="0" tIns="0" rIns="0" bIns="0" rtlCol="0" anchor="ctr"/>
          <a:lstStyle/>
          <a:p>
            <a:pPr indent="0" marL="0">
              <a:buNone/>
            </a:pPr>
            <a:r>
              <a:rPr lang="en-US" sz="900" dirty="0">
                <a:solidFill>
                  <a:srgbClr val="FFFFFF"/>
                </a:solidFill>
              </a:rPr>
              <a:t>TiPlus MQ migration</a:t>
            </a:r>
            <a:endParaRPr lang="en-US" sz="900" dirty="0"/>
          </a:p>
        </p:txBody>
      </p:sp>
      <p:sp>
        <p:nvSpPr>
          <p:cNvPr id="55" name="Text 53"/>
          <p:cNvSpPr/>
          <p:nvPr/>
        </p:nvSpPr>
        <p:spPr>
          <a:xfrm>
            <a:off x="3246120" y="5486400"/>
            <a:ext cx="1188720" cy="320040"/>
          </a:xfrm>
          <a:prstGeom prst="rect">
            <a:avLst/>
          </a:prstGeom>
          <a:noFill/>
          <a:ln/>
        </p:spPr>
        <p:txBody>
          <a:bodyPr wrap="square" lIns="0" tIns="0" rIns="0" bIns="0" rtlCol="0" anchor="ctr"/>
          <a:lstStyle/>
          <a:p>
            <a:pPr indent="0" marL="0">
              <a:buNone/>
            </a:pPr>
            <a:r>
              <a:rPr lang="en-US" sz="900" dirty="0">
                <a:solidFill>
                  <a:srgbClr val="FFFFFF"/>
                </a:solidFill>
              </a:rPr>
              <a:t>CES-02</a:t>
            </a:r>
            <a:endParaRPr lang="en-US" sz="900" dirty="0"/>
          </a:p>
        </p:txBody>
      </p:sp>
      <p:sp>
        <p:nvSpPr>
          <p:cNvPr id="56" name="Text 54"/>
          <p:cNvSpPr/>
          <p:nvPr/>
        </p:nvSpPr>
        <p:spPr>
          <a:xfrm>
            <a:off x="4480560" y="5486400"/>
            <a:ext cx="1188720" cy="320040"/>
          </a:xfrm>
          <a:prstGeom prst="rect">
            <a:avLst/>
          </a:prstGeom>
          <a:noFill/>
          <a:ln/>
        </p:spPr>
        <p:txBody>
          <a:bodyPr wrap="square" lIns="0" tIns="0" rIns="0" bIns="0" rtlCol="0" anchor="ctr"/>
          <a:lstStyle/>
          <a:p>
            <a:pPr indent="0" marL="0">
              <a:buNone/>
            </a:pPr>
            <a:r>
              <a:rPr lang="en-US" sz="900" dirty="0">
                <a:solidFill>
                  <a:srgbClr val="FFFFFF"/>
                </a:solidFill>
              </a:rPr>
              <a:t>Elm</a:t>
            </a:r>
            <a:endParaRPr lang="en-US" sz="900" dirty="0"/>
          </a:p>
        </p:txBody>
      </p:sp>
      <p:sp>
        <p:nvSpPr>
          <p:cNvPr id="57" name="Text 55"/>
          <p:cNvSpPr/>
          <p:nvPr/>
        </p:nvSpPr>
        <p:spPr>
          <a:xfrm>
            <a:off x="5715000" y="5486400"/>
            <a:ext cx="1188720" cy="320040"/>
          </a:xfrm>
          <a:prstGeom prst="rect">
            <a:avLst/>
          </a:prstGeom>
          <a:noFill/>
          <a:ln/>
        </p:spPr>
        <p:txBody>
          <a:bodyPr wrap="square" lIns="0" tIns="0" rIns="0" bIns="0" rtlCol="0" anchor="ctr"/>
          <a:lstStyle/>
          <a:p>
            <a:pPr indent="0" marL="0">
              <a:buNone/>
            </a:pPr>
            <a:r>
              <a:rPr lang="en-US" sz="900" dirty="0">
                <a:solidFill>
                  <a:srgbClr val="FFFFFF"/>
                </a:solidFill>
              </a:rPr>
              <a:t>5.8M</a:t>
            </a:r>
            <a:endParaRPr lang="en-US" sz="900" dirty="0"/>
          </a:p>
        </p:txBody>
      </p:sp>
      <p:sp>
        <p:nvSpPr>
          <p:cNvPr id="58" name="Text 56"/>
          <p:cNvSpPr/>
          <p:nvPr/>
        </p:nvSpPr>
        <p:spPr>
          <a:xfrm>
            <a:off x="6949440" y="5486400"/>
            <a:ext cx="1188720" cy="320040"/>
          </a:xfrm>
          <a:prstGeom prst="rect">
            <a:avLst/>
          </a:prstGeom>
          <a:noFill/>
          <a:ln/>
        </p:spPr>
        <p:txBody>
          <a:bodyPr wrap="square" lIns="0" tIns="0" rIns="0" bIns="0" rtlCol="0" anchor="ctr"/>
          <a:lstStyle/>
          <a:p>
            <a:pPr indent="0" marL="0">
              <a:buNone/>
            </a:pPr>
            <a:r>
              <a:rPr lang="en-US" sz="900" dirty="0">
                <a:solidFill>
                  <a:srgbClr val="FFFFFF"/>
                </a:solidFill>
              </a:rPr>
              <a:t>Apr 26</a:t>
            </a:r>
            <a:endParaRPr lang="en-US" sz="900" dirty="0"/>
          </a:p>
        </p:txBody>
      </p:sp>
      <p:sp>
        <p:nvSpPr>
          <p:cNvPr id="59" name="Text 57"/>
          <p:cNvSpPr/>
          <p:nvPr/>
        </p:nvSpPr>
        <p:spPr>
          <a:xfrm>
            <a:off x="8183880" y="5486400"/>
            <a:ext cx="1188720" cy="320040"/>
          </a:xfrm>
          <a:prstGeom prst="rect">
            <a:avLst/>
          </a:prstGeom>
          <a:noFill/>
          <a:ln/>
        </p:spPr>
        <p:txBody>
          <a:bodyPr wrap="square" lIns="0" tIns="0" rIns="0" bIns="0" rtlCol="0" anchor="ctr"/>
          <a:lstStyle/>
          <a:p>
            <a:pPr indent="0" marL="0">
              <a:buNone/>
            </a:pPr>
            <a:r>
              <a:rPr lang="en-US" sz="900" dirty="0">
                <a:solidFill>
                  <a:srgbClr val="FFFFFF"/>
                </a:solidFill>
              </a:rPr>
              <a:t>Oct 26</a:t>
            </a:r>
            <a:endParaRPr lang="en-US" sz="900" dirty="0"/>
          </a:p>
        </p:txBody>
      </p:sp>
      <p:sp>
        <p:nvSpPr>
          <p:cNvPr id="60" name="Text 58"/>
          <p:cNvSpPr/>
          <p:nvPr/>
        </p:nvSpPr>
        <p:spPr>
          <a:xfrm>
            <a:off x="9418320" y="5486400"/>
            <a:ext cx="1188720" cy="320040"/>
          </a:xfrm>
          <a:prstGeom prst="rect">
            <a:avLst/>
          </a:prstGeom>
          <a:noFill/>
          <a:ln/>
        </p:spPr>
        <p:txBody>
          <a:bodyPr wrap="square" lIns="0" tIns="0" rIns="0" bIns="0" rtlCol="0" anchor="ctr"/>
          <a:lstStyle/>
          <a:p>
            <a:pPr indent="0" marL="0">
              <a:buNone/>
            </a:pPr>
            <a:r>
              <a:rPr lang="en-US" sz="900" dirty="0">
                <a:solidFill>
                  <a:srgbClr val="FFFFFF"/>
                </a:solidFill>
              </a:rPr>
              <a:t>Fixed</a:t>
            </a:r>
            <a:endParaRPr lang="en-US" sz="900" dirty="0"/>
          </a:p>
        </p:txBody>
      </p:sp>
      <p:sp>
        <p:nvSpPr>
          <p:cNvPr id="61" name="Text 59"/>
          <p:cNvSpPr/>
          <p:nvPr/>
        </p:nvSpPr>
        <p:spPr>
          <a:xfrm>
            <a:off x="10652760" y="5486400"/>
            <a:ext cx="1188720" cy="320040"/>
          </a:xfrm>
          <a:prstGeom prst="rect">
            <a:avLst/>
          </a:prstGeom>
          <a:noFill/>
          <a:ln/>
        </p:spPr>
        <p:txBody>
          <a:bodyPr wrap="square" lIns="0" tIns="0" rIns="0" bIns="0" rtlCol="0" anchor="ctr"/>
          <a:lstStyle/>
          <a:p>
            <a:pPr indent="0" marL="0">
              <a:buNone/>
            </a:pPr>
            <a:r>
              <a:rPr lang="en-US" sz="900" dirty="0">
                <a:solidFill>
                  <a:srgbClr val="FFFFFF"/>
                </a:solidFill>
              </a:rPr>
              <a:t>N.AlWabel</a:t>
            </a:r>
            <a:endParaRPr lang="en-US" sz="900" dirty="0"/>
          </a:p>
        </p:txBody>
      </p:sp>
      <p:sp>
        <p:nvSpPr>
          <p:cNvPr id="62" name="Shape 60"/>
          <p:cNvSpPr/>
          <p:nvPr/>
        </p:nvSpPr>
        <p:spPr>
          <a:xfrm>
            <a:off x="731520" y="6263640"/>
            <a:ext cx="10972800" cy="274320"/>
          </a:xfrm>
          <a:prstGeom prst="roundRect">
            <a:avLst>
              <a:gd name="adj" fmla="val 26667"/>
            </a:avLst>
          </a:prstGeom>
          <a:solidFill>
            <a:srgbClr val="141B36"/>
          </a:solidFill>
          <a:ln w="12700">
            <a:solidFill>
              <a:srgbClr val="2A3560"/>
            </a:solidFill>
            <a:prstDash val="solid"/>
          </a:ln>
        </p:spPr>
      </p:sp>
      <p:sp>
        <p:nvSpPr>
          <p:cNvPr id="63" name="Text 61"/>
          <p:cNvSpPr/>
          <p:nvPr/>
        </p:nvSpPr>
        <p:spPr>
          <a:xfrm>
            <a:off x="868680" y="6272784"/>
            <a:ext cx="10607040" cy="256032"/>
          </a:xfrm>
          <a:prstGeom prst="rect">
            <a:avLst/>
          </a:prstGeom>
          <a:noFill/>
          <a:ln/>
        </p:spPr>
        <p:txBody>
          <a:bodyPr wrap="square" lIns="0" tIns="0" rIns="0" bIns="0" rtlCol="0" anchor="ctr"/>
          <a:lstStyle/>
          <a:p>
            <a:pPr indent="0" marL="0">
              <a:buNone/>
            </a:pPr>
            <a:r>
              <a:rPr lang="en-US" sz="1000" i="1" dirty="0">
                <a:solidFill>
                  <a:srgbClr val="F59E0B"/>
                </a:solidFill>
                <a:latin typeface="Calibri" pitchFamily="34" charset="0"/>
                <a:ea typeface="Calibri" pitchFamily="34" charset="-122"/>
                <a:cs typeface="Calibri" pitchFamily="34" charset="-120"/>
              </a:rPr>
              <a:t>Projects are maintained by Admin. Every Log Task submission must pick a project from this list.</a:t>
            </a:r>
            <a:endParaRPr lang="en-US" sz="1000" dirty="0"/>
          </a:p>
        </p:txBody>
      </p:sp>
      <p:sp>
        <p:nvSpPr>
          <p:cNvPr id="64" name="Text 62"/>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65" name="Text 63"/>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20 / 28</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18 — Leaderboard</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Two tabs: Practice Rankings and Top Contributors. Quarter-aware.</a:t>
            </a:r>
            <a:endParaRPr lang="en-US" sz="1400" dirty="0"/>
          </a:p>
        </p:txBody>
      </p:sp>
      <p:sp>
        <p:nvSpPr>
          <p:cNvPr id="4" name="Shape 2"/>
          <p:cNvSpPr/>
          <p:nvPr/>
        </p:nvSpPr>
        <p:spPr>
          <a:xfrm>
            <a:off x="502920" y="1783080"/>
            <a:ext cx="5532120" cy="4663440"/>
          </a:xfrm>
          <a:prstGeom prst="roundRect">
            <a:avLst>
              <a:gd name="adj" fmla="val 1569"/>
            </a:avLst>
          </a:prstGeom>
          <a:solidFill>
            <a:srgbClr val="1A2244"/>
          </a:solidFill>
          <a:ln w="12700">
            <a:solidFill>
              <a:srgbClr val="2A3560"/>
            </a:solidFill>
            <a:prstDash val="solid"/>
          </a:ln>
        </p:spPr>
      </p:sp>
      <p:sp>
        <p:nvSpPr>
          <p:cNvPr id="5" name="Text 3"/>
          <p:cNvSpPr/>
          <p:nvPr/>
        </p:nvSpPr>
        <p:spPr>
          <a:xfrm>
            <a:off x="685800" y="1920240"/>
            <a:ext cx="50292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Practice Rankings</a:t>
            </a:r>
            <a:endParaRPr lang="en-US" sz="1500" dirty="0"/>
          </a:p>
        </p:txBody>
      </p:sp>
      <p:sp>
        <p:nvSpPr>
          <p:cNvPr id="6" name="Shape 4"/>
          <p:cNvSpPr/>
          <p:nvPr/>
        </p:nvSpPr>
        <p:spPr>
          <a:xfrm>
            <a:off x="685800" y="2331720"/>
            <a:ext cx="5166360" cy="566928"/>
          </a:xfrm>
          <a:prstGeom prst="roundRect">
            <a:avLst>
              <a:gd name="adj" fmla="val 12903"/>
            </a:avLst>
          </a:prstGeom>
          <a:solidFill>
            <a:srgbClr val="141B36"/>
          </a:solidFill>
          <a:ln w="12700">
            <a:solidFill>
              <a:srgbClr val="2A3560"/>
            </a:solidFill>
            <a:prstDash val="solid"/>
          </a:ln>
        </p:spPr>
      </p:sp>
      <p:sp>
        <p:nvSpPr>
          <p:cNvPr id="7" name="Shape 5"/>
          <p:cNvSpPr/>
          <p:nvPr/>
        </p:nvSpPr>
        <p:spPr>
          <a:xfrm>
            <a:off x="685800" y="2331720"/>
            <a:ext cx="73152" cy="566928"/>
          </a:xfrm>
          <a:prstGeom prst="rect">
            <a:avLst/>
          </a:prstGeom>
          <a:solidFill>
            <a:srgbClr val="F59E0B"/>
          </a:solidFill>
          <a:ln w="12700">
            <a:solidFill>
              <a:srgbClr val="F59E0B"/>
            </a:solidFill>
            <a:prstDash val="solid"/>
          </a:ln>
        </p:spPr>
      </p:sp>
      <p:sp>
        <p:nvSpPr>
          <p:cNvPr id="8" name="Text 6"/>
          <p:cNvSpPr/>
          <p:nvPr/>
        </p:nvSpPr>
        <p:spPr>
          <a:xfrm>
            <a:off x="777240" y="2423160"/>
            <a:ext cx="320040" cy="384048"/>
          </a:xfrm>
          <a:prstGeom prst="rect">
            <a:avLst/>
          </a:prstGeom>
          <a:noFill/>
          <a:ln/>
        </p:spPr>
        <p:txBody>
          <a:bodyPr wrap="square" lIns="0" tIns="0" rIns="0" bIns="0" rtlCol="0" anchor="ctr"/>
          <a:lstStyle/>
          <a:p>
            <a:pPr algn="ctr" indent="0" marL="0">
              <a:buNone/>
            </a:pPr>
            <a:r>
              <a:rPr lang="en-US" sz="1400" b="1" dirty="0">
                <a:solidFill>
                  <a:srgbClr val="F59E0B"/>
                </a:solidFill>
              </a:rPr>
              <a:t>1</a:t>
            </a:r>
            <a:endParaRPr lang="en-US" sz="1400" dirty="0"/>
          </a:p>
        </p:txBody>
      </p:sp>
      <p:sp>
        <p:nvSpPr>
          <p:cNvPr id="9" name="Text 7"/>
          <p:cNvSpPr/>
          <p:nvPr/>
        </p:nvSpPr>
        <p:spPr>
          <a:xfrm>
            <a:off x="1188720" y="2468880"/>
            <a:ext cx="1463040" cy="292608"/>
          </a:xfrm>
          <a:prstGeom prst="rect">
            <a:avLst/>
          </a:prstGeom>
          <a:noFill/>
          <a:ln/>
        </p:spPr>
        <p:txBody>
          <a:bodyPr wrap="square" lIns="0" tIns="0" rIns="0" bIns="0" rtlCol="0" anchor="ctr"/>
          <a:lstStyle/>
          <a:p>
            <a:pPr indent="0" marL="0">
              <a:buNone/>
            </a:pPr>
            <a:r>
              <a:rPr lang="en-US" sz="1200" b="1" dirty="0">
                <a:solidFill>
                  <a:srgbClr val="FFFFFF"/>
                </a:solidFill>
              </a:rPr>
              <a:t>ERP</a:t>
            </a:r>
            <a:endParaRPr lang="en-US" sz="1200" dirty="0"/>
          </a:p>
        </p:txBody>
      </p:sp>
      <p:sp>
        <p:nvSpPr>
          <p:cNvPr id="10" name="Text 8"/>
          <p:cNvSpPr/>
          <p:nvPr/>
        </p:nvSpPr>
        <p:spPr>
          <a:xfrm>
            <a:off x="2651760" y="2468880"/>
            <a:ext cx="1371600" cy="292608"/>
          </a:xfrm>
          <a:prstGeom prst="rect">
            <a:avLst/>
          </a:prstGeom>
          <a:noFill/>
          <a:ln/>
        </p:spPr>
        <p:txBody>
          <a:bodyPr wrap="square" lIns="0" tIns="0" rIns="0" bIns="0" rtlCol="0" anchor="ctr"/>
          <a:lstStyle/>
          <a:p>
            <a:pPr indent="0" marL="0">
              <a:buNone/>
            </a:pPr>
            <a:r>
              <a:rPr lang="en-US" sz="1000" dirty="0">
                <a:solidFill>
                  <a:srgbClr val="CADCFC"/>
                </a:solidFill>
              </a:rPr>
              <a:t>94.8 pts</a:t>
            </a:r>
            <a:endParaRPr lang="en-US" sz="1000" dirty="0"/>
          </a:p>
        </p:txBody>
      </p:sp>
      <p:sp>
        <p:nvSpPr>
          <p:cNvPr id="11" name="Text 9"/>
          <p:cNvSpPr/>
          <p:nvPr/>
        </p:nvSpPr>
        <p:spPr>
          <a:xfrm>
            <a:off x="4114800" y="2468880"/>
            <a:ext cx="1645920" cy="292608"/>
          </a:xfrm>
          <a:prstGeom prst="rect">
            <a:avLst/>
          </a:prstGeom>
          <a:noFill/>
          <a:ln/>
        </p:spPr>
        <p:txBody>
          <a:bodyPr wrap="square" lIns="0" tIns="0" rIns="0" bIns="0" rtlCol="0" anchor="ctr"/>
          <a:lstStyle/>
          <a:p>
            <a:pPr algn="r" indent="0" marL="0">
              <a:buNone/>
            </a:pPr>
            <a:r>
              <a:rPr lang="en-US" sz="1000" b="1" dirty="0">
                <a:solidFill>
                  <a:srgbClr val="10B981"/>
                </a:solidFill>
              </a:rPr>
              <a:t>820 h</a:t>
            </a:r>
            <a:endParaRPr lang="en-US" sz="1000" dirty="0"/>
          </a:p>
        </p:txBody>
      </p:sp>
      <p:sp>
        <p:nvSpPr>
          <p:cNvPr id="12" name="Shape 10"/>
          <p:cNvSpPr/>
          <p:nvPr/>
        </p:nvSpPr>
        <p:spPr>
          <a:xfrm>
            <a:off x="685800" y="2999232"/>
            <a:ext cx="5166360" cy="566928"/>
          </a:xfrm>
          <a:prstGeom prst="roundRect">
            <a:avLst>
              <a:gd name="adj" fmla="val 12903"/>
            </a:avLst>
          </a:prstGeom>
          <a:solidFill>
            <a:srgbClr val="141B36"/>
          </a:solidFill>
          <a:ln w="12700">
            <a:solidFill>
              <a:srgbClr val="2A3560"/>
            </a:solidFill>
            <a:prstDash val="solid"/>
          </a:ln>
        </p:spPr>
      </p:sp>
      <p:sp>
        <p:nvSpPr>
          <p:cNvPr id="13" name="Text 11"/>
          <p:cNvSpPr/>
          <p:nvPr/>
        </p:nvSpPr>
        <p:spPr>
          <a:xfrm>
            <a:off x="777240" y="3090672"/>
            <a:ext cx="320040" cy="384048"/>
          </a:xfrm>
          <a:prstGeom prst="rect">
            <a:avLst/>
          </a:prstGeom>
          <a:noFill/>
          <a:ln/>
        </p:spPr>
        <p:txBody>
          <a:bodyPr wrap="square" lIns="0" tIns="0" rIns="0" bIns="0" rtlCol="0" anchor="ctr"/>
          <a:lstStyle/>
          <a:p>
            <a:pPr algn="ctr" indent="0" marL="0">
              <a:buNone/>
            </a:pPr>
            <a:r>
              <a:rPr lang="en-US" sz="1400" b="1" dirty="0">
                <a:solidFill>
                  <a:srgbClr val="F59E0B"/>
                </a:solidFill>
              </a:rPr>
              <a:t>2</a:t>
            </a:r>
            <a:endParaRPr lang="en-US" sz="1400" dirty="0"/>
          </a:p>
        </p:txBody>
      </p:sp>
      <p:sp>
        <p:nvSpPr>
          <p:cNvPr id="14" name="Text 12"/>
          <p:cNvSpPr/>
          <p:nvPr/>
        </p:nvSpPr>
        <p:spPr>
          <a:xfrm>
            <a:off x="1188720" y="3136392"/>
            <a:ext cx="1463040" cy="292608"/>
          </a:xfrm>
          <a:prstGeom prst="rect">
            <a:avLst/>
          </a:prstGeom>
          <a:noFill/>
          <a:ln/>
        </p:spPr>
        <p:txBody>
          <a:bodyPr wrap="square" lIns="0" tIns="0" rIns="0" bIns="0" rtlCol="0" anchor="ctr"/>
          <a:lstStyle/>
          <a:p>
            <a:pPr indent="0" marL="0">
              <a:buNone/>
            </a:pPr>
            <a:r>
              <a:rPr lang="en-US" sz="1200" b="1" dirty="0">
                <a:solidFill>
                  <a:srgbClr val="FFFFFF"/>
                </a:solidFill>
              </a:rPr>
              <a:t>CES</a:t>
            </a:r>
            <a:endParaRPr lang="en-US" sz="1200" dirty="0"/>
          </a:p>
        </p:txBody>
      </p:sp>
      <p:sp>
        <p:nvSpPr>
          <p:cNvPr id="15" name="Text 13"/>
          <p:cNvSpPr/>
          <p:nvPr/>
        </p:nvSpPr>
        <p:spPr>
          <a:xfrm>
            <a:off x="2651760" y="3136392"/>
            <a:ext cx="1371600" cy="292608"/>
          </a:xfrm>
          <a:prstGeom prst="rect">
            <a:avLst/>
          </a:prstGeom>
          <a:noFill/>
          <a:ln/>
        </p:spPr>
        <p:txBody>
          <a:bodyPr wrap="square" lIns="0" tIns="0" rIns="0" bIns="0" rtlCol="0" anchor="ctr"/>
          <a:lstStyle/>
          <a:p>
            <a:pPr indent="0" marL="0">
              <a:buNone/>
            </a:pPr>
            <a:r>
              <a:rPr lang="en-US" sz="1000" dirty="0">
                <a:solidFill>
                  <a:srgbClr val="CADCFC"/>
                </a:solidFill>
              </a:rPr>
              <a:t>88.5 pts</a:t>
            </a:r>
            <a:endParaRPr lang="en-US" sz="1000" dirty="0"/>
          </a:p>
        </p:txBody>
      </p:sp>
      <p:sp>
        <p:nvSpPr>
          <p:cNvPr id="16" name="Text 14"/>
          <p:cNvSpPr/>
          <p:nvPr/>
        </p:nvSpPr>
        <p:spPr>
          <a:xfrm>
            <a:off x="4114800" y="3136392"/>
            <a:ext cx="1645920" cy="292608"/>
          </a:xfrm>
          <a:prstGeom prst="rect">
            <a:avLst/>
          </a:prstGeom>
          <a:noFill/>
          <a:ln/>
        </p:spPr>
        <p:txBody>
          <a:bodyPr wrap="square" lIns="0" tIns="0" rIns="0" bIns="0" rtlCol="0" anchor="ctr"/>
          <a:lstStyle/>
          <a:p>
            <a:pPr algn="r" indent="0" marL="0">
              <a:buNone/>
            </a:pPr>
            <a:r>
              <a:rPr lang="en-US" sz="1000" b="1" dirty="0">
                <a:solidFill>
                  <a:srgbClr val="10B981"/>
                </a:solidFill>
              </a:rPr>
              <a:t>720 h</a:t>
            </a:r>
            <a:endParaRPr lang="en-US" sz="1000" dirty="0"/>
          </a:p>
        </p:txBody>
      </p:sp>
      <p:sp>
        <p:nvSpPr>
          <p:cNvPr id="17" name="Shape 15"/>
          <p:cNvSpPr/>
          <p:nvPr/>
        </p:nvSpPr>
        <p:spPr>
          <a:xfrm>
            <a:off x="685800" y="3666744"/>
            <a:ext cx="5166360" cy="566928"/>
          </a:xfrm>
          <a:prstGeom prst="roundRect">
            <a:avLst>
              <a:gd name="adj" fmla="val 12903"/>
            </a:avLst>
          </a:prstGeom>
          <a:solidFill>
            <a:srgbClr val="141B36"/>
          </a:solidFill>
          <a:ln w="12700">
            <a:solidFill>
              <a:srgbClr val="2A3560"/>
            </a:solidFill>
            <a:prstDash val="solid"/>
          </a:ln>
        </p:spPr>
      </p:sp>
      <p:sp>
        <p:nvSpPr>
          <p:cNvPr id="18" name="Text 16"/>
          <p:cNvSpPr/>
          <p:nvPr/>
        </p:nvSpPr>
        <p:spPr>
          <a:xfrm>
            <a:off x="777240" y="3758184"/>
            <a:ext cx="320040" cy="384048"/>
          </a:xfrm>
          <a:prstGeom prst="rect">
            <a:avLst/>
          </a:prstGeom>
          <a:noFill/>
          <a:ln/>
        </p:spPr>
        <p:txBody>
          <a:bodyPr wrap="square" lIns="0" tIns="0" rIns="0" bIns="0" rtlCol="0" anchor="ctr"/>
          <a:lstStyle/>
          <a:p>
            <a:pPr algn="ctr" indent="0" marL="0">
              <a:buNone/>
            </a:pPr>
            <a:r>
              <a:rPr lang="en-US" sz="1400" b="1" dirty="0">
                <a:solidFill>
                  <a:srgbClr val="F59E0B"/>
                </a:solidFill>
              </a:rPr>
              <a:t>3</a:t>
            </a:r>
            <a:endParaRPr lang="en-US" sz="1400" dirty="0"/>
          </a:p>
        </p:txBody>
      </p:sp>
      <p:sp>
        <p:nvSpPr>
          <p:cNvPr id="19" name="Text 17"/>
          <p:cNvSpPr/>
          <p:nvPr/>
        </p:nvSpPr>
        <p:spPr>
          <a:xfrm>
            <a:off x="1188720" y="3803904"/>
            <a:ext cx="1463040" cy="292608"/>
          </a:xfrm>
          <a:prstGeom prst="rect">
            <a:avLst/>
          </a:prstGeom>
          <a:noFill/>
          <a:ln/>
        </p:spPr>
        <p:txBody>
          <a:bodyPr wrap="square" lIns="0" tIns="0" rIns="0" bIns="0" rtlCol="0" anchor="ctr"/>
          <a:lstStyle/>
          <a:p>
            <a:pPr indent="0" marL="0">
              <a:buNone/>
            </a:pPr>
            <a:r>
              <a:rPr lang="en-US" sz="1200" b="1" dirty="0">
                <a:solidFill>
                  <a:srgbClr val="FFFFFF"/>
                </a:solidFill>
              </a:rPr>
              <a:t>BFSI</a:t>
            </a:r>
            <a:endParaRPr lang="en-US" sz="1200" dirty="0"/>
          </a:p>
        </p:txBody>
      </p:sp>
      <p:sp>
        <p:nvSpPr>
          <p:cNvPr id="20" name="Text 18"/>
          <p:cNvSpPr/>
          <p:nvPr/>
        </p:nvSpPr>
        <p:spPr>
          <a:xfrm>
            <a:off x="2651760" y="3803904"/>
            <a:ext cx="1371600" cy="292608"/>
          </a:xfrm>
          <a:prstGeom prst="rect">
            <a:avLst/>
          </a:prstGeom>
          <a:noFill/>
          <a:ln/>
        </p:spPr>
        <p:txBody>
          <a:bodyPr wrap="square" lIns="0" tIns="0" rIns="0" bIns="0" rtlCol="0" anchor="ctr"/>
          <a:lstStyle/>
          <a:p>
            <a:pPr indent="0" marL="0">
              <a:buNone/>
            </a:pPr>
            <a:r>
              <a:rPr lang="en-US" sz="1000" dirty="0">
                <a:solidFill>
                  <a:srgbClr val="CADCFC"/>
                </a:solidFill>
              </a:rPr>
              <a:t>82.1 pts</a:t>
            </a:r>
            <a:endParaRPr lang="en-US" sz="1000" dirty="0"/>
          </a:p>
        </p:txBody>
      </p:sp>
      <p:sp>
        <p:nvSpPr>
          <p:cNvPr id="21" name="Text 19"/>
          <p:cNvSpPr/>
          <p:nvPr/>
        </p:nvSpPr>
        <p:spPr>
          <a:xfrm>
            <a:off x="4114800" y="3803904"/>
            <a:ext cx="1645920" cy="292608"/>
          </a:xfrm>
          <a:prstGeom prst="rect">
            <a:avLst/>
          </a:prstGeom>
          <a:noFill/>
          <a:ln/>
        </p:spPr>
        <p:txBody>
          <a:bodyPr wrap="square" lIns="0" tIns="0" rIns="0" bIns="0" rtlCol="0" anchor="ctr"/>
          <a:lstStyle/>
          <a:p>
            <a:pPr algn="r" indent="0" marL="0">
              <a:buNone/>
            </a:pPr>
            <a:r>
              <a:rPr lang="en-US" sz="1000" b="1" dirty="0">
                <a:solidFill>
                  <a:srgbClr val="10B981"/>
                </a:solidFill>
              </a:rPr>
              <a:t>680 h</a:t>
            </a:r>
            <a:endParaRPr lang="en-US" sz="1000" dirty="0"/>
          </a:p>
        </p:txBody>
      </p:sp>
      <p:sp>
        <p:nvSpPr>
          <p:cNvPr id="22" name="Shape 20"/>
          <p:cNvSpPr/>
          <p:nvPr/>
        </p:nvSpPr>
        <p:spPr>
          <a:xfrm>
            <a:off x="685800" y="4334256"/>
            <a:ext cx="5166360" cy="566928"/>
          </a:xfrm>
          <a:prstGeom prst="roundRect">
            <a:avLst>
              <a:gd name="adj" fmla="val 12903"/>
            </a:avLst>
          </a:prstGeom>
          <a:solidFill>
            <a:srgbClr val="141B36"/>
          </a:solidFill>
          <a:ln w="12700">
            <a:solidFill>
              <a:srgbClr val="2A3560"/>
            </a:solidFill>
            <a:prstDash val="solid"/>
          </a:ln>
        </p:spPr>
      </p:sp>
      <p:sp>
        <p:nvSpPr>
          <p:cNvPr id="23" name="Text 21"/>
          <p:cNvSpPr/>
          <p:nvPr/>
        </p:nvSpPr>
        <p:spPr>
          <a:xfrm>
            <a:off x="777240" y="4425696"/>
            <a:ext cx="320040" cy="384048"/>
          </a:xfrm>
          <a:prstGeom prst="rect">
            <a:avLst/>
          </a:prstGeom>
          <a:noFill/>
          <a:ln/>
        </p:spPr>
        <p:txBody>
          <a:bodyPr wrap="square" lIns="0" tIns="0" rIns="0" bIns="0" rtlCol="0" anchor="ctr"/>
          <a:lstStyle/>
          <a:p>
            <a:pPr algn="ctr" indent="0" marL="0">
              <a:buNone/>
            </a:pPr>
            <a:r>
              <a:rPr lang="en-US" sz="1400" b="1" dirty="0">
                <a:solidFill>
                  <a:srgbClr val="94A3B8"/>
                </a:solidFill>
              </a:rPr>
              <a:t>4</a:t>
            </a:r>
            <a:endParaRPr lang="en-US" sz="1400" dirty="0"/>
          </a:p>
        </p:txBody>
      </p:sp>
      <p:sp>
        <p:nvSpPr>
          <p:cNvPr id="24" name="Text 22"/>
          <p:cNvSpPr/>
          <p:nvPr/>
        </p:nvSpPr>
        <p:spPr>
          <a:xfrm>
            <a:off x="1188720" y="4471416"/>
            <a:ext cx="1463040" cy="292608"/>
          </a:xfrm>
          <a:prstGeom prst="rect">
            <a:avLst/>
          </a:prstGeom>
          <a:noFill/>
          <a:ln/>
        </p:spPr>
        <p:txBody>
          <a:bodyPr wrap="square" lIns="0" tIns="0" rIns="0" bIns="0" rtlCol="0" anchor="ctr"/>
          <a:lstStyle/>
          <a:p>
            <a:pPr indent="0" marL="0">
              <a:buNone/>
            </a:pPr>
            <a:r>
              <a:rPr lang="en-US" sz="1200" b="1" dirty="0">
                <a:solidFill>
                  <a:srgbClr val="FFFFFF"/>
                </a:solidFill>
              </a:rPr>
              <a:t>EPS</a:t>
            </a:r>
            <a:endParaRPr lang="en-US" sz="1200" dirty="0"/>
          </a:p>
        </p:txBody>
      </p:sp>
      <p:sp>
        <p:nvSpPr>
          <p:cNvPr id="25" name="Text 23"/>
          <p:cNvSpPr/>
          <p:nvPr/>
        </p:nvSpPr>
        <p:spPr>
          <a:xfrm>
            <a:off x="2651760" y="4471416"/>
            <a:ext cx="1371600" cy="292608"/>
          </a:xfrm>
          <a:prstGeom prst="rect">
            <a:avLst/>
          </a:prstGeom>
          <a:noFill/>
          <a:ln/>
        </p:spPr>
        <p:txBody>
          <a:bodyPr wrap="square" lIns="0" tIns="0" rIns="0" bIns="0" rtlCol="0" anchor="ctr"/>
          <a:lstStyle/>
          <a:p>
            <a:pPr indent="0" marL="0">
              <a:buNone/>
            </a:pPr>
            <a:r>
              <a:rPr lang="en-US" sz="1000" dirty="0">
                <a:solidFill>
                  <a:srgbClr val="CADCFC"/>
                </a:solidFill>
              </a:rPr>
              <a:t>76.4 pts</a:t>
            </a:r>
            <a:endParaRPr lang="en-US" sz="1000" dirty="0"/>
          </a:p>
        </p:txBody>
      </p:sp>
      <p:sp>
        <p:nvSpPr>
          <p:cNvPr id="26" name="Text 24"/>
          <p:cNvSpPr/>
          <p:nvPr/>
        </p:nvSpPr>
        <p:spPr>
          <a:xfrm>
            <a:off x="4114800" y="4471416"/>
            <a:ext cx="1645920" cy="292608"/>
          </a:xfrm>
          <a:prstGeom prst="rect">
            <a:avLst/>
          </a:prstGeom>
          <a:noFill/>
          <a:ln/>
        </p:spPr>
        <p:txBody>
          <a:bodyPr wrap="square" lIns="0" tIns="0" rIns="0" bIns="0" rtlCol="0" anchor="ctr"/>
          <a:lstStyle/>
          <a:p>
            <a:pPr algn="r" indent="0" marL="0">
              <a:buNone/>
            </a:pPr>
            <a:r>
              <a:rPr lang="en-US" sz="1000" b="1" dirty="0">
                <a:solidFill>
                  <a:srgbClr val="10B981"/>
                </a:solidFill>
              </a:rPr>
              <a:t>610 h</a:t>
            </a:r>
            <a:endParaRPr lang="en-US" sz="1000" dirty="0"/>
          </a:p>
        </p:txBody>
      </p:sp>
      <p:sp>
        <p:nvSpPr>
          <p:cNvPr id="27" name="Shape 25"/>
          <p:cNvSpPr/>
          <p:nvPr/>
        </p:nvSpPr>
        <p:spPr>
          <a:xfrm>
            <a:off x="685800" y="5001768"/>
            <a:ext cx="5166360" cy="566928"/>
          </a:xfrm>
          <a:prstGeom prst="roundRect">
            <a:avLst>
              <a:gd name="adj" fmla="val 12903"/>
            </a:avLst>
          </a:prstGeom>
          <a:solidFill>
            <a:srgbClr val="141B36"/>
          </a:solidFill>
          <a:ln w="12700">
            <a:solidFill>
              <a:srgbClr val="2A3560"/>
            </a:solidFill>
            <a:prstDash val="solid"/>
          </a:ln>
        </p:spPr>
      </p:sp>
      <p:sp>
        <p:nvSpPr>
          <p:cNvPr id="28" name="Text 26"/>
          <p:cNvSpPr/>
          <p:nvPr/>
        </p:nvSpPr>
        <p:spPr>
          <a:xfrm>
            <a:off x="777240" y="5093208"/>
            <a:ext cx="320040" cy="384048"/>
          </a:xfrm>
          <a:prstGeom prst="rect">
            <a:avLst/>
          </a:prstGeom>
          <a:noFill/>
          <a:ln/>
        </p:spPr>
        <p:txBody>
          <a:bodyPr wrap="square" lIns="0" tIns="0" rIns="0" bIns="0" rtlCol="0" anchor="ctr"/>
          <a:lstStyle/>
          <a:p>
            <a:pPr algn="ctr" indent="0" marL="0">
              <a:buNone/>
            </a:pPr>
            <a:r>
              <a:rPr lang="en-US" sz="1400" b="1" dirty="0">
                <a:solidFill>
                  <a:srgbClr val="94A3B8"/>
                </a:solidFill>
              </a:rPr>
              <a:t>5</a:t>
            </a:r>
            <a:endParaRPr lang="en-US" sz="1400" dirty="0"/>
          </a:p>
        </p:txBody>
      </p:sp>
      <p:sp>
        <p:nvSpPr>
          <p:cNvPr id="29" name="Text 27"/>
          <p:cNvSpPr/>
          <p:nvPr/>
        </p:nvSpPr>
        <p:spPr>
          <a:xfrm>
            <a:off x="1188720" y="5138928"/>
            <a:ext cx="1463040" cy="292608"/>
          </a:xfrm>
          <a:prstGeom prst="rect">
            <a:avLst/>
          </a:prstGeom>
          <a:noFill/>
          <a:ln/>
        </p:spPr>
        <p:txBody>
          <a:bodyPr wrap="square" lIns="0" tIns="0" rIns="0" bIns="0" rtlCol="0" anchor="ctr"/>
          <a:lstStyle/>
          <a:p>
            <a:pPr indent="0" marL="0">
              <a:buNone/>
            </a:pPr>
            <a:r>
              <a:rPr lang="en-US" sz="1200" b="1" dirty="0">
                <a:solidFill>
                  <a:srgbClr val="FFFFFF"/>
                </a:solidFill>
              </a:rPr>
              <a:t>EPCS</a:t>
            </a:r>
            <a:endParaRPr lang="en-US" sz="1200" dirty="0"/>
          </a:p>
        </p:txBody>
      </p:sp>
      <p:sp>
        <p:nvSpPr>
          <p:cNvPr id="30" name="Text 28"/>
          <p:cNvSpPr/>
          <p:nvPr/>
        </p:nvSpPr>
        <p:spPr>
          <a:xfrm>
            <a:off x="2651760" y="5138928"/>
            <a:ext cx="1371600" cy="292608"/>
          </a:xfrm>
          <a:prstGeom prst="rect">
            <a:avLst/>
          </a:prstGeom>
          <a:noFill/>
          <a:ln/>
        </p:spPr>
        <p:txBody>
          <a:bodyPr wrap="square" lIns="0" tIns="0" rIns="0" bIns="0" rtlCol="0" anchor="ctr"/>
          <a:lstStyle/>
          <a:p>
            <a:pPr indent="0" marL="0">
              <a:buNone/>
            </a:pPr>
            <a:r>
              <a:rPr lang="en-US" sz="1000" dirty="0">
                <a:solidFill>
                  <a:srgbClr val="CADCFC"/>
                </a:solidFill>
              </a:rPr>
              <a:t>68.0 pts</a:t>
            </a:r>
            <a:endParaRPr lang="en-US" sz="1000" dirty="0"/>
          </a:p>
        </p:txBody>
      </p:sp>
      <p:sp>
        <p:nvSpPr>
          <p:cNvPr id="31" name="Text 29"/>
          <p:cNvSpPr/>
          <p:nvPr/>
        </p:nvSpPr>
        <p:spPr>
          <a:xfrm>
            <a:off x="4114800" y="5138928"/>
            <a:ext cx="1645920" cy="292608"/>
          </a:xfrm>
          <a:prstGeom prst="rect">
            <a:avLst/>
          </a:prstGeom>
          <a:noFill/>
          <a:ln/>
        </p:spPr>
        <p:txBody>
          <a:bodyPr wrap="square" lIns="0" tIns="0" rIns="0" bIns="0" rtlCol="0" anchor="ctr"/>
          <a:lstStyle/>
          <a:p>
            <a:pPr algn="r" indent="0" marL="0">
              <a:buNone/>
            </a:pPr>
            <a:r>
              <a:rPr lang="en-US" sz="1000" b="1" dirty="0">
                <a:solidFill>
                  <a:srgbClr val="10B981"/>
                </a:solidFill>
              </a:rPr>
              <a:t>540 h</a:t>
            </a:r>
            <a:endParaRPr lang="en-US" sz="1000" dirty="0"/>
          </a:p>
        </p:txBody>
      </p:sp>
      <p:sp>
        <p:nvSpPr>
          <p:cNvPr id="32" name="Shape 30"/>
          <p:cNvSpPr/>
          <p:nvPr/>
        </p:nvSpPr>
        <p:spPr>
          <a:xfrm>
            <a:off x="685800" y="5669280"/>
            <a:ext cx="5166360" cy="566928"/>
          </a:xfrm>
          <a:prstGeom prst="roundRect">
            <a:avLst>
              <a:gd name="adj" fmla="val 12903"/>
            </a:avLst>
          </a:prstGeom>
          <a:solidFill>
            <a:srgbClr val="141B36"/>
          </a:solidFill>
          <a:ln w="12700">
            <a:solidFill>
              <a:srgbClr val="2A3560"/>
            </a:solidFill>
            <a:prstDash val="solid"/>
          </a:ln>
        </p:spPr>
      </p:sp>
      <p:sp>
        <p:nvSpPr>
          <p:cNvPr id="33" name="Text 31"/>
          <p:cNvSpPr/>
          <p:nvPr/>
        </p:nvSpPr>
        <p:spPr>
          <a:xfrm>
            <a:off x="777240" y="5760720"/>
            <a:ext cx="320040" cy="384048"/>
          </a:xfrm>
          <a:prstGeom prst="rect">
            <a:avLst/>
          </a:prstGeom>
          <a:noFill/>
          <a:ln/>
        </p:spPr>
        <p:txBody>
          <a:bodyPr wrap="square" lIns="0" tIns="0" rIns="0" bIns="0" rtlCol="0" anchor="ctr"/>
          <a:lstStyle/>
          <a:p>
            <a:pPr algn="ctr" indent="0" marL="0">
              <a:buNone/>
            </a:pPr>
            <a:r>
              <a:rPr lang="en-US" sz="1400" b="1" dirty="0">
                <a:solidFill>
                  <a:srgbClr val="94A3B8"/>
                </a:solidFill>
              </a:rPr>
              <a:t>6</a:t>
            </a:r>
            <a:endParaRPr lang="en-US" sz="1400" dirty="0"/>
          </a:p>
        </p:txBody>
      </p:sp>
      <p:sp>
        <p:nvSpPr>
          <p:cNvPr id="34" name="Text 32"/>
          <p:cNvSpPr/>
          <p:nvPr/>
        </p:nvSpPr>
        <p:spPr>
          <a:xfrm>
            <a:off x="1188720" y="5806440"/>
            <a:ext cx="1463040" cy="292608"/>
          </a:xfrm>
          <a:prstGeom prst="rect">
            <a:avLst/>
          </a:prstGeom>
          <a:noFill/>
          <a:ln/>
        </p:spPr>
        <p:txBody>
          <a:bodyPr wrap="square" lIns="0" tIns="0" rIns="0" bIns="0" rtlCol="0" anchor="ctr"/>
          <a:lstStyle/>
          <a:p>
            <a:pPr indent="0" marL="0">
              <a:buNone/>
            </a:pPr>
            <a:r>
              <a:rPr lang="en-US" sz="1200" b="1" dirty="0">
                <a:solidFill>
                  <a:srgbClr val="FFFFFF"/>
                </a:solidFill>
              </a:rPr>
              <a:t>GRC</a:t>
            </a:r>
            <a:endParaRPr lang="en-US" sz="1200" dirty="0"/>
          </a:p>
        </p:txBody>
      </p:sp>
      <p:sp>
        <p:nvSpPr>
          <p:cNvPr id="35" name="Text 33"/>
          <p:cNvSpPr/>
          <p:nvPr/>
        </p:nvSpPr>
        <p:spPr>
          <a:xfrm>
            <a:off x="2651760" y="5806440"/>
            <a:ext cx="1371600" cy="292608"/>
          </a:xfrm>
          <a:prstGeom prst="rect">
            <a:avLst/>
          </a:prstGeom>
          <a:noFill/>
          <a:ln/>
        </p:spPr>
        <p:txBody>
          <a:bodyPr wrap="square" lIns="0" tIns="0" rIns="0" bIns="0" rtlCol="0" anchor="ctr"/>
          <a:lstStyle/>
          <a:p>
            <a:pPr indent="0" marL="0">
              <a:buNone/>
            </a:pPr>
            <a:r>
              <a:rPr lang="en-US" sz="1000" dirty="0">
                <a:solidFill>
                  <a:srgbClr val="CADCFC"/>
                </a:solidFill>
              </a:rPr>
              <a:t>55.3 pts</a:t>
            </a:r>
            <a:endParaRPr lang="en-US" sz="1000" dirty="0"/>
          </a:p>
        </p:txBody>
      </p:sp>
      <p:sp>
        <p:nvSpPr>
          <p:cNvPr id="36" name="Text 34"/>
          <p:cNvSpPr/>
          <p:nvPr/>
        </p:nvSpPr>
        <p:spPr>
          <a:xfrm>
            <a:off x="4114800" y="5806440"/>
            <a:ext cx="1645920" cy="292608"/>
          </a:xfrm>
          <a:prstGeom prst="rect">
            <a:avLst/>
          </a:prstGeom>
          <a:noFill/>
          <a:ln/>
        </p:spPr>
        <p:txBody>
          <a:bodyPr wrap="square" lIns="0" tIns="0" rIns="0" bIns="0" rtlCol="0" anchor="ctr"/>
          <a:lstStyle/>
          <a:p>
            <a:pPr algn="r" indent="0" marL="0">
              <a:buNone/>
            </a:pPr>
            <a:r>
              <a:rPr lang="en-US" sz="1000" b="1" dirty="0">
                <a:solidFill>
                  <a:srgbClr val="10B981"/>
                </a:solidFill>
              </a:rPr>
              <a:t>442 h</a:t>
            </a:r>
            <a:endParaRPr lang="en-US" sz="1000" dirty="0"/>
          </a:p>
        </p:txBody>
      </p:sp>
      <p:sp>
        <p:nvSpPr>
          <p:cNvPr id="37" name="Shape 35"/>
          <p:cNvSpPr/>
          <p:nvPr/>
        </p:nvSpPr>
        <p:spPr>
          <a:xfrm>
            <a:off x="6217920" y="1783080"/>
            <a:ext cx="5532120" cy="4663440"/>
          </a:xfrm>
          <a:prstGeom prst="roundRect">
            <a:avLst>
              <a:gd name="adj" fmla="val 1569"/>
            </a:avLst>
          </a:prstGeom>
          <a:solidFill>
            <a:srgbClr val="1A2244"/>
          </a:solidFill>
          <a:ln w="12700">
            <a:solidFill>
              <a:srgbClr val="2A3560"/>
            </a:solidFill>
            <a:prstDash val="solid"/>
          </a:ln>
        </p:spPr>
      </p:sp>
      <p:sp>
        <p:nvSpPr>
          <p:cNvPr id="38" name="Text 36"/>
          <p:cNvSpPr/>
          <p:nvPr/>
        </p:nvSpPr>
        <p:spPr>
          <a:xfrm>
            <a:off x="6400800" y="1920240"/>
            <a:ext cx="50292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Top Contributors (sample)</a:t>
            </a:r>
            <a:endParaRPr lang="en-US" sz="1500" dirty="0"/>
          </a:p>
        </p:txBody>
      </p:sp>
      <p:sp>
        <p:nvSpPr>
          <p:cNvPr id="39" name="Text 37"/>
          <p:cNvSpPr/>
          <p:nvPr/>
        </p:nvSpPr>
        <p:spPr>
          <a:xfrm>
            <a:off x="6400800" y="2331720"/>
            <a:ext cx="658368" cy="228600"/>
          </a:xfrm>
          <a:prstGeom prst="rect">
            <a:avLst/>
          </a:prstGeom>
          <a:noFill/>
          <a:ln/>
        </p:spPr>
        <p:txBody>
          <a:bodyPr wrap="square" lIns="0" tIns="0" rIns="0" bIns="0" rtlCol="0" anchor="ctr"/>
          <a:lstStyle/>
          <a:p>
            <a:pPr indent="0" marL="0">
              <a:buNone/>
            </a:pPr>
            <a:r>
              <a:rPr lang="en-US" sz="800" b="1" dirty="0">
                <a:solidFill>
                  <a:srgbClr val="94A3B8"/>
                </a:solidFill>
              </a:rPr>
              <a:t>#</a:t>
            </a:r>
            <a:endParaRPr lang="en-US" sz="800" dirty="0"/>
          </a:p>
        </p:txBody>
      </p:sp>
      <p:sp>
        <p:nvSpPr>
          <p:cNvPr id="40" name="Text 38"/>
          <p:cNvSpPr/>
          <p:nvPr/>
        </p:nvSpPr>
        <p:spPr>
          <a:xfrm>
            <a:off x="7059168" y="2331720"/>
            <a:ext cx="658368" cy="228600"/>
          </a:xfrm>
          <a:prstGeom prst="rect">
            <a:avLst/>
          </a:prstGeom>
          <a:noFill/>
          <a:ln/>
        </p:spPr>
        <p:txBody>
          <a:bodyPr wrap="square" lIns="0" tIns="0" rIns="0" bIns="0" rtlCol="0" anchor="ctr"/>
          <a:lstStyle/>
          <a:p>
            <a:pPr indent="0" marL="0">
              <a:buNone/>
            </a:pPr>
            <a:r>
              <a:rPr lang="en-US" sz="800" b="1" dirty="0">
                <a:solidFill>
                  <a:srgbClr val="94A3B8"/>
                </a:solidFill>
              </a:rPr>
              <a:t>Name</a:t>
            </a:r>
            <a:endParaRPr lang="en-US" sz="800" dirty="0"/>
          </a:p>
        </p:txBody>
      </p:sp>
      <p:sp>
        <p:nvSpPr>
          <p:cNvPr id="41" name="Text 39"/>
          <p:cNvSpPr/>
          <p:nvPr/>
        </p:nvSpPr>
        <p:spPr>
          <a:xfrm>
            <a:off x="7717536" y="2331720"/>
            <a:ext cx="658368" cy="228600"/>
          </a:xfrm>
          <a:prstGeom prst="rect">
            <a:avLst/>
          </a:prstGeom>
          <a:noFill/>
          <a:ln/>
        </p:spPr>
        <p:txBody>
          <a:bodyPr wrap="square" lIns="0" tIns="0" rIns="0" bIns="0" rtlCol="0" anchor="ctr"/>
          <a:lstStyle/>
          <a:p>
            <a:pPr indent="0" marL="0">
              <a:buNone/>
            </a:pPr>
            <a:r>
              <a:rPr lang="en-US" sz="800" b="1" dirty="0">
                <a:solidFill>
                  <a:srgbClr val="94A3B8"/>
                </a:solidFill>
              </a:rPr>
              <a:t>Practice</a:t>
            </a:r>
            <a:endParaRPr lang="en-US" sz="800" dirty="0"/>
          </a:p>
        </p:txBody>
      </p:sp>
      <p:sp>
        <p:nvSpPr>
          <p:cNvPr id="42" name="Text 40"/>
          <p:cNvSpPr/>
          <p:nvPr/>
        </p:nvSpPr>
        <p:spPr>
          <a:xfrm>
            <a:off x="8375904" y="2331720"/>
            <a:ext cx="658368" cy="228600"/>
          </a:xfrm>
          <a:prstGeom prst="rect">
            <a:avLst/>
          </a:prstGeom>
          <a:noFill/>
          <a:ln/>
        </p:spPr>
        <p:txBody>
          <a:bodyPr wrap="square" lIns="0" tIns="0" rIns="0" bIns="0" rtlCol="0" anchor="ctr"/>
          <a:lstStyle/>
          <a:p>
            <a:pPr indent="0" marL="0">
              <a:buNone/>
            </a:pPr>
            <a:r>
              <a:rPr lang="en-US" sz="800" b="1" dirty="0">
                <a:solidFill>
                  <a:srgbClr val="94A3B8"/>
                </a:solidFill>
              </a:rPr>
              <a:t>Tasks</a:t>
            </a:r>
            <a:endParaRPr lang="en-US" sz="800" dirty="0"/>
          </a:p>
        </p:txBody>
      </p:sp>
      <p:sp>
        <p:nvSpPr>
          <p:cNvPr id="43" name="Text 41"/>
          <p:cNvSpPr/>
          <p:nvPr/>
        </p:nvSpPr>
        <p:spPr>
          <a:xfrm>
            <a:off x="9034272" y="2331720"/>
            <a:ext cx="658368" cy="228600"/>
          </a:xfrm>
          <a:prstGeom prst="rect">
            <a:avLst/>
          </a:prstGeom>
          <a:noFill/>
          <a:ln/>
        </p:spPr>
        <p:txBody>
          <a:bodyPr wrap="square" lIns="0" tIns="0" rIns="0" bIns="0" rtlCol="0" anchor="ctr"/>
          <a:lstStyle/>
          <a:p>
            <a:pPr indent="0" marL="0">
              <a:buNone/>
            </a:pPr>
            <a:r>
              <a:rPr lang="en-US" sz="800" b="1" dirty="0">
                <a:solidFill>
                  <a:srgbClr val="94A3B8"/>
                </a:solidFill>
              </a:rPr>
              <a:t>Hrs</a:t>
            </a:r>
            <a:endParaRPr lang="en-US" sz="800" dirty="0"/>
          </a:p>
        </p:txBody>
      </p:sp>
      <p:sp>
        <p:nvSpPr>
          <p:cNvPr id="44" name="Text 42"/>
          <p:cNvSpPr/>
          <p:nvPr/>
        </p:nvSpPr>
        <p:spPr>
          <a:xfrm>
            <a:off x="9692640" y="2331720"/>
            <a:ext cx="658368" cy="228600"/>
          </a:xfrm>
          <a:prstGeom prst="rect">
            <a:avLst/>
          </a:prstGeom>
          <a:noFill/>
          <a:ln/>
        </p:spPr>
        <p:txBody>
          <a:bodyPr wrap="square" lIns="0" tIns="0" rIns="0" bIns="0" rtlCol="0" anchor="ctr"/>
          <a:lstStyle/>
          <a:p>
            <a:pPr indent="0" marL="0">
              <a:buNone/>
            </a:pPr>
            <a:r>
              <a:rPr lang="en-US" sz="800" b="1" dirty="0">
                <a:solidFill>
                  <a:srgbClr val="94A3B8"/>
                </a:solidFill>
              </a:rPr>
              <a:t>Eff</a:t>
            </a:r>
            <a:endParaRPr lang="en-US" sz="800" dirty="0"/>
          </a:p>
        </p:txBody>
      </p:sp>
      <p:sp>
        <p:nvSpPr>
          <p:cNvPr id="45" name="Text 43"/>
          <p:cNvSpPr/>
          <p:nvPr/>
        </p:nvSpPr>
        <p:spPr>
          <a:xfrm>
            <a:off x="10351008" y="2331720"/>
            <a:ext cx="658368" cy="228600"/>
          </a:xfrm>
          <a:prstGeom prst="rect">
            <a:avLst/>
          </a:prstGeom>
          <a:noFill/>
          <a:ln/>
        </p:spPr>
        <p:txBody>
          <a:bodyPr wrap="square" lIns="0" tIns="0" rIns="0" bIns="0" rtlCol="0" anchor="ctr"/>
          <a:lstStyle/>
          <a:p>
            <a:pPr indent="0" marL="0">
              <a:buNone/>
            </a:pPr>
            <a:r>
              <a:rPr lang="en-US" sz="800" b="1" dirty="0">
                <a:solidFill>
                  <a:srgbClr val="94A3B8"/>
                </a:solidFill>
              </a:rPr>
              <a:t>Qual</a:t>
            </a:r>
            <a:endParaRPr lang="en-US" sz="800" dirty="0"/>
          </a:p>
        </p:txBody>
      </p:sp>
      <p:sp>
        <p:nvSpPr>
          <p:cNvPr id="46" name="Text 44"/>
          <p:cNvSpPr/>
          <p:nvPr/>
        </p:nvSpPr>
        <p:spPr>
          <a:xfrm>
            <a:off x="11009376" y="2331720"/>
            <a:ext cx="658368" cy="228600"/>
          </a:xfrm>
          <a:prstGeom prst="rect">
            <a:avLst/>
          </a:prstGeom>
          <a:noFill/>
          <a:ln/>
        </p:spPr>
        <p:txBody>
          <a:bodyPr wrap="square" lIns="0" tIns="0" rIns="0" bIns="0" rtlCol="0" anchor="ctr"/>
          <a:lstStyle/>
          <a:p>
            <a:pPr indent="0" marL="0">
              <a:buNone/>
            </a:pPr>
            <a:r>
              <a:rPr lang="en-US" sz="800" b="1" dirty="0">
                <a:solidFill>
                  <a:srgbClr val="94A3B8"/>
                </a:solidFill>
              </a:rPr>
              <a:t>Badges</a:t>
            </a:r>
            <a:endParaRPr lang="en-US" sz="800" dirty="0"/>
          </a:p>
        </p:txBody>
      </p:sp>
      <p:sp>
        <p:nvSpPr>
          <p:cNvPr id="47" name="Shape 45"/>
          <p:cNvSpPr/>
          <p:nvPr/>
        </p:nvSpPr>
        <p:spPr>
          <a:xfrm>
            <a:off x="6400800" y="2651760"/>
            <a:ext cx="5166360" cy="621792"/>
          </a:xfrm>
          <a:prstGeom prst="roundRect">
            <a:avLst>
              <a:gd name="adj" fmla="val 11765"/>
            </a:avLst>
          </a:prstGeom>
          <a:solidFill>
            <a:srgbClr val="141B36"/>
          </a:solidFill>
          <a:ln w="12700">
            <a:solidFill>
              <a:srgbClr val="2A3560"/>
            </a:solidFill>
            <a:prstDash val="solid"/>
          </a:ln>
        </p:spPr>
      </p:sp>
      <p:sp>
        <p:nvSpPr>
          <p:cNvPr id="48" name="Text 46"/>
          <p:cNvSpPr/>
          <p:nvPr/>
        </p:nvSpPr>
        <p:spPr>
          <a:xfrm>
            <a:off x="6446520" y="2816352"/>
            <a:ext cx="658368" cy="292608"/>
          </a:xfrm>
          <a:prstGeom prst="rect">
            <a:avLst/>
          </a:prstGeom>
          <a:noFill/>
          <a:ln/>
        </p:spPr>
        <p:txBody>
          <a:bodyPr wrap="square" lIns="0" tIns="0" rIns="0" bIns="0" rtlCol="0" anchor="ctr"/>
          <a:lstStyle/>
          <a:p>
            <a:pPr indent="0" marL="0">
              <a:buNone/>
            </a:pPr>
            <a:r>
              <a:rPr lang="en-US" sz="900" b="1" dirty="0">
                <a:solidFill>
                  <a:srgbClr val="F59E0B"/>
                </a:solidFill>
              </a:rPr>
              <a:t>1</a:t>
            </a:r>
            <a:endParaRPr lang="en-US" sz="900" dirty="0"/>
          </a:p>
        </p:txBody>
      </p:sp>
      <p:sp>
        <p:nvSpPr>
          <p:cNvPr id="49" name="Text 47"/>
          <p:cNvSpPr/>
          <p:nvPr/>
        </p:nvSpPr>
        <p:spPr>
          <a:xfrm>
            <a:off x="7104888" y="2816352"/>
            <a:ext cx="658368" cy="292608"/>
          </a:xfrm>
          <a:prstGeom prst="rect">
            <a:avLst/>
          </a:prstGeom>
          <a:noFill/>
          <a:ln/>
        </p:spPr>
        <p:txBody>
          <a:bodyPr wrap="square" lIns="0" tIns="0" rIns="0" bIns="0" rtlCol="0" anchor="ctr"/>
          <a:lstStyle/>
          <a:p>
            <a:pPr indent="0" marL="0">
              <a:buNone/>
            </a:pPr>
            <a:r>
              <a:rPr lang="en-US" sz="900" dirty="0">
                <a:solidFill>
                  <a:srgbClr val="FFFFFF"/>
                </a:solidFill>
              </a:rPr>
              <a:t>Reham I.</a:t>
            </a:r>
            <a:endParaRPr lang="en-US" sz="900" dirty="0"/>
          </a:p>
        </p:txBody>
      </p:sp>
      <p:sp>
        <p:nvSpPr>
          <p:cNvPr id="50" name="Text 48"/>
          <p:cNvSpPr/>
          <p:nvPr/>
        </p:nvSpPr>
        <p:spPr>
          <a:xfrm>
            <a:off x="7763256" y="2816352"/>
            <a:ext cx="658368" cy="292608"/>
          </a:xfrm>
          <a:prstGeom prst="rect">
            <a:avLst/>
          </a:prstGeom>
          <a:noFill/>
          <a:ln/>
        </p:spPr>
        <p:txBody>
          <a:bodyPr wrap="square" lIns="0" tIns="0" rIns="0" bIns="0" rtlCol="0" anchor="ctr"/>
          <a:lstStyle/>
          <a:p>
            <a:pPr indent="0" marL="0">
              <a:buNone/>
            </a:pPr>
            <a:r>
              <a:rPr lang="en-US" sz="900" dirty="0">
                <a:solidFill>
                  <a:srgbClr val="FFFFFF"/>
                </a:solidFill>
              </a:rPr>
              <a:t>ERP</a:t>
            </a:r>
            <a:endParaRPr lang="en-US" sz="900" dirty="0"/>
          </a:p>
        </p:txBody>
      </p:sp>
      <p:sp>
        <p:nvSpPr>
          <p:cNvPr id="51" name="Text 49"/>
          <p:cNvSpPr/>
          <p:nvPr/>
        </p:nvSpPr>
        <p:spPr>
          <a:xfrm>
            <a:off x="8421624" y="2816352"/>
            <a:ext cx="658368" cy="292608"/>
          </a:xfrm>
          <a:prstGeom prst="rect">
            <a:avLst/>
          </a:prstGeom>
          <a:noFill/>
          <a:ln/>
        </p:spPr>
        <p:txBody>
          <a:bodyPr wrap="square" lIns="0" tIns="0" rIns="0" bIns="0" rtlCol="0" anchor="ctr"/>
          <a:lstStyle/>
          <a:p>
            <a:pPr indent="0" marL="0">
              <a:buNone/>
            </a:pPr>
            <a:r>
              <a:rPr lang="en-US" sz="900" dirty="0">
                <a:solidFill>
                  <a:srgbClr val="FFFFFF"/>
                </a:solidFill>
              </a:rPr>
              <a:t>38</a:t>
            </a:r>
            <a:endParaRPr lang="en-US" sz="900" dirty="0"/>
          </a:p>
        </p:txBody>
      </p:sp>
      <p:sp>
        <p:nvSpPr>
          <p:cNvPr id="52" name="Text 50"/>
          <p:cNvSpPr/>
          <p:nvPr/>
        </p:nvSpPr>
        <p:spPr>
          <a:xfrm>
            <a:off x="9079992" y="2816352"/>
            <a:ext cx="658368" cy="292608"/>
          </a:xfrm>
          <a:prstGeom prst="rect">
            <a:avLst/>
          </a:prstGeom>
          <a:noFill/>
          <a:ln/>
        </p:spPr>
        <p:txBody>
          <a:bodyPr wrap="square" lIns="0" tIns="0" rIns="0" bIns="0" rtlCol="0" anchor="ctr"/>
          <a:lstStyle/>
          <a:p>
            <a:pPr indent="0" marL="0">
              <a:buNone/>
            </a:pPr>
            <a:r>
              <a:rPr lang="en-US" sz="900" dirty="0">
                <a:solidFill>
                  <a:srgbClr val="FFFFFF"/>
                </a:solidFill>
              </a:rPr>
              <a:t>182</a:t>
            </a:r>
            <a:endParaRPr lang="en-US" sz="900" dirty="0"/>
          </a:p>
        </p:txBody>
      </p:sp>
      <p:sp>
        <p:nvSpPr>
          <p:cNvPr id="53" name="Text 51"/>
          <p:cNvSpPr/>
          <p:nvPr/>
        </p:nvSpPr>
        <p:spPr>
          <a:xfrm>
            <a:off x="9738360" y="2816352"/>
            <a:ext cx="658368" cy="292608"/>
          </a:xfrm>
          <a:prstGeom prst="rect">
            <a:avLst/>
          </a:prstGeom>
          <a:noFill/>
          <a:ln/>
        </p:spPr>
        <p:txBody>
          <a:bodyPr wrap="square" lIns="0" tIns="0" rIns="0" bIns="0" rtlCol="0" anchor="ctr"/>
          <a:lstStyle/>
          <a:p>
            <a:pPr indent="0" marL="0">
              <a:buNone/>
            </a:pPr>
            <a:r>
              <a:rPr lang="en-US" sz="900" dirty="0">
                <a:solidFill>
                  <a:srgbClr val="FFFFFF"/>
                </a:solidFill>
              </a:rPr>
              <a:t>72%</a:t>
            </a:r>
            <a:endParaRPr lang="en-US" sz="900" dirty="0"/>
          </a:p>
        </p:txBody>
      </p:sp>
      <p:sp>
        <p:nvSpPr>
          <p:cNvPr id="54" name="Text 52"/>
          <p:cNvSpPr/>
          <p:nvPr/>
        </p:nvSpPr>
        <p:spPr>
          <a:xfrm>
            <a:off x="10396728" y="2816352"/>
            <a:ext cx="658368" cy="292608"/>
          </a:xfrm>
          <a:prstGeom prst="rect">
            <a:avLst/>
          </a:prstGeom>
          <a:noFill/>
          <a:ln/>
        </p:spPr>
        <p:txBody>
          <a:bodyPr wrap="square" lIns="0" tIns="0" rIns="0" bIns="0" rtlCol="0" anchor="ctr"/>
          <a:lstStyle/>
          <a:p>
            <a:pPr indent="0" marL="0">
              <a:buNone/>
            </a:pPr>
            <a:r>
              <a:rPr lang="en-US" sz="900" dirty="0">
                <a:solidFill>
                  <a:srgbClr val="FFFFFF"/>
                </a:solidFill>
              </a:rPr>
              <a:t>4.8</a:t>
            </a:r>
            <a:endParaRPr lang="en-US" sz="900" dirty="0"/>
          </a:p>
        </p:txBody>
      </p:sp>
      <p:sp>
        <p:nvSpPr>
          <p:cNvPr id="55" name="Text 53"/>
          <p:cNvSpPr/>
          <p:nvPr/>
        </p:nvSpPr>
        <p:spPr>
          <a:xfrm>
            <a:off x="11055096" y="2816352"/>
            <a:ext cx="658368" cy="292608"/>
          </a:xfrm>
          <a:prstGeom prst="rect">
            <a:avLst/>
          </a:prstGeom>
          <a:noFill/>
          <a:ln/>
        </p:spPr>
        <p:txBody>
          <a:bodyPr wrap="square" lIns="0" tIns="0" rIns="0" bIns="0" rtlCol="0" anchor="ctr"/>
          <a:lstStyle/>
          <a:p>
            <a:pPr indent="0" marL="0">
              <a:buNone/>
            </a:pPr>
            <a:r>
              <a:rPr lang="en-US" sz="900" dirty="0">
                <a:solidFill>
                  <a:srgbClr val="FFFFFF"/>
                </a:solidFill>
              </a:rPr>
              <a:t>★★★</a:t>
            </a:r>
            <a:endParaRPr lang="en-US" sz="900" dirty="0"/>
          </a:p>
        </p:txBody>
      </p:sp>
      <p:sp>
        <p:nvSpPr>
          <p:cNvPr id="56" name="Shape 54"/>
          <p:cNvSpPr/>
          <p:nvPr/>
        </p:nvSpPr>
        <p:spPr>
          <a:xfrm>
            <a:off x="6400800" y="3383280"/>
            <a:ext cx="5166360" cy="621792"/>
          </a:xfrm>
          <a:prstGeom prst="roundRect">
            <a:avLst>
              <a:gd name="adj" fmla="val 11765"/>
            </a:avLst>
          </a:prstGeom>
          <a:solidFill>
            <a:srgbClr val="141B36"/>
          </a:solidFill>
          <a:ln w="12700">
            <a:solidFill>
              <a:srgbClr val="2A3560"/>
            </a:solidFill>
            <a:prstDash val="solid"/>
          </a:ln>
        </p:spPr>
      </p:sp>
      <p:sp>
        <p:nvSpPr>
          <p:cNvPr id="57" name="Text 55"/>
          <p:cNvSpPr/>
          <p:nvPr/>
        </p:nvSpPr>
        <p:spPr>
          <a:xfrm>
            <a:off x="6446520" y="3547872"/>
            <a:ext cx="658368" cy="292608"/>
          </a:xfrm>
          <a:prstGeom prst="rect">
            <a:avLst/>
          </a:prstGeom>
          <a:noFill/>
          <a:ln/>
        </p:spPr>
        <p:txBody>
          <a:bodyPr wrap="square" lIns="0" tIns="0" rIns="0" bIns="0" rtlCol="0" anchor="ctr"/>
          <a:lstStyle/>
          <a:p>
            <a:pPr indent="0" marL="0">
              <a:buNone/>
            </a:pPr>
            <a:r>
              <a:rPr lang="en-US" sz="900" b="1" dirty="0">
                <a:solidFill>
                  <a:srgbClr val="F59E0B"/>
                </a:solidFill>
              </a:rPr>
              <a:t>2</a:t>
            </a:r>
            <a:endParaRPr lang="en-US" sz="900" dirty="0"/>
          </a:p>
        </p:txBody>
      </p:sp>
      <p:sp>
        <p:nvSpPr>
          <p:cNvPr id="58" name="Text 56"/>
          <p:cNvSpPr/>
          <p:nvPr/>
        </p:nvSpPr>
        <p:spPr>
          <a:xfrm>
            <a:off x="7104888" y="3547872"/>
            <a:ext cx="658368" cy="292608"/>
          </a:xfrm>
          <a:prstGeom prst="rect">
            <a:avLst/>
          </a:prstGeom>
          <a:noFill/>
          <a:ln/>
        </p:spPr>
        <p:txBody>
          <a:bodyPr wrap="square" lIns="0" tIns="0" rIns="0" bIns="0" rtlCol="0" anchor="ctr"/>
          <a:lstStyle/>
          <a:p>
            <a:pPr indent="0" marL="0">
              <a:buNone/>
            </a:pPr>
            <a:r>
              <a:rPr lang="en-US" sz="900" dirty="0">
                <a:solidFill>
                  <a:srgbClr val="FFFFFF"/>
                </a:solidFill>
              </a:rPr>
              <a:t>Yousef M.</a:t>
            </a:r>
            <a:endParaRPr lang="en-US" sz="900" dirty="0"/>
          </a:p>
        </p:txBody>
      </p:sp>
      <p:sp>
        <p:nvSpPr>
          <p:cNvPr id="59" name="Text 57"/>
          <p:cNvSpPr/>
          <p:nvPr/>
        </p:nvSpPr>
        <p:spPr>
          <a:xfrm>
            <a:off x="7763256" y="3547872"/>
            <a:ext cx="658368" cy="292608"/>
          </a:xfrm>
          <a:prstGeom prst="rect">
            <a:avLst/>
          </a:prstGeom>
          <a:noFill/>
          <a:ln/>
        </p:spPr>
        <p:txBody>
          <a:bodyPr wrap="square" lIns="0" tIns="0" rIns="0" bIns="0" rtlCol="0" anchor="ctr"/>
          <a:lstStyle/>
          <a:p>
            <a:pPr indent="0" marL="0">
              <a:buNone/>
            </a:pPr>
            <a:r>
              <a:rPr lang="en-US" sz="900" dirty="0">
                <a:solidFill>
                  <a:srgbClr val="FFFFFF"/>
                </a:solidFill>
              </a:rPr>
              <a:t>EPS</a:t>
            </a:r>
            <a:endParaRPr lang="en-US" sz="900" dirty="0"/>
          </a:p>
        </p:txBody>
      </p:sp>
      <p:sp>
        <p:nvSpPr>
          <p:cNvPr id="60" name="Text 58"/>
          <p:cNvSpPr/>
          <p:nvPr/>
        </p:nvSpPr>
        <p:spPr>
          <a:xfrm>
            <a:off x="8421624" y="3547872"/>
            <a:ext cx="658368" cy="292608"/>
          </a:xfrm>
          <a:prstGeom prst="rect">
            <a:avLst/>
          </a:prstGeom>
          <a:noFill/>
          <a:ln/>
        </p:spPr>
        <p:txBody>
          <a:bodyPr wrap="square" lIns="0" tIns="0" rIns="0" bIns="0" rtlCol="0" anchor="ctr"/>
          <a:lstStyle/>
          <a:p>
            <a:pPr indent="0" marL="0">
              <a:buNone/>
            </a:pPr>
            <a:r>
              <a:rPr lang="en-US" sz="900" dirty="0">
                <a:solidFill>
                  <a:srgbClr val="FFFFFF"/>
                </a:solidFill>
              </a:rPr>
              <a:t>34</a:t>
            </a:r>
            <a:endParaRPr lang="en-US" sz="900" dirty="0"/>
          </a:p>
        </p:txBody>
      </p:sp>
      <p:sp>
        <p:nvSpPr>
          <p:cNvPr id="61" name="Text 59"/>
          <p:cNvSpPr/>
          <p:nvPr/>
        </p:nvSpPr>
        <p:spPr>
          <a:xfrm>
            <a:off x="9079992" y="3547872"/>
            <a:ext cx="658368" cy="292608"/>
          </a:xfrm>
          <a:prstGeom prst="rect">
            <a:avLst/>
          </a:prstGeom>
          <a:noFill/>
          <a:ln/>
        </p:spPr>
        <p:txBody>
          <a:bodyPr wrap="square" lIns="0" tIns="0" rIns="0" bIns="0" rtlCol="0" anchor="ctr"/>
          <a:lstStyle/>
          <a:p>
            <a:pPr indent="0" marL="0">
              <a:buNone/>
            </a:pPr>
            <a:r>
              <a:rPr lang="en-US" sz="900" dirty="0">
                <a:solidFill>
                  <a:srgbClr val="FFFFFF"/>
                </a:solidFill>
              </a:rPr>
              <a:t>160</a:t>
            </a:r>
            <a:endParaRPr lang="en-US" sz="900" dirty="0"/>
          </a:p>
        </p:txBody>
      </p:sp>
      <p:sp>
        <p:nvSpPr>
          <p:cNvPr id="62" name="Text 60"/>
          <p:cNvSpPr/>
          <p:nvPr/>
        </p:nvSpPr>
        <p:spPr>
          <a:xfrm>
            <a:off x="9738360" y="3547872"/>
            <a:ext cx="658368" cy="292608"/>
          </a:xfrm>
          <a:prstGeom prst="rect">
            <a:avLst/>
          </a:prstGeom>
          <a:noFill/>
          <a:ln/>
        </p:spPr>
        <p:txBody>
          <a:bodyPr wrap="square" lIns="0" tIns="0" rIns="0" bIns="0" rtlCol="0" anchor="ctr"/>
          <a:lstStyle/>
          <a:p>
            <a:pPr indent="0" marL="0">
              <a:buNone/>
            </a:pPr>
            <a:r>
              <a:rPr lang="en-US" sz="900" dirty="0">
                <a:solidFill>
                  <a:srgbClr val="FFFFFF"/>
                </a:solidFill>
              </a:rPr>
              <a:t>68%</a:t>
            </a:r>
            <a:endParaRPr lang="en-US" sz="900" dirty="0"/>
          </a:p>
        </p:txBody>
      </p:sp>
      <p:sp>
        <p:nvSpPr>
          <p:cNvPr id="63" name="Text 61"/>
          <p:cNvSpPr/>
          <p:nvPr/>
        </p:nvSpPr>
        <p:spPr>
          <a:xfrm>
            <a:off x="10396728" y="3547872"/>
            <a:ext cx="658368" cy="292608"/>
          </a:xfrm>
          <a:prstGeom prst="rect">
            <a:avLst/>
          </a:prstGeom>
          <a:noFill/>
          <a:ln/>
        </p:spPr>
        <p:txBody>
          <a:bodyPr wrap="square" lIns="0" tIns="0" rIns="0" bIns="0" rtlCol="0" anchor="ctr"/>
          <a:lstStyle/>
          <a:p>
            <a:pPr indent="0" marL="0">
              <a:buNone/>
            </a:pPr>
            <a:r>
              <a:rPr lang="en-US" sz="900" dirty="0">
                <a:solidFill>
                  <a:srgbClr val="FFFFFF"/>
                </a:solidFill>
              </a:rPr>
              <a:t>4.7</a:t>
            </a:r>
            <a:endParaRPr lang="en-US" sz="900" dirty="0"/>
          </a:p>
        </p:txBody>
      </p:sp>
      <p:sp>
        <p:nvSpPr>
          <p:cNvPr id="64" name="Text 62"/>
          <p:cNvSpPr/>
          <p:nvPr/>
        </p:nvSpPr>
        <p:spPr>
          <a:xfrm>
            <a:off x="11055096" y="3547872"/>
            <a:ext cx="658368" cy="292608"/>
          </a:xfrm>
          <a:prstGeom prst="rect">
            <a:avLst/>
          </a:prstGeom>
          <a:noFill/>
          <a:ln/>
        </p:spPr>
        <p:txBody>
          <a:bodyPr wrap="square" lIns="0" tIns="0" rIns="0" bIns="0" rtlCol="0" anchor="ctr"/>
          <a:lstStyle/>
          <a:p>
            <a:pPr indent="0" marL="0">
              <a:buNone/>
            </a:pPr>
            <a:r>
              <a:rPr lang="en-US" sz="900" dirty="0">
                <a:solidFill>
                  <a:srgbClr val="FFFFFF"/>
                </a:solidFill>
              </a:rPr>
              <a:t>★★★</a:t>
            </a:r>
            <a:endParaRPr lang="en-US" sz="900" dirty="0"/>
          </a:p>
        </p:txBody>
      </p:sp>
      <p:sp>
        <p:nvSpPr>
          <p:cNvPr id="65" name="Shape 63"/>
          <p:cNvSpPr/>
          <p:nvPr/>
        </p:nvSpPr>
        <p:spPr>
          <a:xfrm>
            <a:off x="6400800" y="4114800"/>
            <a:ext cx="5166360" cy="621792"/>
          </a:xfrm>
          <a:prstGeom prst="roundRect">
            <a:avLst>
              <a:gd name="adj" fmla="val 11765"/>
            </a:avLst>
          </a:prstGeom>
          <a:solidFill>
            <a:srgbClr val="141B36"/>
          </a:solidFill>
          <a:ln w="12700">
            <a:solidFill>
              <a:srgbClr val="2A3560"/>
            </a:solidFill>
            <a:prstDash val="solid"/>
          </a:ln>
        </p:spPr>
      </p:sp>
      <p:sp>
        <p:nvSpPr>
          <p:cNvPr id="66" name="Text 64"/>
          <p:cNvSpPr/>
          <p:nvPr/>
        </p:nvSpPr>
        <p:spPr>
          <a:xfrm>
            <a:off x="6446520" y="4279392"/>
            <a:ext cx="658368" cy="292608"/>
          </a:xfrm>
          <a:prstGeom prst="rect">
            <a:avLst/>
          </a:prstGeom>
          <a:noFill/>
          <a:ln/>
        </p:spPr>
        <p:txBody>
          <a:bodyPr wrap="square" lIns="0" tIns="0" rIns="0" bIns="0" rtlCol="0" anchor="ctr"/>
          <a:lstStyle/>
          <a:p>
            <a:pPr indent="0" marL="0">
              <a:buNone/>
            </a:pPr>
            <a:r>
              <a:rPr lang="en-US" sz="900" b="1" dirty="0">
                <a:solidFill>
                  <a:srgbClr val="F59E0B"/>
                </a:solidFill>
              </a:rPr>
              <a:t>3</a:t>
            </a:r>
            <a:endParaRPr lang="en-US" sz="900" dirty="0"/>
          </a:p>
        </p:txBody>
      </p:sp>
      <p:sp>
        <p:nvSpPr>
          <p:cNvPr id="67" name="Text 65"/>
          <p:cNvSpPr/>
          <p:nvPr/>
        </p:nvSpPr>
        <p:spPr>
          <a:xfrm>
            <a:off x="7104888" y="4279392"/>
            <a:ext cx="658368" cy="292608"/>
          </a:xfrm>
          <a:prstGeom prst="rect">
            <a:avLst/>
          </a:prstGeom>
          <a:noFill/>
          <a:ln/>
        </p:spPr>
        <p:txBody>
          <a:bodyPr wrap="square" lIns="0" tIns="0" rIns="0" bIns="0" rtlCol="0" anchor="ctr"/>
          <a:lstStyle/>
          <a:p>
            <a:pPr indent="0" marL="0">
              <a:buNone/>
            </a:pPr>
            <a:r>
              <a:rPr lang="en-US" sz="900" dirty="0">
                <a:solidFill>
                  <a:srgbClr val="FFFFFF"/>
                </a:solidFill>
              </a:rPr>
              <a:t>Ahmed S. ★</a:t>
            </a:r>
            <a:endParaRPr lang="en-US" sz="900" dirty="0"/>
          </a:p>
        </p:txBody>
      </p:sp>
      <p:sp>
        <p:nvSpPr>
          <p:cNvPr id="68" name="Text 66"/>
          <p:cNvSpPr/>
          <p:nvPr/>
        </p:nvSpPr>
        <p:spPr>
          <a:xfrm>
            <a:off x="7763256" y="4279392"/>
            <a:ext cx="658368" cy="292608"/>
          </a:xfrm>
          <a:prstGeom prst="rect">
            <a:avLst/>
          </a:prstGeom>
          <a:noFill/>
          <a:ln/>
        </p:spPr>
        <p:txBody>
          <a:bodyPr wrap="square" lIns="0" tIns="0" rIns="0" bIns="0" rtlCol="0" anchor="ctr"/>
          <a:lstStyle/>
          <a:p>
            <a:pPr indent="0" marL="0">
              <a:buNone/>
            </a:pPr>
            <a:r>
              <a:rPr lang="en-US" sz="900" dirty="0">
                <a:solidFill>
                  <a:srgbClr val="FFFFFF"/>
                </a:solidFill>
              </a:rPr>
              <a:t>CES</a:t>
            </a:r>
            <a:endParaRPr lang="en-US" sz="900" dirty="0"/>
          </a:p>
        </p:txBody>
      </p:sp>
      <p:sp>
        <p:nvSpPr>
          <p:cNvPr id="69" name="Text 67"/>
          <p:cNvSpPr/>
          <p:nvPr/>
        </p:nvSpPr>
        <p:spPr>
          <a:xfrm>
            <a:off x="8421624" y="4279392"/>
            <a:ext cx="658368" cy="292608"/>
          </a:xfrm>
          <a:prstGeom prst="rect">
            <a:avLst/>
          </a:prstGeom>
          <a:noFill/>
          <a:ln/>
        </p:spPr>
        <p:txBody>
          <a:bodyPr wrap="square" lIns="0" tIns="0" rIns="0" bIns="0" rtlCol="0" anchor="ctr"/>
          <a:lstStyle/>
          <a:p>
            <a:pPr indent="0" marL="0">
              <a:buNone/>
            </a:pPr>
            <a:r>
              <a:rPr lang="en-US" sz="900" dirty="0">
                <a:solidFill>
                  <a:srgbClr val="FFFFFF"/>
                </a:solidFill>
              </a:rPr>
              <a:t>29</a:t>
            </a:r>
            <a:endParaRPr lang="en-US" sz="900" dirty="0"/>
          </a:p>
        </p:txBody>
      </p:sp>
      <p:sp>
        <p:nvSpPr>
          <p:cNvPr id="70" name="Text 68"/>
          <p:cNvSpPr/>
          <p:nvPr/>
        </p:nvSpPr>
        <p:spPr>
          <a:xfrm>
            <a:off x="9079992" y="4279392"/>
            <a:ext cx="658368" cy="292608"/>
          </a:xfrm>
          <a:prstGeom prst="rect">
            <a:avLst/>
          </a:prstGeom>
          <a:noFill/>
          <a:ln/>
        </p:spPr>
        <p:txBody>
          <a:bodyPr wrap="square" lIns="0" tIns="0" rIns="0" bIns="0" rtlCol="0" anchor="ctr"/>
          <a:lstStyle/>
          <a:p>
            <a:pPr indent="0" marL="0">
              <a:buNone/>
            </a:pPr>
            <a:r>
              <a:rPr lang="en-US" sz="900" dirty="0">
                <a:solidFill>
                  <a:srgbClr val="FFFFFF"/>
                </a:solidFill>
              </a:rPr>
              <a:t>135</a:t>
            </a:r>
            <a:endParaRPr lang="en-US" sz="900" dirty="0"/>
          </a:p>
        </p:txBody>
      </p:sp>
      <p:sp>
        <p:nvSpPr>
          <p:cNvPr id="71" name="Text 69"/>
          <p:cNvSpPr/>
          <p:nvPr/>
        </p:nvSpPr>
        <p:spPr>
          <a:xfrm>
            <a:off x="9738360" y="4279392"/>
            <a:ext cx="658368" cy="292608"/>
          </a:xfrm>
          <a:prstGeom prst="rect">
            <a:avLst/>
          </a:prstGeom>
          <a:noFill/>
          <a:ln/>
        </p:spPr>
        <p:txBody>
          <a:bodyPr wrap="square" lIns="0" tIns="0" rIns="0" bIns="0" rtlCol="0" anchor="ctr"/>
          <a:lstStyle/>
          <a:p>
            <a:pPr indent="0" marL="0">
              <a:buNone/>
            </a:pPr>
            <a:r>
              <a:rPr lang="en-US" sz="900" dirty="0">
                <a:solidFill>
                  <a:srgbClr val="FFFFFF"/>
                </a:solidFill>
              </a:rPr>
              <a:t>65%</a:t>
            </a:r>
            <a:endParaRPr lang="en-US" sz="900" dirty="0"/>
          </a:p>
        </p:txBody>
      </p:sp>
      <p:sp>
        <p:nvSpPr>
          <p:cNvPr id="72" name="Text 70"/>
          <p:cNvSpPr/>
          <p:nvPr/>
        </p:nvSpPr>
        <p:spPr>
          <a:xfrm>
            <a:off x="10396728" y="4279392"/>
            <a:ext cx="658368" cy="292608"/>
          </a:xfrm>
          <a:prstGeom prst="rect">
            <a:avLst/>
          </a:prstGeom>
          <a:noFill/>
          <a:ln/>
        </p:spPr>
        <p:txBody>
          <a:bodyPr wrap="square" lIns="0" tIns="0" rIns="0" bIns="0" rtlCol="0" anchor="ctr"/>
          <a:lstStyle/>
          <a:p>
            <a:pPr indent="0" marL="0">
              <a:buNone/>
            </a:pPr>
            <a:r>
              <a:rPr lang="en-US" sz="900" dirty="0">
                <a:solidFill>
                  <a:srgbClr val="FFFFFF"/>
                </a:solidFill>
              </a:rPr>
              <a:t>4.6</a:t>
            </a:r>
            <a:endParaRPr lang="en-US" sz="900" dirty="0"/>
          </a:p>
        </p:txBody>
      </p:sp>
      <p:sp>
        <p:nvSpPr>
          <p:cNvPr id="73" name="Text 71"/>
          <p:cNvSpPr/>
          <p:nvPr/>
        </p:nvSpPr>
        <p:spPr>
          <a:xfrm>
            <a:off x="11055096" y="4279392"/>
            <a:ext cx="658368" cy="292608"/>
          </a:xfrm>
          <a:prstGeom prst="rect">
            <a:avLst/>
          </a:prstGeom>
          <a:noFill/>
          <a:ln/>
        </p:spPr>
        <p:txBody>
          <a:bodyPr wrap="square" lIns="0" tIns="0" rIns="0" bIns="0" rtlCol="0" anchor="ctr"/>
          <a:lstStyle/>
          <a:p>
            <a:pPr indent="0" marL="0">
              <a:buNone/>
            </a:pPr>
            <a:r>
              <a:rPr lang="en-US" sz="900" dirty="0">
                <a:solidFill>
                  <a:srgbClr val="FFFFFF"/>
                </a:solidFill>
              </a:rPr>
              <a:t>★★</a:t>
            </a:r>
            <a:endParaRPr lang="en-US" sz="900" dirty="0"/>
          </a:p>
        </p:txBody>
      </p:sp>
      <p:sp>
        <p:nvSpPr>
          <p:cNvPr id="74" name="Shape 72"/>
          <p:cNvSpPr/>
          <p:nvPr/>
        </p:nvSpPr>
        <p:spPr>
          <a:xfrm>
            <a:off x="6400800" y="4846320"/>
            <a:ext cx="5166360" cy="621792"/>
          </a:xfrm>
          <a:prstGeom prst="roundRect">
            <a:avLst>
              <a:gd name="adj" fmla="val 11765"/>
            </a:avLst>
          </a:prstGeom>
          <a:solidFill>
            <a:srgbClr val="141B36"/>
          </a:solidFill>
          <a:ln w="12700">
            <a:solidFill>
              <a:srgbClr val="2A3560"/>
            </a:solidFill>
            <a:prstDash val="solid"/>
          </a:ln>
        </p:spPr>
      </p:sp>
      <p:sp>
        <p:nvSpPr>
          <p:cNvPr id="75" name="Text 73"/>
          <p:cNvSpPr/>
          <p:nvPr/>
        </p:nvSpPr>
        <p:spPr>
          <a:xfrm>
            <a:off x="6446520" y="5010912"/>
            <a:ext cx="658368" cy="292608"/>
          </a:xfrm>
          <a:prstGeom prst="rect">
            <a:avLst/>
          </a:prstGeom>
          <a:noFill/>
          <a:ln/>
        </p:spPr>
        <p:txBody>
          <a:bodyPr wrap="square" lIns="0" tIns="0" rIns="0" bIns="0" rtlCol="0" anchor="ctr"/>
          <a:lstStyle/>
          <a:p>
            <a:pPr indent="0" marL="0">
              <a:buNone/>
            </a:pPr>
            <a:r>
              <a:rPr lang="en-US" sz="900" b="1" dirty="0">
                <a:solidFill>
                  <a:srgbClr val="F59E0B"/>
                </a:solidFill>
              </a:rPr>
              <a:t>4</a:t>
            </a:r>
            <a:endParaRPr lang="en-US" sz="900" dirty="0"/>
          </a:p>
        </p:txBody>
      </p:sp>
      <p:sp>
        <p:nvSpPr>
          <p:cNvPr id="76" name="Text 74"/>
          <p:cNvSpPr/>
          <p:nvPr/>
        </p:nvSpPr>
        <p:spPr>
          <a:xfrm>
            <a:off x="7104888" y="5010912"/>
            <a:ext cx="658368" cy="292608"/>
          </a:xfrm>
          <a:prstGeom prst="rect">
            <a:avLst/>
          </a:prstGeom>
          <a:noFill/>
          <a:ln/>
        </p:spPr>
        <p:txBody>
          <a:bodyPr wrap="square" lIns="0" tIns="0" rIns="0" bIns="0" rtlCol="0" anchor="ctr"/>
          <a:lstStyle/>
          <a:p>
            <a:pPr indent="0" marL="0">
              <a:buNone/>
            </a:pPr>
            <a:r>
              <a:rPr lang="en-US" sz="900" dirty="0">
                <a:solidFill>
                  <a:srgbClr val="FFFFFF"/>
                </a:solidFill>
              </a:rPr>
              <a:t>Malak M.</a:t>
            </a:r>
            <a:endParaRPr lang="en-US" sz="900" dirty="0"/>
          </a:p>
        </p:txBody>
      </p:sp>
      <p:sp>
        <p:nvSpPr>
          <p:cNvPr id="77" name="Text 75"/>
          <p:cNvSpPr/>
          <p:nvPr/>
        </p:nvSpPr>
        <p:spPr>
          <a:xfrm>
            <a:off x="7763256" y="5010912"/>
            <a:ext cx="658368" cy="292608"/>
          </a:xfrm>
          <a:prstGeom prst="rect">
            <a:avLst/>
          </a:prstGeom>
          <a:noFill/>
          <a:ln/>
        </p:spPr>
        <p:txBody>
          <a:bodyPr wrap="square" lIns="0" tIns="0" rIns="0" bIns="0" rtlCol="0" anchor="ctr"/>
          <a:lstStyle/>
          <a:p>
            <a:pPr indent="0" marL="0">
              <a:buNone/>
            </a:pPr>
            <a:r>
              <a:rPr lang="en-US" sz="900" dirty="0">
                <a:solidFill>
                  <a:srgbClr val="FFFFFF"/>
                </a:solidFill>
              </a:rPr>
              <a:t>CES</a:t>
            </a:r>
            <a:endParaRPr lang="en-US" sz="900" dirty="0"/>
          </a:p>
        </p:txBody>
      </p:sp>
      <p:sp>
        <p:nvSpPr>
          <p:cNvPr id="78" name="Text 76"/>
          <p:cNvSpPr/>
          <p:nvPr/>
        </p:nvSpPr>
        <p:spPr>
          <a:xfrm>
            <a:off x="8421624" y="5010912"/>
            <a:ext cx="658368" cy="292608"/>
          </a:xfrm>
          <a:prstGeom prst="rect">
            <a:avLst/>
          </a:prstGeom>
          <a:noFill/>
          <a:ln/>
        </p:spPr>
        <p:txBody>
          <a:bodyPr wrap="square" lIns="0" tIns="0" rIns="0" bIns="0" rtlCol="0" anchor="ctr"/>
          <a:lstStyle/>
          <a:p>
            <a:pPr indent="0" marL="0">
              <a:buNone/>
            </a:pPr>
            <a:r>
              <a:rPr lang="en-US" sz="900" dirty="0">
                <a:solidFill>
                  <a:srgbClr val="FFFFFF"/>
                </a:solidFill>
              </a:rPr>
              <a:t>27</a:t>
            </a:r>
            <a:endParaRPr lang="en-US" sz="900" dirty="0"/>
          </a:p>
        </p:txBody>
      </p:sp>
      <p:sp>
        <p:nvSpPr>
          <p:cNvPr id="79" name="Text 77"/>
          <p:cNvSpPr/>
          <p:nvPr/>
        </p:nvSpPr>
        <p:spPr>
          <a:xfrm>
            <a:off x="9079992" y="5010912"/>
            <a:ext cx="658368" cy="292608"/>
          </a:xfrm>
          <a:prstGeom prst="rect">
            <a:avLst/>
          </a:prstGeom>
          <a:noFill/>
          <a:ln/>
        </p:spPr>
        <p:txBody>
          <a:bodyPr wrap="square" lIns="0" tIns="0" rIns="0" bIns="0" rtlCol="0" anchor="ctr"/>
          <a:lstStyle/>
          <a:p>
            <a:pPr indent="0" marL="0">
              <a:buNone/>
            </a:pPr>
            <a:r>
              <a:rPr lang="en-US" sz="900" dirty="0">
                <a:solidFill>
                  <a:srgbClr val="FFFFFF"/>
                </a:solidFill>
              </a:rPr>
              <a:t>118</a:t>
            </a:r>
            <a:endParaRPr lang="en-US" sz="900" dirty="0"/>
          </a:p>
        </p:txBody>
      </p:sp>
      <p:sp>
        <p:nvSpPr>
          <p:cNvPr id="80" name="Text 78"/>
          <p:cNvSpPr/>
          <p:nvPr/>
        </p:nvSpPr>
        <p:spPr>
          <a:xfrm>
            <a:off x="9738360" y="5010912"/>
            <a:ext cx="658368" cy="292608"/>
          </a:xfrm>
          <a:prstGeom prst="rect">
            <a:avLst/>
          </a:prstGeom>
          <a:noFill/>
          <a:ln/>
        </p:spPr>
        <p:txBody>
          <a:bodyPr wrap="square" lIns="0" tIns="0" rIns="0" bIns="0" rtlCol="0" anchor="ctr"/>
          <a:lstStyle/>
          <a:p>
            <a:pPr indent="0" marL="0">
              <a:buNone/>
            </a:pPr>
            <a:r>
              <a:rPr lang="en-US" sz="900" dirty="0">
                <a:solidFill>
                  <a:srgbClr val="FFFFFF"/>
                </a:solidFill>
              </a:rPr>
              <a:t>60%</a:t>
            </a:r>
            <a:endParaRPr lang="en-US" sz="900" dirty="0"/>
          </a:p>
        </p:txBody>
      </p:sp>
      <p:sp>
        <p:nvSpPr>
          <p:cNvPr id="81" name="Text 79"/>
          <p:cNvSpPr/>
          <p:nvPr/>
        </p:nvSpPr>
        <p:spPr>
          <a:xfrm>
            <a:off x="10396728" y="5010912"/>
            <a:ext cx="658368" cy="292608"/>
          </a:xfrm>
          <a:prstGeom prst="rect">
            <a:avLst/>
          </a:prstGeom>
          <a:noFill/>
          <a:ln/>
        </p:spPr>
        <p:txBody>
          <a:bodyPr wrap="square" lIns="0" tIns="0" rIns="0" bIns="0" rtlCol="0" anchor="ctr"/>
          <a:lstStyle/>
          <a:p>
            <a:pPr indent="0" marL="0">
              <a:buNone/>
            </a:pPr>
            <a:r>
              <a:rPr lang="en-US" sz="900" dirty="0">
                <a:solidFill>
                  <a:srgbClr val="FFFFFF"/>
                </a:solidFill>
              </a:rPr>
              <a:t>4.5</a:t>
            </a:r>
            <a:endParaRPr lang="en-US" sz="900" dirty="0"/>
          </a:p>
        </p:txBody>
      </p:sp>
      <p:sp>
        <p:nvSpPr>
          <p:cNvPr id="82" name="Text 80"/>
          <p:cNvSpPr/>
          <p:nvPr/>
        </p:nvSpPr>
        <p:spPr>
          <a:xfrm>
            <a:off x="11055096" y="5010912"/>
            <a:ext cx="658368" cy="292608"/>
          </a:xfrm>
          <a:prstGeom prst="rect">
            <a:avLst/>
          </a:prstGeom>
          <a:noFill/>
          <a:ln/>
        </p:spPr>
        <p:txBody>
          <a:bodyPr wrap="square" lIns="0" tIns="0" rIns="0" bIns="0" rtlCol="0" anchor="ctr"/>
          <a:lstStyle/>
          <a:p>
            <a:pPr indent="0" marL="0">
              <a:buNone/>
            </a:pPr>
            <a:r>
              <a:rPr lang="en-US" sz="900" dirty="0">
                <a:solidFill>
                  <a:srgbClr val="FFFFFF"/>
                </a:solidFill>
              </a:rPr>
              <a:t>★★</a:t>
            </a:r>
            <a:endParaRPr lang="en-US" sz="900" dirty="0"/>
          </a:p>
        </p:txBody>
      </p:sp>
      <p:sp>
        <p:nvSpPr>
          <p:cNvPr id="83" name="Shape 81"/>
          <p:cNvSpPr/>
          <p:nvPr/>
        </p:nvSpPr>
        <p:spPr>
          <a:xfrm>
            <a:off x="6400800" y="5577840"/>
            <a:ext cx="5166360" cy="621792"/>
          </a:xfrm>
          <a:prstGeom prst="roundRect">
            <a:avLst>
              <a:gd name="adj" fmla="val 11765"/>
            </a:avLst>
          </a:prstGeom>
          <a:solidFill>
            <a:srgbClr val="141B36"/>
          </a:solidFill>
          <a:ln w="12700">
            <a:solidFill>
              <a:srgbClr val="2A3560"/>
            </a:solidFill>
            <a:prstDash val="solid"/>
          </a:ln>
        </p:spPr>
      </p:sp>
      <p:sp>
        <p:nvSpPr>
          <p:cNvPr id="84" name="Text 82"/>
          <p:cNvSpPr/>
          <p:nvPr/>
        </p:nvSpPr>
        <p:spPr>
          <a:xfrm>
            <a:off x="6446520" y="5742432"/>
            <a:ext cx="658368" cy="292608"/>
          </a:xfrm>
          <a:prstGeom prst="rect">
            <a:avLst/>
          </a:prstGeom>
          <a:noFill/>
          <a:ln/>
        </p:spPr>
        <p:txBody>
          <a:bodyPr wrap="square" lIns="0" tIns="0" rIns="0" bIns="0" rtlCol="0" anchor="ctr"/>
          <a:lstStyle/>
          <a:p>
            <a:pPr indent="0" marL="0">
              <a:buNone/>
            </a:pPr>
            <a:r>
              <a:rPr lang="en-US" sz="900" b="1" dirty="0">
                <a:solidFill>
                  <a:srgbClr val="F59E0B"/>
                </a:solidFill>
              </a:rPr>
              <a:t>5</a:t>
            </a:r>
            <a:endParaRPr lang="en-US" sz="900" dirty="0"/>
          </a:p>
        </p:txBody>
      </p:sp>
      <p:sp>
        <p:nvSpPr>
          <p:cNvPr id="85" name="Text 83"/>
          <p:cNvSpPr/>
          <p:nvPr/>
        </p:nvSpPr>
        <p:spPr>
          <a:xfrm>
            <a:off x="7104888" y="5742432"/>
            <a:ext cx="658368" cy="292608"/>
          </a:xfrm>
          <a:prstGeom prst="rect">
            <a:avLst/>
          </a:prstGeom>
          <a:noFill/>
          <a:ln/>
        </p:spPr>
        <p:txBody>
          <a:bodyPr wrap="square" lIns="0" tIns="0" rIns="0" bIns="0" rtlCol="0" anchor="ctr"/>
          <a:lstStyle/>
          <a:p>
            <a:pPr indent="0" marL="0">
              <a:buNone/>
            </a:pPr>
            <a:r>
              <a:rPr lang="en-US" sz="900" dirty="0">
                <a:solidFill>
                  <a:srgbClr val="FFFFFF"/>
                </a:solidFill>
              </a:rPr>
              <a:t>Mohamed E.</a:t>
            </a:r>
            <a:endParaRPr lang="en-US" sz="900" dirty="0"/>
          </a:p>
        </p:txBody>
      </p:sp>
      <p:sp>
        <p:nvSpPr>
          <p:cNvPr id="86" name="Text 84"/>
          <p:cNvSpPr/>
          <p:nvPr/>
        </p:nvSpPr>
        <p:spPr>
          <a:xfrm>
            <a:off x="7763256" y="5742432"/>
            <a:ext cx="658368" cy="292608"/>
          </a:xfrm>
          <a:prstGeom prst="rect">
            <a:avLst/>
          </a:prstGeom>
          <a:noFill/>
          <a:ln/>
        </p:spPr>
        <p:txBody>
          <a:bodyPr wrap="square" lIns="0" tIns="0" rIns="0" bIns="0" rtlCol="0" anchor="ctr"/>
          <a:lstStyle/>
          <a:p>
            <a:pPr indent="0" marL="0">
              <a:buNone/>
            </a:pPr>
            <a:r>
              <a:rPr lang="en-US" sz="900" dirty="0">
                <a:solidFill>
                  <a:srgbClr val="FFFFFF"/>
                </a:solidFill>
              </a:rPr>
              <a:t>GRC</a:t>
            </a:r>
            <a:endParaRPr lang="en-US" sz="900" dirty="0"/>
          </a:p>
        </p:txBody>
      </p:sp>
      <p:sp>
        <p:nvSpPr>
          <p:cNvPr id="87" name="Text 85"/>
          <p:cNvSpPr/>
          <p:nvPr/>
        </p:nvSpPr>
        <p:spPr>
          <a:xfrm>
            <a:off x="8421624" y="5742432"/>
            <a:ext cx="658368" cy="292608"/>
          </a:xfrm>
          <a:prstGeom prst="rect">
            <a:avLst/>
          </a:prstGeom>
          <a:noFill/>
          <a:ln/>
        </p:spPr>
        <p:txBody>
          <a:bodyPr wrap="square" lIns="0" tIns="0" rIns="0" bIns="0" rtlCol="0" anchor="ctr"/>
          <a:lstStyle/>
          <a:p>
            <a:pPr indent="0" marL="0">
              <a:buNone/>
            </a:pPr>
            <a:r>
              <a:rPr lang="en-US" sz="900" dirty="0">
                <a:solidFill>
                  <a:srgbClr val="FFFFFF"/>
                </a:solidFill>
              </a:rPr>
              <a:t>22</a:t>
            </a:r>
            <a:endParaRPr lang="en-US" sz="900" dirty="0"/>
          </a:p>
        </p:txBody>
      </p:sp>
      <p:sp>
        <p:nvSpPr>
          <p:cNvPr id="88" name="Text 86"/>
          <p:cNvSpPr/>
          <p:nvPr/>
        </p:nvSpPr>
        <p:spPr>
          <a:xfrm>
            <a:off x="9079992" y="5742432"/>
            <a:ext cx="658368" cy="292608"/>
          </a:xfrm>
          <a:prstGeom prst="rect">
            <a:avLst/>
          </a:prstGeom>
          <a:noFill/>
          <a:ln/>
        </p:spPr>
        <p:txBody>
          <a:bodyPr wrap="square" lIns="0" tIns="0" rIns="0" bIns="0" rtlCol="0" anchor="ctr"/>
          <a:lstStyle/>
          <a:p>
            <a:pPr indent="0" marL="0">
              <a:buNone/>
            </a:pPr>
            <a:r>
              <a:rPr lang="en-US" sz="900" dirty="0">
                <a:solidFill>
                  <a:srgbClr val="FFFFFF"/>
                </a:solidFill>
              </a:rPr>
              <a:t>92</a:t>
            </a:r>
            <a:endParaRPr lang="en-US" sz="900" dirty="0"/>
          </a:p>
        </p:txBody>
      </p:sp>
      <p:sp>
        <p:nvSpPr>
          <p:cNvPr id="89" name="Text 87"/>
          <p:cNvSpPr/>
          <p:nvPr/>
        </p:nvSpPr>
        <p:spPr>
          <a:xfrm>
            <a:off x="9738360" y="5742432"/>
            <a:ext cx="658368" cy="292608"/>
          </a:xfrm>
          <a:prstGeom prst="rect">
            <a:avLst/>
          </a:prstGeom>
          <a:noFill/>
          <a:ln/>
        </p:spPr>
        <p:txBody>
          <a:bodyPr wrap="square" lIns="0" tIns="0" rIns="0" bIns="0" rtlCol="0" anchor="ctr"/>
          <a:lstStyle/>
          <a:p>
            <a:pPr indent="0" marL="0">
              <a:buNone/>
            </a:pPr>
            <a:r>
              <a:rPr lang="en-US" sz="900" dirty="0">
                <a:solidFill>
                  <a:srgbClr val="FFFFFF"/>
                </a:solidFill>
              </a:rPr>
              <a:t>58%</a:t>
            </a:r>
            <a:endParaRPr lang="en-US" sz="900" dirty="0"/>
          </a:p>
        </p:txBody>
      </p:sp>
      <p:sp>
        <p:nvSpPr>
          <p:cNvPr id="90" name="Text 88"/>
          <p:cNvSpPr/>
          <p:nvPr/>
        </p:nvSpPr>
        <p:spPr>
          <a:xfrm>
            <a:off x="10396728" y="5742432"/>
            <a:ext cx="658368" cy="292608"/>
          </a:xfrm>
          <a:prstGeom prst="rect">
            <a:avLst/>
          </a:prstGeom>
          <a:noFill/>
          <a:ln/>
        </p:spPr>
        <p:txBody>
          <a:bodyPr wrap="square" lIns="0" tIns="0" rIns="0" bIns="0" rtlCol="0" anchor="ctr"/>
          <a:lstStyle/>
          <a:p>
            <a:pPr indent="0" marL="0">
              <a:buNone/>
            </a:pPr>
            <a:r>
              <a:rPr lang="en-US" sz="900" dirty="0">
                <a:solidFill>
                  <a:srgbClr val="FFFFFF"/>
                </a:solidFill>
              </a:rPr>
              <a:t>4.4</a:t>
            </a:r>
            <a:endParaRPr lang="en-US" sz="900" dirty="0"/>
          </a:p>
        </p:txBody>
      </p:sp>
      <p:sp>
        <p:nvSpPr>
          <p:cNvPr id="91" name="Text 89"/>
          <p:cNvSpPr/>
          <p:nvPr/>
        </p:nvSpPr>
        <p:spPr>
          <a:xfrm>
            <a:off x="11055096" y="5742432"/>
            <a:ext cx="658368" cy="292608"/>
          </a:xfrm>
          <a:prstGeom prst="rect">
            <a:avLst/>
          </a:prstGeom>
          <a:noFill/>
          <a:ln/>
        </p:spPr>
        <p:txBody>
          <a:bodyPr wrap="square" lIns="0" tIns="0" rIns="0" bIns="0" rtlCol="0" anchor="ctr"/>
          <a:lstStyle/>
          <a:p>
            <a:pPr indent="0" marL="0">
              <a:buNone/>
            </a:pPr>
            <a:r>
              <a:rPr lang="en-US" sz="900" dirty="0">
                <a:solidFill>
                  <a:srgbClr val="FFFFFF"/>
                </a:solidFill>
              </a:rPr>
              <a:t>★</a:t>
            </a:r>
            <a:endParaRPr lang="en-US" sz="900" dirty="0"/>
          </a:p>
        </p:txBody>
      </p:sp>
      <p:sp>
        <p:nvSpPr>
          <p:cNvPr id="92" name="Text 90"/>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93" name="Text 91"/>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21 / 28</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19 — 7 Badges you can earn</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Automatic — awarded when you cross the threshold. Visible on your Leaderboard row.</a:t>
            </a:r>
            <a:endParaRPr lang="en-US" sz="1400" dirty="0"/>
          </a:p>
        </p:txBody>
      </p:sp>
      <p:sp>
        <p:nvSpPr>
          <p:cNvPr id="4" name="Shape 2"/>
          <p:cNvSpPr/>
          <p:nvPr/>
        </p:nvSpPr>
        <p:spPr>
          <a:xfrm>
            <a:off x="548640" y="1783080"/>
            <a:ext cx="2743200" cy="2148840"/>
          </a:xfrm>
          <a:prstGeom prst="roundRect">
            <a:avLst>
              <a:gd name="adj" fmla="val 3404"/>
            </a:avLst>
          </a:prstGeom>
          <a:solidFill>
            <a:srgbClr val="1A2244"/>
          </a:solidFill>
          <a:ln w="12700">
            <a:solidFill>
              <a:srgbClr val="2A3560"/>
            </a:solidFill>
            <a:prstDash val="solid"/>
          </a:ln>
        </p:spPr>
      </p:sp>
      <p:sp>
        <p:nvSpPr>
          <p:cNvPr id="5" name="Shape 3"/>
          <p:cNvSpPr/>
          <p:nvPr/>
        </p:nvSpPr>
        <p:spPr>
          <a:xfrm>
            <a:off x="1554480" y="2011680"/>
            <a:ext cx="777240" cy="777240"/>
          </a:xfrm>
          <a:prstGeom prst="ellipse">
            <a:avLst/>
          </a:prstGeom>
          <a:solidFill>
            <a:srgbClr val="6366F1"/>
          </a:solidFill>
          <a:ln w="25400">
            <a:solidFill>
              <a:srgbClr val="FFFFFF"/>
            </a:solidFill>
            <a:prstDash val="solid"/>
          </a:ln>
        </p:spPr>
      </p:sp>
      <p:sp>
        <p:nvSpPr>
          <p:cNvPr id="6" name="Text 4"/>
          <p:cNvSpPr/>
          <p:nvPr/>
        </p:nvSpPr>
        <p:spPr>
          <a:xfrm>
            <a:off x="1554480" y="2011680"/>
            <a:ext cx="777240" cy="77724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5"/>
          <p:cNvSpPr/>
          <p:nvPr/>
        </p:nvSpPr>
        <p:spPr>
          <a:xfrm>
            <a:off x="731520" y="2880360"/>
            <a:ext cx="23774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First Task</a:t>
            </a:r>
            <a:endParaRPr lang="en-US" sz="1400" dirty="0"/>
          </a:p>
        </p:txBody>
      </p:sp>
      <p:sp>
        <p:nvSpPr>
          <p:cNvPr id="8" name="Text 6"/>
          <p:cNvSpPr/>
          <p:nvPr/>
        </p:nvSpPr>
        <p:spPr>
          <a:xfrm>
            <a:off x="731520" y="3200400"/>
            <a:ext cx="2377440" cy="640080"/>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Your first approved task</a:t>
            </a:r>
            <a:endParaRPr lang="en-US" sz="1000" dirty="0"/>
          </a:p>
        </p:txBody>
      </p:sp>
      <p:sp>
        <p:nvSpPr>
          <p:cNvPr id="9" name="Shape 7"/>
          <p:cNvSpPr/>
          <p:nvPr/>
        </p:nvSpPr>
        <p:spPr>
          <a:xfrm>
            <a:off x="3474720" y="1783080"/>
            <a:ext cx="2743200" cy="2148840"/>
          </a:xfrm>
          <a:prstGeom prst="roundRect">
            <a:avLst>
              <a:gd name="adj" fmla="val 3404"/>
            </a:avLst>
          </a:prstGeom>
          <a:solidFill>
            <a:srgbClr val="1A2244"/>
          </a:solidFill>
          <a:ln w="12700">
            <a:solidFill>
              <a:srgbClr val="2A3560"/>
            </a:solidFill>
            <a:prstDash val="solid"/>
          </a:ln>
        </p:spPr>
      </p:sp>
      <p:sp>
        <p:nvSpPr>
          <p:cNvPr id="10" name="Shape 8"/>
          <p:cNvSpPr/>
          <p:nvPr/>
        </p:nvSpPr>
        <p:spPr>
          <a:xfrm>
            <a:off x="4480560" y="2011680"/>
            <a:ext cx="777240" cy="777240"/>
          </a:xfrm>
          <a:prstGeom prst="ellipse">
            <a:avLst/>
          </a:prstGeom>
          <a:solidFill>
            <a:srgbClr val="3B82F6"/>
          </a:solidFill>
          <a:ln w="25400">
            <a:solidFill>
              <a:srgbClr val="FFFFFF"/>
            </a:solidFill>
            <a:prstDash val="solid"/>
          </a:ln>
        </p:spPr>
      </p:sp>
      <p:sp>
        <p:nvSpPr>
          <p:cNvPr id="11" name="Text 9"/>
          <p:cNvSpPr/>
          <p:nvPr/>
        </p:nvSpPr>
        <p:spPr>
          <a:xfrm>
            <a:off x="4480560" y="2011680"/>
            <a:ext cx="777240" cy="77724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2" name="Text 10"/>
          <p:cNvSpPr/>
          <p:nvPr/>
        </p:nvSpPr>
        <p:spPr>
          <a:xfrm>
            <a:off x="3657600" y="2880360"/>
            <a:ext cx="23774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Streak</a:t>
            </a:r>
            <a:endParaRPr lang="en-US" sz="1400" dirty="0"/>
          </a:p>
        </p:txBody>
      </p:sp>
      <p:sp>
        <p:nvSpPr>
          <p:cNvPr id="13" name="Text 11"/>
          <p:cNvSpPr/>
          <p:nvPr/>
        </p:nvSpPr>
        <p:spPr>
          <a:xfrm>
            <a:off x="3657600" y="3200400"/>
            <a:ext cx="2377440" cy="640080"/>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Logs for 3+ weeks in a row</a:t>
            </a:r>
            <a:endParaRPr lang="en-US" sz="1000" dirty="0"/>
          </a:p>
        </p:txBody>
      </p:sp>
      <p:sp>
        <p:nvSpPr>
          <p:cNvPr id="14" name="Shape 12"/>
          <p:cNvSpPr/>
          <p:nvPr/>
        </p:nvSpPr>
        <p:spPr>
          <a:xfrm>
            <a:off x="6400800" y="1783080"/>
            <a:ext cx="2743200" cy="2148840"/>
          </a:xfrm>
          <a:prstGeom prst="roundRect">
            <a:avLst>
              <a:gd name="adj" fmla="val 3404"/>
            </a:avLst>
          </a:prstGeom>
          <a:solidFill>
            <a:srgbClr val="1A2244"/>
          </a:solidFill>
          <a:ln w="12700">
            <a:solidFill>
              <a:srgbClr val="2A3560"/>
            </a:solidFill>
            <a:prstDash val="solid"/>
          </a:ln>
        </p:spPr>
      </p:sp>
      <p:sp>
        <p:nvSpPr>
          <p:cNvPr id="15" name="Shape 13"/>
          <p:cNvSpPr/>
          <p:nvPr/>
        </p:nvSpPr>
        <p:spPr>
          <a:xfrm>
            <a:off x="7406640" y="2011680"/>
            <a:ext cx="777240" cy="777240"/>
          </a:xfrm>
          <a:prstGeom prst="ellipse">
            <a:avLst/>
          </a:prstGeom>
          <a:solidFill>
            <a:srgbClr val="14B8A6"/>
          </a:solidFill>
          <a:ln w="25400">
            <a:solidFill>
              <a:srgbClr val="FFFFFF"/>
            </a:solidFill>
            <a:prstDash val="solid"/>
          </a:ln>
        </p:spPr>
      </p:sp>
      <p:sp>
        <p:nvSpPr>
          <p:cNvPr id="16" name="Text 14"/>
          <p:cNvSpPr/>
          <p:nvPr/>
        </p:nvSpPr>
        <p:spPr>
          <a:xfrm>
            <a:off x="7406640" y="2011680"/>
            <a:ext cx="777240" cy="77724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7" name="Text 15"/>
          <p:cNvSpPr/>
          <p:nvPr/>
        </p:nvSpPr>
        <p:spPr>
          <a:xfrm>
            <a:off x="6583680" y="2880360"/>
            <a:ext cx="23774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Time Saver</a:t>
            </a:r>
            <a:endParaRPr lang="en-US" sz="1400" dirty="0"/>
          </a:p>
        </p:txBody>
      </p:sp>
      <p:sp>
        <p:nvSpPr>
          <p:cNvPr id="18" name="Text 16"/>
          <p:cNvSpPr/>
          <p:nvPr/>
        </p:nvSpPr>
        <p:spPr>
          <a:xfrm>
            <a:off x="6583680" y="3200400"/>
            <a:ext cx="2377440" cy="640080"/>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100+ hours saved total</a:t>
            </a:r>
            <a:endParaRPr lang="en-US" sz="1000" dirty="0"/>
          </a:p>
        </p:txBody>
      </p:sp>
      <p:sp>
        <p:nvSpPr>
          <p:cNvPr id="19" name="Shape 17"/>
          <p:cNvSpPr/>
          <p:nvPr/>
        </p:nvSpPr>
        <p:spPr>
          <a:xfrm>
            <a:off x="9326880" y="1783080"/>
            <a:ext cx="2743200" cy="2148840"/>
          </a:xfrm>
          <a:prstGeom prst="roundRect">
            <a:avLst>
              <a:gd name="adj" fmla="val 3404"/>
            </a:avLst>
          </a:prstGeom>
          <a:solidFill>
            <a:srgbClr val="1A2244"/>
          </a:solidFill>
          <a:ln w="12700">
            <a:solidFill>
              <a:srgbClr val="2A3560"/>
            </a:solidFill>
            <a:prstDash val="solid"/>
          </a:ln>
        </p:spPr>
      </p:sp>
      <p:sp>
        <p:nvSpPr>
          <p:cNvPr id="20" name="Shape 18"/>
          <p:cNvSpPr/>
          <p:nvPr/>
        </p:nvSpPr>
        <p:spPr>
          <a:xfrm>
            <a:off x="10332720" y="2011680"/>
            <a:ext cx="777240" cy="777240"/>
          </a:xfrm>
          <a:prstGeom prst="ellipse">
            <a:avLst/>
          </a:prstGeom>
          <a:solidFill>
            <a:srgbClr val="10B981"/>
          </a:solidFill>
          <a:ln w="25400">
            <a:solidFill>
              <a:srgbClr val="FFFFFF"/>
            </a:solidFill>
            <a:prstDash val="solid"/>
          </a:ln>
        </p:spPr>
      </p:sp>
      <p:sp>
        <p:nvSpPr>
          <p:cNvPr id="21" name="Text 19"/>
          <p:cNvSpPr/>
          <p:nvPr/>
        </p:nvSpPr>
        <p:spPr>
          <a:xfrm>
            <a:off x="10332720" y="2011680"/>
            <a:ext cx="777240" cy="77724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22" name="Text 20"/>
          <p:cNvSpPr/>
          <p:nvPr/>
        </p:nvSpPr>
        <p:spPr>
          <a:xfrm>
            <a:off x="9509760" y="2880360"/>
            <a:ext cx="23774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Efficiency Pro</a:t>
            </a:r>
            <a:endParaRPr lang="en-US" sz="1400" dirty="0"/>
          </a:p>
        </p:txBody>
      </p:sp>
      <p:sp>
        <p:nvSpPr>
          <p:cNvPr id="23" name="Text 21"/>
          <p:cNvSpPr/>
          <p:nvPr/>
        </p:nvSpPr>
        <p:spPr>
          <a:xfrm>
            <a:off x="9509760" y="3200400"/>
            <a:ext cx="2377440" cy="640080"/>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60%+ average efficiency</a:t>
            </a:r>
            <a:endParaRPr lang="en-US" sz="1000" dirty="0"/>
          </a:p>
        </p:txBody>
      </p:sp>
      <p:sp>
        <p:nvSpPr>
          <p:cNvPr id="24" name="Shape 22"/>
          <p:cNvSpPr/>
          <p:nvPr/>
        </p:nvSpPr>
        <p:spPr>
          <a:xfrm>
            <a:off x="548640" y="4114800"/>
            <a:ext cx="2743200" cy="2148840"/>
          </a:xfrm>
          <a:prstGeom prst="roundRect">
            <a:avLst>
              <a:gd name="adj" fmla="val 3404"/>
            </a:avLst>
          </a:prstGeom>
          <a:solidFill>
            <a:srgbClr val="1A2244"/>
          </a:solidFill>
          <a:ln w="12700">
            <a:solidFill>
              <a:srgbClr val="2A3560"/>
            </a:solidFill>
            <a:prstDash val="solid"/>
          </a:ln>
        </p:spPr>
      </p:sp>
      <p:sp>
        <p:nvSpPr>
          <p:cNvPr id="25" name="Shape 23"/>
          <p:cNvSpPr/>
          <p:nvPr/>
        </p:nvSpPr>
        <p:spPr>
          <a:xfrm>
            <a:off x="1554480" y="4343400"/>
            <a:ext cx="777240" cy="777240"/>
          </a:xfrm>
          <a:prstGeom prst="ellipse">
            <a:avLst/>
          </a:prstGeom>
          <a:solidFill>
            <a:srgbClr val="F59E0B"/>
          </a:solidFill>
          <a:ln w="25400">
            <a:solidFill>
              <a:srgbClr val="FFFFFF"/>
            </a:solidFill>
            <a:prstDash val="solid"/>
          </a:ln>
        </p:spPr>
      </p:sp>
      <p:sp>
        <p:nvSpPr>
          <p:cNvPr id="26" name="Text 24"/>
          <p:cNvSpPr/>
          <p:nvPr/>
        </p:nvSpPr>
        <p:spPr>
          <a:xfrm>
            <a:off x="1554480" y="4343400"/>
            <a:ext cx="777240" cy="77724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27" name="Text 25"/>
          <p:cNvSpPr/>
          <p:nvPr/>
        </p:nvSpPr>
        <p:spPr>
          <a:xfrm>
            <a:off x="731520" y="5212080"/>
            <a:ext cx="23774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Quality Champion</a:t>
            </a:r>
            <a:endParaRPr lang="en-US" sz="1400" dirty="0"/>
          </a:p>
        </p:txBody>
      </p:sp>
      <p:sp>
        <p:nvSpPr>
          <p:cNvPr id="28" name="Text 26"/>
          <p:cNvSpPr/>
          <p:nvPr/>
        </p:nvSpPr>
        <p:spPr>
          <a:xfrm>
            <a:off x="731520" y="5532120"/>
            <a:ext cx="2377440" cy="640080"/>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Avg quality ≥ 4.5 over 10+ tasks</a:t>
            </a:r>
            <a:endParaRPr lang="en-US" sz="1000" dirty="0"/>
          </a:p>
        </p:txBody>
      </p:sp>
      <p:sp>
        <p:nvSpPr>
          <p:cNvPr id="29" name="Shape 27"/>
          <p:cNvSpPr/>
          <p:nvPr/>
        </p:nvSpPr>
        <p:spPr>
          <a:xfrm>
            <a:off x="3474720" y="4114800"/>
            <a:ext cx="2743200" cy="2148840"/>
          </a:xfrm>
          <a:prstGeom prst="roundRect">
            <a:avLst>
              <a:gd name="adj" fmla="val 3404"/>
            </a:avLst>
          </a:prstGeom>
          <a:solidFill>
            <a:srgbClr val="1A2244"/>
          </a:solidFill>
          <a:ln w="12700">
            <a:solidFill>
              <a:srgbClr val="2A3560"/>
            </a:solidFill>
            <a:prstDash val="solid"/>
          </a:ln>
        </p:spPr>
      </p:sp>
      <p:sp>
        <p:nvSpPr>
          <p:cNvPr id="30" name="Shape 28"/>
          <p:cNvSpPr/>
          <p:nvPr/>
        </p:nvSpPr>
        <p:spPr>
          <a:xfrm>
            <a:off x="4480560" y="4343400"/>
            <a:ext cx="777240" cy="777240"/>
          </a:xfrm>
          <a:prstGeom prst="ellipse">
            <a:avLst/>
          </a:prstGeom>
          <a:solidFill>
            <a:srgbClr val="EC4899"/>
          </a:solidFill>
          <a:ln w="25400">
            <a:solidFill>
              <a:srgbClr val="FFFFFF"/>
            </a:solidFill>
            <a:prstDash val="solid"/>
          </a:ln>
        </p:spPr>
      </p:sp>
      <p:sp>
        <p:nvSpPr>
          <p:cNvPr id="31" name="Text 29"/>
          <p:cNvSpPr/>
          <p:nvPr/>
        </p:nvSpPr>
        <p:spPr>
          <a:xfrm>
            <a:off x="4480560" y="4343400"/>
            <a:ext cx="777240" cy="77724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32" name="Text 30"/>
          <p:cNvSpPr/>
          <p:nvPr/>
        </p:nvSpPr>
        <p:spPr>
          <a:xfrm>
            <a:off x="3657600" y="5212080"/>
            <a:ext cx="23774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Prolific</a:t>
            </a:r>
            <a:endParaRPr lang="en-US" sz="1400" dirty="0"/>
          </a:p>
        </p:txBody>
      </p:sp>
      <p:sp>
        <p:nvSpPr>
          <p:cNvPr id="33" name="Text 31"/>
          <p:cNvSpPr/>
          <p:nvPr/>
        </p:nvSpPr>
        <p:spPr>
          <a:xfrm>
            <a:off x="3657600" y="5532120"/>
            <a:ext cx="2377440" cy="640080"/>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50+ approved tasks</a:t>
            </a:r>
            <a:endParaRPr lang="en-US" sz="1000" dirty="0"/>
          </a:p>
        </p:txBody>
      </p:sp>
      <p:sp>
        <p:nvSpPr>
          <p:cNvPr id="34" name="Shape 32"/>
          <p:cNvSpPr/>
          <p:nvPr/>
        </p:nvSpPr>
        <p:spPr>
          <a:xfrm>
            <a:off x="6400800" y="4114800"/>
            <a:ext cx="2743200" cy="2148840"/>
          </a:xfrm>
          <a:prstGeom prst="roundRect">
            <a:avLst>
              <a:gd name="adj" fmla="val 3404"/>
            </a:avLst>
          </a:prstGeom>
          <a:solidFill>
            <a:srgbClr val="1A2244"/>
          </a:solidFill>
          <a:ln w="12700">
            <a:solidFill>
              <a:srgbClr val="2A3560"/>
            </a:solidFill>
            <a:prstDash val="solid"/>
          </a:ln>
        </p:spPr>
      </p:sp>
      <p:sp>
        <p:nvSpPr>
          <p:cNvPr id="35" name="Shape 33"/>
          <p:cNvSpPr/>
          <p:nvPr/>
        </p:nvSpPr>
        <p:spPr>
          <a:xfrm>
            <a:off x="7406640" y="4343400"/>
            <a:ext cx="777240" cy="777240"/>
          </a:xfrm>
          <a:prstGeom prst="ellipse">
            <a:avLst/>
          </a:prstGeom>
          <a:solidFill>
            <a:srgbClr val="818CF8"/>
          </a:solidFill>
          <a:ln w="25400">
            <a:solidFill>
              <a:srgbClr val="FFFFFF"/>
            </a:solidFill>
            <a:prstDash val="solid"/>
          </a:ln>
        </p:spPr>
      </p:sp>
      <p:sp>
        <p:nvSpPr>
          <p:cNvPr id="36" name="Text 34"/>
          <p:cNvSpPr/>
          <p:nvPr/>
        </p:nvSpPr>
        <p:spPr>
          <a:xfrm>
            <a:off x="7406640" y="4343400"/>
            <a:ext cx="777240" cy="777240"/>
          </a:xfrm>
          <a:prstGeom prst="rect">
            <a:avLst/>
          </a:prstGeom>
          <a:noFill/>
          <a:ln/>
        </p:spPr>
        <p:txBody>
          <a:bodyPr wrap="square" lIns="0" tIns="0" rIns="0" bIns="0" rtlCol="0" anchor="ctr"/>
          <a:lstStyle/>
          <a:p>
            <a:pPr algn="ctr" indent="0" marL="0">
              <a:buNone/>
            </a:pPr>
            <a:r>
              <a:rPr lang="en-US" sz="1600" b="1" dirty="0">
                <a:solidFill>
                  <a:srgbClr val="FFFFFF"/>
                </a:solidFill>
              </a:rPr>
              <a:t>100</a:t>
            </a:r>
            <a:endParaRPr lang="en-US" sz="1600" dirty="0"/>
          </a:p>
        </p:txBody>
      </p:sp>
      <p:sp>
        <p:nvSpPr>
          <p:cNvPr id="37" name="Text 35"/>
          <p:cNvSpPr/>
          <p:nvPr/>
        </p:nvSpPr>
        <p:spPr>
          <a:xfrm>
            <a:off x="6583680" y="5212080"/>
            <a:ext cx="23774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Centurion</a:t>
            </a:r>
            <a:endParaRPr lang="en-US" sz="1400" dirty="0"/>
          </a:p>
        </p:txBody>
      </p:sp>
      <p:sp>
        <p:nvSpPr>
          <p:cNvPr id="38" name="Text 36"/>
          <p:cNvSpPr/>
          <p:nvPr/>
        </p:nvSpPr>
        <p:spPr>
          <a:xfrm>
            <a:off x="6583680" y="5532120"/>
            <a:ext cx="2377440" cy="640080"/>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100+ approved tasks</a:t>
            </a:r>
            <a:endParaRPr lang="en-US" sz="1000" dirty="0"/>
          </a:p>
        </p:txBody>
      </p:sp>
      <p:sp>
        <p:nvSpPr>
          <p:cNvPr id="39" name="Text 37"/>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40" name="Text 38"/>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22 / 28</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20 — Use Case Library</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Searchable collection of AI use cases across the organization. Filter by practice, category, tool.</a:t>
            </a:r>
            <a:endParaRPr lang="en-US" sz="1400" dirty="0"/>
          </a:p>
        </p:txBody>
      </p:sp>
      <p:sp>
        <p:nvSpPr>
          <p:cNvPr id="4" name="Shape 2"/>
          <p:cNvSpPr/>
          <p:nvPr/>
        </p:nvSpPr>
        <p:spPr>
          <a:xfrm>
            <a:off x="502920" y="1783080"/>
            <a:ext cx="11247120" cy="4663440"/>
          </a:xfrm>
          <a:prstGeom prst="roundRect">
            <a:avLst>
              <a:gd name="adj" fmla="val 1961"/>
            </a:avLst>
          </a:prstGeom>
          <a:solidFill>
            <a:srgbClr val="0B1223"/>
          </a:solidFill>
          <a:ln w="12700">
            <a:solidFill>
              <a:srgbClr val="CADCFC"/>
            </a:solidFill>
            <a:prstDash val="solid"/>
          </a:ln>
        </p:spPr>
      </p:sp>
      <p:sp>
        <p:nvSpPr>
          <p:cNvPr id="5" name="Shape 3"/>
          <p:cNvSpPr/>
          <p:nvPr/>
        </p:nvSpPr>
        <p:spPr>
          <a:xfrm>
            <a:off x="548640" y="1828800"/>
            <a:ext cx="11155680" cy="274320"/>
          </a:xfrm>
          <a:prstGeom prst="rect">
            <a:avLst/>
          </a:prstGeom>
          <a:solidFill>
            <a:srgbClr val="111833"/>
          </a:solidFill>
          <a:ln w="12700">
            <a:solidFill>
              <a:srgbClr val="111833"/>
            </a:solidFill>
            <a:prstDash val="solid"/>
          </a:ln>
        </p:spPr>
      </p:sp>
      <p:sp>
        <p:nvSpPr>
          <p:cNvPr id="6" name="Shape 4"/>
          <p:cNvSpPr/>
          <p:nvPr/>
        </p:nvSpPr>
        <p:spPr>
          <a:xfrm>
            <a:off x="640080" y="1892808"/>
            <a:ext cx="109728" cy="109728"/>
          </a:xfrm>
          <a:prstGeom prst="ellipse">
            <a:avLst/>
          </a:prstGeom>
          <a:solidFill>
            <a:srgbClr val="EF4444"/>
          </a:solidFill>
          <a:ln w="12700">
            <a:solidFill>
              <a:srgbClr val="EF4444"/>
            </a:solidFill>
            <a:prstDash val="solid"/>
          </a:ln>
        </p:spPr>
      </p:sp>
      <p:sp>
        <p:nvSpPr>
          <p:cNvPr id="7" name="Shape 5"/>
          <p:cNvSpPr/>
          <p:nvPr/>
        </p:nvSpPr>
        <p:spPr>
          <a:xfrm>
            <a:off x="786384" y="1892808"/>
            <a:ext cx="109728" cy="109728"/>
          </a:xfrm>
          <a:prstGeom prst="ellipse">
            <a:avLst/>
          </a:prstGeom>
          <a:solidFill>
            <a:srgbClr val="F59E0B"/>
          </a:solidFill>
          <a:ln w="12700">
            <a:solidFill>
              <a:srgbClr val="F59E0B"/>
            </a:solidFill>
            <a:prstDash val="solid"/>
          </a:ln>
        </p:spPr>
      </p:sp>
      <p:sp>
        <p:nvSpPr>
          <p:cNvPr id="8" name="Shape 6"/>
          <p:cNvSpPr/>
          <p:nvPr/>
        </p:nvSpPr>
        <p:spPr>
          <a:xfrm>
            <a:off x="932688" y="1892808"/>
            <a:ext cx="109728" cy="109728"/>
          </a:xfrm>
          <a:prstGeom prst="ellipse">
            <a:avLst/>
          </a:prstGeom>
          <a:solidFill>
            <a:srgbClr val="10B981"/>
          </a:solidFill>
          <a:ln w="12700">
            <a:solidFill>
              <a:srgbClr val="10B981"/>
            </a:solidFill>
            <a:prstDash val="solid"/>
          </a:ln>
        </p:spPr>
      </p:sp>
      <p:sp>
        <p:nvSpPr>
          <p:cNvPr id="9" name="Text 7"/>
          <p:cNvSpPr/>
          <p:nvPr/>
        </p:nvSpPr>
        <p:spPr>
          <a:xfrm>
            <a:off x="731520" y="1920240"/>
            <a:ext cx="73152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Use Case Library</a:t>
            </a:r>
            <a:endParaRPr lang="en-US" sz="1500" dirty="0"/>
          </a:p>
        </p:txBody>
      </p:sp>
      <p:sp>
        <p:nvSpPr>
          <p:cNvPr id="10" name="Shape 8"/>
          <p:cNvSpPr/>
          <p:nvPr/>
        </p:nvSpPr>
        <p:spPr>
          <a:xfrm>
            <a:off x="731520" y="2331720"/>
            <a:ext cx="3840480" cy="411480"/>
          </a:xfrm>
          <a:prstGeom prst="roundRect">
            <a:avLst>
              <a:gd name="adj" fmla="val 13333"/>
            </a:avLst>
          </a:prstGeom>
          <a:solidFill>
            <a:srgbClr val="141B36"/>
          </a:solidFill>
          <a:ln w="6350">
            <a:solidFill>
              <a:srgbClr val="2A3560"/>
            </a:solidFill>
            <a:prstDash val="solid"/>
          </a:ln>
        </p:spPr>
      </p:sp>
      <p:sp>
        <p:nvSpPr>
          <p:cNvPr id="11" name="Text 9"/>
          <p:cNvSpPr/>
          <p:nvPr/>
        </p:nvSpPr>
        <p:spPr>
          <a:xfrm>
            <a:off x="868680" y="2331720"/>
            <a:ext cx="3657600" cy="411480"/>
          </a:xfrm>
          <a:prstGeom prst="rect">
            <a:avLst/>
          </a:prstGeom>
          <a:noFill/>
          <a:ln/>
        </p:spPr>
        <p:txBody>
          <a:bodyPr wrap="square" lIns="0" tIns="0" rIns="0" bIns="0" rtlCol="0" anchor="ctr"/>
          <a:lstStyle/>
          <a:p>
            <a:pPr indent="0" marL="0">
              <a:buNone/>
            </a:pPr>
            <a:r>
              <a:rPr lang="en-US" sz="1100" dirty="0">
                <a:solidFill>
                  <a:srgbClr val="94A3B8"/>
                </a:solidFill>
              </a:rPr>
              <a:t>⌕  Search use cases...</a:t>
            </a:r>
            <a:endParaRPr lang="en-US" sz="1100" dirty="0"/>
          </a:p>
        </p:txBody>
      </p:sp>
      <p:sp>
        <p:nvSpPr>
          <p:cNvPr id="12" name="Shape 10"/>
          <p:cNvSpPr/>
          <p:nvPr/>
        </p:nvSpPr>
        <p:spPr>
          <a:xfrm>
            <a:off x="4754880" y="2395728"/>
            <a:ext cx="2103120" cy="292608"/>
          </a:xfrm>
          <a:prstGeom prst="roundRect">
            <a:avLst>
              <a:gd name="adj" fmla="val 50000"/>
            </a:avLst>
          </a:prstGeom>
          <a:solidFill>
            <a:srgbClr val="1A2244"/>
          </a:solidFill>
          <a:ln w="12700">
            <a:solidFill>
              <a:srgbClr val="1A2244"/>
            </a:solidFill>
            <a:prstDash val="solid"/>
          </a:ln>
        </p:spPr>
      </p:sp>
      <p:sp>
        <p:nvSpPr>
          <p:cNvPr id="13" name="Text 11"/>
          <p:cNvSpPr/>
          <p:nvPr/>
        </p:nvSpPr>
        <p:spPr>
          <a:xfrm>
            <a:off x="4754880" y="2395728"/>
            <a:ext cx="21031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All Practices ▾</a:t>
            </a:r>
            <a:endParaRPr lang="en-US" sz="900" dirty="0"/>
          </a:p>
        </p:txBody>
      </p:sp>
      <p:sp>
        <p:nvSpPr>
          <p:cNvPr id="14" name="Shape 12"/>
          <p:cNvSpPr/>
          <p:nvPr/>
        </p:nvSpPr>
        <p:spPr>
          <a:xfrm>
            <a:off x="7040880" y="2395728"/>
            <a:ext cx="2103120" cy="292608"/>
          </a:xfrm>
          <a:prstGeom prst="roundRect">
            <a:avLst>
              <a:gd name="adj" fmla="val 50000"/>
            </a:avLst>
          </a:prstGeom>
          <a:solidFill>
            <a:srgbClr val="1A2244"/>
          </a:solidFill>
          <a:ln w="12700">
            <a:solidFill>
              <a:srgbClr val="1A2244"/>
            </a:solidFill>
            <a:prstDash val="solid"/>
          </a:ln>
        </p:spPr>
      </p:sp>
      <p:sp>
        <p:nvSpPr>
          <p:cNvPr id="15" name="Text 13"/>
          <p:cNvSpPr/>
          <p:nvPr/>
        </p:nvSpPr>
        <p:spPr>
          <a:xfrm>
            <a:off x="7040880" y="2395728"/>
            <a:ext cx="21031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All Categories ▾</a:t>
            </a:r>
            <a:endParaRPr lang="en-US" sz="900" dirty="0"/>
          </a:p>
        </p:txBody>
      </p:sp>
      <p:sp>
        <p:nvSpPr>
          <p:cNvPr id="16" name="Shape 14"/>
          <p:cNvSpPr/>
          <p:nvPr/>
        </p:nvSpPr>
        <p:spPr>
          <a:xfrm>
            <a:off x="9326880" y="2395728"/>
            <a:ext cx="2103120" cy="292608"/>
          </a:xfrm>
          <a:prstGeom prst="roundRect">
            <a:avLst>
              <a:gd name="adj" fmla="val 50000"/>
            </a:avLst>
          </a:prstGeom>
          <a:solidFill>
            <a:srgbClr val="1A2244"/>
          </a:solidFill>
          <a:ln w="12700">
            <a:solidFill>
              <a:srgbClr val="1A2244"/>
            </a:solidFill>
            <a:prstDash val="solid"/>
          </a:ln>
        </p:spPr>
      </p:sp>
      <p:sp>
        <p:nvSpPr>
          <p:cNvPr id="17" name="Text 15"/>
          <p:cNvSpPr/>
          <p:nvPr/>
        </p:nvSpPr>
        <p:spPr>
          <a:xfrm>
            <a:off x="9326880" y="2395728"/>
            <a:ext cx="21031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All AI Tools ▾</a:t>
            </a:r>
            <a:endParaRPr lang="en-US" sz="900" dirty="0"/>
          </a:p>
        </p:txBody>
      </p:sp>
      <p:sp>
        <p:nvSpPr>
          <p:cNvPr id="18" name="Shape 16"/>
          <p:cNvSpPr/>
          <p:nvPr/>
        </p:nvSpPr>
        <p:spPr>
          <a:xfrm>
            <a:off x="731520" y="2926080"/>
            <a:ext cx="3520440" cy="1508760"/>
          </a:xfrm>
          <a:prstGeom prst="roundRect">
            <a:avLst>
              <a:gd name="adj" fmla="val 4848"/>
            </a:avLst>
          </a:prstGeom>
          <a:solidFill>
            <a:srgbClr val="141B36"/>
          </a:solidFill>
          <a:ln w="12700">
            <a:solidFill>
              <a:srgbClr val="2A3560"/>
            </a:solidFill>
            <a:prstDash val="solid"/>
          </a:ln>
        </p:spPr>
      </p:sp>
      <p:sp>
        <p:nvSpPr>
          <p:cNvPr id="19" name="Shape 17"/>
          <p:cNvSpPr/>
          <p:nvPr/>
        </p:nvSpPr>
        <p:spPr>
          <a:xfrm>
            <a:off x="731520" y="2926080"/>
            <a:ext cx="73152" cy="1508760"/>
          </a:xfrm>
          <a:prstGeom prst="rect">
            <a:avLst/>
          </a:prstGeom>
          <a:solidFill>
            <a:srgbClr val="6366F1"/>
          </a:solidFill>
          <a:ln w="12700">
            <a:solidFill>
              <a:srgbClr val="6366F1"/>
            </a:solidFill>
            <a:prstDash val="solid"/>
          </a:ln>
        </p:spPr>
      </p:sp>
      <p:sp>
        <p:nvSpPr>
          <p:cNvPr id="20" name="Text 18"/>
          <p:cNvSpPr/>
          <p:nvPr/>
        </p:nvSpPr>
        <p:spPr>
          <a:xfrm>
            <a:off x="914400" y="3063240"/>
            <a:ext cx="3246120" cy="6858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Scaffold microservices in 2.5 hrs</a:t>
            </a:r>
            <a:endParaRPr lang="en-US" sz="1100" dirty="0"/>
          </a:p>
        </p:txBody>
      </p:sp>
      <p:sp>
        <p:nvSpPr>
          <p:cNvPr id="21" name="Shape 19"/>
          <p:cNvSpPr/>
          <p:nvPr/>
        </p:nvSpPr>
        <p:spPr>
          <a:xfrm>
            <a:off x="914400" y="3840480"/>
            <a:ext cx="822960" cy="274320"/>
          </a:xfrm>
          <a:prstGeom prst="roundRect">
            <a:avLst>
              <a:gd name="adj" fmla="val 50000"/>
            </a:avLst>
          </a:prstGeom>
          <a:solidFill>
            <a:srgbClr val="6366F1"/>
          </a:solidFill>
          <a:ln w="12700">
            <a:solidFill>
              <a:srgbClr val="6366F1"/>
            </a:solidFill>
            <a:prstDash val="solid"/>
          </a:ln>
        </p:spPr>
      </p:sp>
      <p:sp>
        <p:nvSpPr>
          <p:cNvPr id="22" name="Text 20"/>
          <p:cNvSpPr/>
          <p:nvPr/>
        </p:nvSpPr>
        <p:spPr>
          <a:xfrm>
            <a:off x="914400" y="3840480"/>
            <a:ext cx="82296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CES</a:t>
            </a:r>
            <a:endParaRPr lang="en-US" sz="900" dirty="0"/>
          </a:p>
        </p:txBody>
      </p:sp>
      <p:sp>
        <p:nvSpPr>
          <p:cNvPr id="23" name="Text 21"/>
          <p:cNvSpPr/>
          <p:nvPr/>
        </p:nvSpPr>
        <p:spPr>
          <a:xfrm>
            <a:off x="1828800" y="3886200"/>
            <a:ext cx="2377440" cy="228600"/>
          </a:xfrm>
          <a:prstGeom prst="rect">
            <a:avLst/>
          </a:prstGeom>
          <a:noFill/>
          <a:ln/>
        </p:spPr>
        <p:txBody>
          <a:bodyPr wrap="square" lIns="0" tIns="0" rIns="0" bIns="0" rtlCol="0" anchor="ctr"/>
          <a:lstStyle/>
          <a:p>
            <a:pPr indent="0" marL="0">
              <a:buNone/>
            </a:pPr>
            <a:r>
              <a:rPr lang="en-US" sz="900" i="1" dirty="0">
                <a:solidFill>
                  <a:srgbClr val="CADCFC"/>
                </a:solidFill>
              </a:rPr>
              <a:t>Github Copilot</a:t>
            </a:r>
            <a:endParaRPr lang="en-US" sz="900" dirty="0"/>
          </a:p>
        </p:txBody>
      </p:sp>
      <p:sp>
        <p:nvSpPr>
          <p:cNvPr id="24" name="Shape 22"/>
          <p:cNvSpPr/>
          <p:nvPr/>
        </p:nvSpPr>
        <p:spPr>
          <a:xfrm>
            <a:off x="4453128" y="2926080"/>
            <a:ext cx="3520440" cy="1508760"/>
          </a:xfrm>
          <a:prstGeom prst="roundRect">
            <a:avLst>
              <a:gd name="adj" fmla="val 4848"/>
            </a:avLst>
          </a:prstGeom>
          <a:solidFill>
            <a:srgbClr val="141B36"/>
          </a:solidFill>
          <a:ln w="12700">
            <a:solidFill>
              <a:srgbClr val="2A3560"/>
            </a:solidFill>
            <a:prstDash val="solid"/>
          </a:ln>
        </p:spPr>
      </p:sp>
      <p:sp>
        <p:nvSpPr>
          <p:cNvPr id="25" name="Shape 23"/>
          <p:cNvSpPr/>
          <p:nvPr/>
        </p:nvSpPr>
        <p:spPr>
          <a:xfrm>
            <a:off x="4453128" y="2926080"/>
            <a:ext cx="73152" cy="1508760"/>
          </a:xfrm>
          <a:prstGeom prst="rect">
            <a:avLst/>
          </a:prstGeom>
          <a:solidFill>
            <a:srgbClr val="14B8A6"/>
          </a:solidFill>
          <a:ln w="12700">
            <a:solidFill>
              <a:srgbClr val="14B8A6"/>
            </a:solidFill>
            <a:prstDash val="solid"/>
          </a:ln>
        </p:spPr>
      </p:sp>
      <p:sp>
        <p:nvSpPr>
          <p:cNvPr id="26" name="Text 24"/>
          <p:cNvSpPr/>
          <p:nvPr/>
        </p:nvSpPr>
        <p:spPr>
          <a:xfrm>
            <a:off x="4636008" y="3063240"/>
            <a:ext cx="3246120" cy="6858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Auto-generate VAT test suite</a:t>
            </a:r>
            <a:endParaRPr lang="en-US" sz="1100" dirty="0"/>
          </a:p>
        </p:txBody>
      </p:sp>
      <p:sp>
        <p:nvSpPr>
          <p:cNvPr id="27" name="Shape 25"/>
          <p:cNvSpPr/>
          <p:nvPr/>
        </p:nvSpPr>
        <p:spPr>
          <a:xfrm>
            <a:off x="4636008" y="3840480"/>
            <a:ext cx="822960" cy="274320"/>
          </a:xfrm>
          <a:prstGeom prst="roundRect">
            <a:avLst>
              <a:gd name="adj" fmla="val 50000"/>
            </a:avLst>
          </a:prstGeom>
          <a:solidFill>
            <a:srgbClr val="14B8A6"/>
          </a:solidFill>
          <a:ln w="12700">
            <a:solidFill>
              <a:srgbClr val="14B8A6"/>
            </a:solidFill>
            <a:prstDash val="solid"/>
          </a:ln>
        </p:spPr>
      </p:sp>
      <p:sp>
        <p:nvSpPr>
          <p:cNvPr id="28" name="Text 26"/>
          <p:cNvSpPr/>
          <p:nvPr/>
        </p:nvSpPr>
        <p:spPr>
          <a:xfrm>
            <a:off x="4636008" y="3840480"/>
            <a:ext cx="82296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GRC</a:t>
            </a:r>
            <a:endParaRPr lang="en-US" sz="900" dirty="0"/>
          </a:p>
        </p:txBody>
      </p:sp>
      <p:sp>
        <p:nvSpPr>
          <p:cNvPr id="29" name="Text 27"/>
          <p:cNvSpPr/>
          <p:nvPr/>
        </p:nvSpPr>
        <p:spPr>
          <a:xfrm>
            <a:off x="5550408" y="3886200"/>
            <a:ext cx="2377440" cy="228600"/>
          </a:xfrm>
          <a:prstGeom prst="rect">
            <a:avLst/>
          </a:prstGeom>
          <a:noFill/>
          <a:ln/>
        </p:spPr>
        <p:txBody>
          <a:bodyPr wrap="square" lIns="0" tIns="0" rIns="0" bIns="0" rtlCol="0" anchor="ctr"/>
          <a:lstStyle/>
          <a:p>
            <a:pPr indent="0" marL="0">
              <a:buNone/>
            </a:pPr>
            <a:r>
              <a:rPr lang="en-US" sz="900" i="1" dirty="0">
                <a:solidFill>
                  <a:srgbClr val="CADCFC"/>
                </a:solidFill>
              </a:rPr>
              <a:t>Claude</a:t>
            </a:r>
            <a:endParaRPr lang="en-US" sz="900" dirty="0"/>
          </a:p>
        </p:txBody>
      </p:sp>
      <p:sp>
        <p:nvSpPr>
          <p:cNvPr id="30" name="Shape 28"/>
          <p:cNvSpPr/>
          <p:nvPr/>
        </p:nvSpPr>
        <p:spPr>
          <a:xfrm>
            <a:off x="8174736" y="2926080"/>
            <a:ext cx="3520440" cy="1508760"/>
          </a:xfrm>
          <a:prstGeom prst="roundRect">
            <a:avLst>
              <a:gd name="adj" fmla="val 4848"/>
            </a:avLst>
          </a:prstGeom>
          <a:solidFill>
            <a:srgbClr val="141B36"/>
          </a:solidFill>
          <a:ln w="12700">
            <a:solidFill>
              <a:srgbClr val="2A3560"/>
            </a:solidFill>
            <a:prstDash val="solid"/>
          </a:ln>
        </p:spPr>
      </p:sp>
      <p:sp>
        <p:nvSpPr>
          <p:cNvPr id="31" name="Shape 29"/>
          <p:cNvSpPr/>
          <p:nvPr/>
        </p:nvSpPr>
        <p:spPr>
          <a:xfrm>
            <a:off x="8174736" y="2926080"/>
            <a:ext cx="73152" cy="1508760"/>
          </a:xfrm>
          <a:prstGeom prst="rect">
            <a:avLst/>
          </a:prstGeom>
          <a:solidFill>
            <a:srgbClr val="3B82F6"/>
          </a:solidFill>
          <a:ln w="12700">
            <a:solidFill>
              <a:srgbClr val="3B82F6"/>
            </a:solidFill>
            <a:prstDash val="solid"/>
          </a:ln>
        </p:spPr>
      </p:sp>
      <p:sp>
        <p:nvSpPr>
          <p:cNvPr id="32" name="Text 30"/>
          <p:cNvSpPr/>
          <p:nvPr/>
        </p:nvSpPr>
        <p:spPr>
          <a:xfrm>
            <a:off x="8357616" y="3063240"/>
            <a:ext cx="3246120" cy="6858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ANB Corporate API from OpenAPI spec</a:t>
            </a:r>
            <a:endParaRPr lang="en-US" sz="1100" dirty="0"/>
          </a:p>
        </p:txBody>
      </p:sp>
      <p:sp>
        <p:nvSpPr>
          <p:cNvPr id="33" name="Shape 31"/>
          <p:cNvSpPr/>
          <p:nvPr/>
        </p:nvSpPr>
        <p:spPr>
          <a:xfrm>
            <a:off x="8357616" y="3840480"/>
            <a:ext cx="822960" cy="274320"/>
          </a:xfrm>
          <a:prstGeom prst="roundRect">
            <a:avLst>
              <a:gd name="adj" fmla="val 50000"/>
            </a:avLst>
          </a:prstGeom>
          <a:solidFill>
            <a:srgbClr val="3B82F6"/>
          </a:solidFill>
          <a:ln w="12700">
            <a:solidFill>
              <a:srgbClr val="3B82F6"/>
            </a:solidFill>
            <a:prstDash val="solid"/>
          </a:ln>
        </p:spPr>
      </p:sp>
      <p:sp>
        <p:nvSpPr>
          <p:cNvPr id="34" name="Text 32"/>
          <p:cNvSpPr/>
          <p:nvPr/>
        </p:nvSpPr>
        <p:spPr>
          <a:xfrm>
            <a:off x="8357616" y="3840480"/>
            <a:ext cx="82296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EPS</a:t>
            </a:r>
            <a:endParaRPr lang="en-US" sz="900" dirty="0"/>
          </a:p>
        </p:txBody>
      </p:sp>
      <p:sp>
        <p:nvSpPr>
          <p:cNvPr id="35" name="Text 33"/>
          <p:cNvSpPr/>
          <p:nvPr/>
        </p:nvSpPr>
        <p:spPr>
          <a:xfrm>
            <a:off x="9272016" y="3886200"/>
            <a:ext cx="2377440" cy="228600"/>
          </a:xfrm>
          <a:prstGeom prst="rect">
            <a:avLst/>
          </a:prstGeom>
          <a:noFill/>
          <a:ln/>
        </p:spPr>
        <p:txBody>
          <a:bodyPr wrap="square" lIns="0" tIns="0" rIns="0" bIns="0" rtlCol="0" anchor="ctr"/>
          <a:lstStyle/>
          <a:p>
            <a:pPr indent="0" marL="0">
              <a:buNone/>
            </a:pPr>
            <a:r>
              <a:rPr lang="en-US" sz="900" i="1" dirty="0">
                <a:solidFill>
                  <a:srgbClr val="CADCFC"/>
                </a:solidFill>
              </a:rPr>
              <a:t>Github Copilot</a:t>
            </a:r>
            <a:endParaRPr lang="en-US" sz="900" dirty="0"/>
          </a:p>
        </p:txBody>
      </p:sp>
      <p:sp>
        <p:nvSpPr>
          <p:cNvPr id="36" name="Shape 34"/>
          <p:cNvSpPr/>
          <p:nvPr/>
        </p:nvSpPr>
        <p:spPr>
          <a:xfrm>
            <a:off x="731520" y="4617720"/>
            <a:ext cx="3520440" cy="1508760"/>
          </a:xfrm>
          <a:prstGeom prst="roundRect">
            <a:avLst>
              <a:gd name="adj" fmla="val 4848"/>
            </a:avLst>
          </a:prstGeom>
          <a:solidFill>
            <a:srgbClr val="141B36"/>
          </a:solidFill>
          <a:ln w="12700">
            <a:solidFill>
              <a:srgbClr val="2A3560"/>
            </a:solidFill>
            <a:prstDash val="solid"/>
          </a:ln>
        </p:spPr>
      </p:sp>
      <p:sp>
        <p:nvSpPr>
          <p:cNvPr id="37" name="Shape 35"/>
          <p:cNvSpPr/>
          <p:nvPr/>
        </p:nvSpPr>
        <p:spPr>
          <a:xfrm>
            <a:off x="731520" y="4617720"/>
            <a:ext cx="73152" cy="1508760"/>
          </a:xfrm>
          <a:prstGeom prst="rect">
            <a:avLst/>
          </a:prstGeom>
          <a:solidFill>
            <a:srgbClr val="818CF8"/>
          </a:solidFill>
          <a:ln w="12700">
            <a:solidFill>
              <a:srgbClr val="818CF8"/>
            </a:solidFill>
            <a:prstDash val="solid"/>
          </a:ln>
        </p:spPr>
      </p:sp>
      <p:sp>
        <p:nvSpPr>
          <p:cNvPr id="38" name="Text 36"/>
          <p:cNvSpPr/>
          <p:nvPr/>
        </p:nvSpPr>
        <p:spPr>
          <a:xfrm>
            <a:off x="914400" y="4754880"/>
            <a:ext cx="3246120" cy="6858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UCDE migration SQL rewrites</a:t>
            </a:r>
            <a:endParaRPr lang="en-US" sz="1100" dirty="0"/>
          </a:p>
        </p:txBody>
      </p:sp>
      <p:sp>
        <p:nvSpPr>
          <p:cNvPr id="39" name="Shape 37"/>
          <p:cNvSpPr/>
          <p:nvPr/>
        </p:nvSpPr>
        <p:spPr>
          <a:xfrm>
            <a:off x="914400" y="5532120"/>
            <a:ext cx="822960" cy="274320"/>
          </a:xfrm>
          <a:prstGeom prst="roundRect">
            <a:avLst>
              <a:gd name="adj" fmla="val 50000"/>
            </a:avLst>
          </a:prstGeom>
          <a:solidFill>
            <a:srgbClr val="818CF8"/>
          </a:solidFill>
          <a:ln w="12700">
            <a:solidFill>
              <a:srgbClr val="818CF8"/>
            </a:solidFill>
            <a:prstDash val="solid"/>
          </a:ln>
        </p:spPr>
      </p:sp>
      <p:sp>
        <p:nvSpPr>
          <p:cNvPr id="40" name="Text 38"/>
          <p:cNvSpPr/>
          <p:nvPr/>
        </p:nvSpPr>
        <p:spPr>
          <a:xfrm>
            <a:off x="914400" y="5532120"/>
            <a:ext cx="82296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ERP</a:t>
            </a:r>
            <a:endParaRPr lang="en-US" sz="900" dirty="0"/>
          </a:p>
        </p:txBody>
      </p:sp>
      <p:sp>
        <p:nvSpPr>
          <p:cNvPr id="41" name="Text 39"/>
          <p:cNvSpPr/>
          <p:nvPr/>
        </p:nvSpPr>
        <p:spPr>
          <a:xfrm>
            <a:off x="1828800" y="5577840"/>
            <a:ext cx="2377440" cy="228600"/>
          </a:xfrm>
          <a:prstGeom prst="rect">
            <a:avLst/>
          </a:prstGeom>
          <a:noFill/>
          <a:ln/>
        </p:spPr>
        <p:txBody>
          <a:bodyPr wrap="square" lIns="0" tIns="0" rIns="0" bIns="0" rtlCol="0" anchor="ctr"/>
          <a:lstStyle/>
          <a:p>
            <a:pPr indent="0" marL="0">
              <a:buNone/>
            </a:pPr>
            <a:r>
              <a:rPr lang="en-US" sz="900" i="1" dirty="0">
                <a:solidFill>
                  <a:srgbClr val="CADCFC"/>
                </a:solidFill>
              </a:rPr>
              <a:t>Cursor</a:t>
            </a:r>
            <a:endParaRPr lang="en-US" sz="900" dirty="0"/>
          </a:p>
        </p:txBody>
      </p:sp>
      <p:sp>
        <p:nvSpPr>
          <p:cNvPr id="42" name="Shape 40"/>
          <p:cNvSpPr/>
          <p:nvPr/>
        </p:nvSpPr>
        <p:spPr>
          <a:xfrm>
            <a:off x="4453128" y="4617720"/>
            <a:ext cx="3520440" cy="1508760"/>
          </a:xfrm>
          <a:prstGeom prst="roundRect">
            <a:avLst>
              <a:gd name="adj" fmla="val 4848"/>
            </a:avLst>
          </a:prstGeom>
          <a:solidFill>
            <a:srgbClr val="141B36"/>
          </a:solidFill>
          <a:ln w="12700">
            <a:solidFill>
              <a:srgbClr val="2A3560"/>
            </a:solidFill>
            <a:prstDash val="solid"/>
          </a:ln>
        </p:spPr>
      </p:sp>
      <p:sp>
        <p:nvSpPr>
          <p:cNvPr id="43" name="Shape 41"/>
          <p:cNvSpPr/>
          <p:nvPr/>
        </p:nvSpPr>
        <p:spPr>
          <a:xfrm>
            <a:off x="4453128" y="4617720"/>
            <a:ext cx="73152" cy="1508760"/>
          </a:xfrm>
          <a:prstGeom prst="rect">
            <a:avLst/>
          </a:prstGeom>
          <a:solidFill>
            <a:srgbClr val="EC4899"/>
          </a:solidFill>
          <a:ln w="12700">
            <a:solidFill>
              <a:srgbClr val="EC4899"/>
            </a:solidFill>
            <a:prstDash val="solid"/>
          </a:ln>
        </p:spPr>
      </p:sp>
      <p:sp>
        <p:nvSpPr>
          <p:cNvPr id="44" name="Text 42"/>
          <p:cNvSpPr/>
          <p:nvPr/>
        </p:nvSpPr>
        <p:spPr>
          <a:xfrm>
            <a:off x="4636008" y="4754880"/>
            <a:ext cx="3246120" cy="6858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Audit report auto-draft (PDF)</a:t>
            </a:r>
            <a:endParaRPr lang="en-US" sz="1100" dirty="0"/>
          </a:p>
        </p:txBody>
      </p:sp>
      <p:sp>
        <p:nvSpPr>
          <p:cNvPr id="45" name="Shape 43"/>
          <p:cNvSpPr/>
          <p:nvPr/>
        </p:nvSpPr>
        <p:spPr>
          <a:xfrm>
            <a:off x="4636008" y="5532120"/>
            <a:ext cx="822960" cy="274320"/>
          </a:xfrm>
          <a:prstGeom prst="roundRect">
            <a:avLst>
              <a:gd name="adj" fmla="val 50000"/>
            </a:avLst>
          </a:prstGeom>
          <a:solidFill>
            <a:srgbClr val="EC4899"/>
          </a:solidFill>
          <a:ln w="12700">
            <a:solidFill>
              <a:srgbClr val="EC4899"/>
            </a:solidFill>
            <a:prstDash val="solid"/>
          </a:ln>
        </p:spPr>
      </p:sp>
      <p:sp>
        <p:nvSpPr>
          <p:cNvPr id="46" name="Text 44"/>
          <p:cNvSpPr/>
          <p:nvPr/>
        </p:nvSpPr>
        <p:spPr>
          <a:xfrm>
            <a:off x="4636008" y="5532120"/>
            <a:ext cx="82296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GRC</a:t>
            </a:r>
            <a:endParaRPr lang="en-US" sz="900" dirty="0"/>
          </a:p>
        </p:txBody>
      </p:sp>
      <p:sp>
        <p:nvSpPr>
          <p:cNvPr id="47" name="Text 45"/>
          <p:cNvSpPr/>
          <p:nvPr/>
        </p:nvSpPr>
        <p:spPr>
          <a:xfrm>
            <a:off x="5550408" y="5577840"/>
            <a:ext cx="2377440" cy="228600"/>
          </a:xfrm>
          <a:prstGeom prst="rect">
            <a:avLst/>
          </a:prstGeom>
          <a:noFill/>
          <a:ln/>
        </p:spPr>
        <p:txBody>
          <a:bodyPr wrap="square" lIns="0" tIns="0" rIns="0" bIns="0" rtlCol="0" anchor="ctr"/>
          <a:lstStyle/>
          <a:p>
            <a:pPr indent="0" marL="0">
              <a:buNone/>
            </a:pPr>
            <a:r>
              <a:rPr lang="en-US" sz="900" i="1" dirty="0">
                <a:solidFill>
                  <a:srgbClr val="CADCFC"/>
                </a:solidFill>
              </a:rPr>
              <a:t>Gemini</a:t>
            </a:r>
            <a:endParaRPr lang="en-US" sz="900" dirty="0"/>
          </a:p>
        </p:txBody>
      </p:sp>
      <p:sp>
        <p:nvSpPr>
          <p:cNvPr id="48" name="Shape 46"/>
          <p:cNvSpPr/>
          <p:nvPr/>
        </p:nvSpPr>
        <p:spPr>
          <a:xfrm>
            <a:off x="8174736" y="4617720"/>
            <a:ext cx="3520440" cy="1508760"/>
          </a:xfrm>
          <a:prstGeom prst="roundRect">
            <a:avLst>
              <a:gd name="adj" fmla="val 4848"/>
            </a:avLst>
          </a:prstGeom>
          <a:solidFill>
            <a:srgbClr val="141B36"/>
          </a:solidFill>
          <a:ln w="12700">
            <a:solidFill>
              <a:srgbClr val="2A3560"/>
            </a:solidFill>
            <a:prstDash val="solid"/>
          </a:ln>
        </p:spPr>
      </p:sp>
      <p:sp>
        <p:nvSpPr>
          <p:cNvPr id="49" name="Shape 47"/>
          <p:cNvSpPr/>
          <p:nvPr/>
        </p:nvSpPr>
        <p:spPr>
          <a:xfrm>
            <a:off x="8174736" y="4617720"/>
            <a:ext cx="73152" cy="1508760"/>
          </a:xfrm>
          <a:prstGeom prst="rect">
            <a:avLst/>
          </a:prstGeom>
          <a:solidFill>
            <a:srgbClr val="10B981"/>
          </a:solidFill>
          <a:ln w="12700">
            <a:solidFill>
              <a:srgbClr val="10B981"/>
            </a:solidFill>
            <a:prstDash val="solid"/>
          </a:ln>
        </p:spPr>
      </p:sp>
      <p:sp>
        <p:nvSpPr>
          <p:cNvPr id="50" name="Text 48"/>
          <p:cNvSpPr/>
          <p:nvPr/>
        </p:nvSpPr>
        <p:spPr>
          <a:xfrm>
            <a:off x="8357616" y="4754880"/>
            <a:ext cx="3246120" cy="6858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Test data generation for UAT</a:t>
            </a:r>
            <a:endParaRPr lang="en-US" sz="1100" dirty="0"/>
          </a:p>
        </p:txBody>
      </p:sp>
      <p:sp>
        <p:nvSpPr>
          <p:cNvPr id="51" name="Shape 49"/>
          <p:cNvSpPr/>
          <p:nvPr/>
        </p:nvSpPr>
        <p:spPr>
          <a:xfrm>
            <a:off x="8357616" y="5532120"/>
            <a:ext cx="822960" cy="274320"/>
          </a:xfrm>
          <a:prstGeom prst="roundRect">
            <a:avLst>
              <a:gd name="adj" fmla="val 50000"/>
            </a:avLst>
          </a:prstGeom>
          <a:solidFill>
            <a:srgbClr val="10B981"/>
          </a:solidFill>
          <a:ln w="12700">
            <a:solidFill>
              <a:srgbClr val="10B981"/>
            </a:solidFill>
            <a:prstDash val="solid"/>
          </a:ln>
        </p:spPr>
      </p:sp>
      <p:sp>
        <p:nvSpPr>
          <p:cNvPr id="52" name="Text 50"/>
          <p:cNvSpPr/>
          <p:nvPr/>
        </p:nvSpPr>
        <p:spPr>
          <a:xfrm>
            <a:off x="8357616" y="5532120"/>
            <a:ext cx="82296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EPCS</a:t>
            </a:r>
            <a:endParaRPr lang="en-US" sz="900" dirty="0"/>
          </a:p>
        </p:txBody>
      </p:sp>
      <p:sp>
        <p:nvSpPr>
          <p:cNvPr id="53" name="Text 51"/>
          <p:cNvSpPr/>
          <p:nvPr/>
        </p:nvSpPr>
        <p:spPr>
          <a:xfrm>
            <a:off x="9272016" y="5577840"/>
            <a:ext cx="2377440" cy="228600"/>
          </a:xfrm>
          <a:prstGeom prst="rect">
            <a:avLst/>
          </a:prstGeom>
          <a:noFill/>
          <a:ln/>
        </p:spPr>
        <p:txBody>
          <a:bodyPr wrap="square" lIns="0" tIns="0" rIns="0" bIns="0" rtlCol="0" anchor="ctr"/>
          <a:lstStyle/>
          <a:p>
            <a:pPr indent="0" marL="0">
              <a:buNone/>
            </a:pPr>
            <a:r>
              <a:rPr lang="en-US" sz="900" i="1" dirty="0">
                <a:solidFill>
                  <a:srgbClr val="CADCFC"/>
                </a:solidFill>
              </a:rPr>
              <a:t>ChatGPT</a:t>
            </a:r>
            <a:endParaRPr lang="en-US" sz="900" dirty="0"/>
          </a:p>
        </p:txBody>
      </p:sp>
      <p:sp>
        <p:nvSpPr>
          <p:cNvPr id="54" name="Text 52"/>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55" name="Text 53"/>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23 / 28</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21 — Quick page Export</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Every page has an Export button in the header — downloads exactly what you're looking at.</a:t>
            </a:r>
            <a:endParaRPr lang="en-US" sz="1400" dirty="0"/>
          </a:p>
        </p:txBody>
      </p:sp>
      <p:sp>
        <p:nvSpPr>
          <p:cNvPr id="4" name="Shape 2"/>
          <p:cNvSpPr/>
          <p:nvPr/>
        </p:nvSpPr>
        <p:spPr>
          <a:xfrm>
            <a:off x="502920" y="1783080"/>
            <a:ext cx="5532120" cy="1051560"/>
          </a:xfrm>
          <a:prstGeom prst="roundRect">
            <a:avLst>
              <a:gd name="adj" fmla="val 6957"/>
            </a:avLst>
          </a:prstGeom>
          <a:solidFill>
            <a:srgbClr val="1A2244"/>
          </a:solidFill>
          <a:ln w="12700">
            <a:solidFill>
              <a:srgbClr val="2A3560"/>
            </a:solidFill>
            <a:prstDash val="solid"/>
          </a:ln>
        </p:spPr>
      </p:sp>
      <p:sp>
        <p:nvSpPr>
          <p:cNvPr id="5" name="Shape 3"/>
          <p:cNvSpPr/>
          <p:nvPr/>
        </p:nvSpPr>
        <p:spPr>
          <a:xfrm>
            <a:off x="685800" y="2057400"/>
            <a:ext cx="502920" cy="502920"/>
          </a:xfrm>
          <a:prstGeom prst="ellipse">
            <a:avLst/>
          </a:prstGeom>
          <a:solidFill>
            <a:srgbClr val="EF4444"/>
          </a:solidFill>
          <a:ln w="12700">
            <a:solidFill>
              <a:srgbClr val="FFFFFF"/>
            </a:solidFill>
            <a:prstDash val="solid"/>
          </a:ln>
        </p:spPr>
      </p:sp>
      <p:sp>
        <p:nvSpPr>
          <p:cNvPr id="6" name="Text 4"/>
          <p:cNvSpPr/>
          <p:nvPr/>
        </p:nvSpPr>
        <p:spPr>
          <a:xfrm>
            <a:off x="685800" y="2057400"/>
            <a:ext cx="502920" cy="502920"/>
          </a:xfrm>
          <a:prstGeom prst="rect">
            <a:avLst/>
          </a:prstGeom>
          <a:noFill/>
          <a:ln/>
        </p:spPr>
        <p:txBody>
          <a:bodyPr wrap="square" lIns="0" tIns="0" rIns="0" bIns="0" rtlCol="0" anchor="ctr"/>
          <a:lstStyle/>
          <a:p>
            <a:pPr algn="ctr" indent="0" marL="0">
              <a:buNone/>
            </a:pPr>
            <a:r>
              <a:rPr lang="en-US" sz="900" b="1" dirty="0">
                <a:solidFill>
                  <a:srgbClr val="FFFFFF"/>
                </a:solidFill>
              </a:rPr>
              <a:t>PDF</a:t>
            </a:r>
            <a:endParaRPr lang="en-US" sz="900" dirty="0"/>
          </a:p>
        </p:txBody>
      </p:sp>
      <p:sp>
        <p:nvSpPr>
          <p:cNvPr id="7" name="Text 5"/>
          <p:cNvSpPr/>
          <p:nvPr/>
        </p:nvSpPr>
        <p:spPr>
          <a:xfrm>
            <a:off x="1371600" y="1965960"/>
            <a:ext cx="4572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Dashboard</a:t>
            </a:r>
            <a:endParaRPr lang="en-US" sz="1400" dirty="0"/>
          </a:p>
        </p:txBody>
      </p:sp>
      <p:sp>
        <p:nvSpPr>
          <p:cNvPr id="8" name="Text 6"/>
          <p:cNvSpPr/>
          <p:nvPr/>
        </p:nvSpPr>
        <p:spPr>
          <a:xfrm>
            <a:off x="1371600" y="2286000"/>
            <a:ext cx="4572000" cy="36576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KPIs + all 6 charts as PNG</a:t>
            </a:r>
            <a:endParaRPr lang="en-US" sz="1000" dirty="0"/>
          </a:p>
        </p:txBody>
      </p:sp>
      <p:sp>
        <p:nvSpPr>
          <p:cNvPr id="9" name="Shape 7"/>
          <p:cNvSpPr/>
          <p:nvPr/>
        </p:nvSpPr>
        <p:spPr>
          <a:xfrm>
            <a:off x="6263640" y="1783080"/>
            <a:ext cx="5532120" cy="1051560"/>
          </a:xfrm>
          <a:prstGeom prst="roundRect">
            <a:avLst>
              <a:gd name="adj" fmla="val 6957"/>
            </a:avLst>
          </a:prstGeom>
          <a:solidFill>
            <a:srgbClr val="1A2244"/>
          </a:solidFill>
          <a:ln w="12700">
            <a:solidFill>
              <a:srgbClr val="2A3560"/>
            </a:solidFill>
            <a:prstDash val="solid"/>
          </a:ln>
        </p:spPr>
      </p:sp>
      <p:sp>
        <p:nvSpPr>
          <p:cNvPr id="10" name="Shape 8"/>
          <p:cNvSpPr/>
          <p:nvPr/>
        </p:nvSpPr>
        <p:spPr>
          <a:xfrm>
            <a:off x="6446520" y="2057400"/>
            <a:ext cx="502920" cy="502920"/>
          </a:xfrm>
          <a:prstGeom prst="ellipse">
            <a:avLst/>
          </a:prstGeom>
          <a:solidFill>
            <a:srgbClr val="10B981"/>
          </a:solidFill>
          <a:ln w="12700">
            <a:solidFill>
              <a:srgbClr val="FFFFFF"/>
            </a:solidFill>
            <a:prstDash val="solid"/>
          </a:ln>
        </p:spPr>
      </p:sp>
      <p:sp>
        <p:nvSpPr>
          <p:cNvPr id="11" name="Text 9"/>
          <p:cNvSpPr/>
          <p:nvPr/>
        </p:nvSpPr>
        <p:spPr>
          <a:xfrm>
            <a:off x="6446520" y="2057400"/>
            <a:ext cx="502920" cy="502920"/>
          </a:xfrm>
          <a:prstGeom prst="rect">
            <a:avLst/>
          </a:prstGeom>
          <a:noFill/>
          <a:ln/>
        </p:spPr>
        <p:txBody>
          <a:bodyPr wrap="square" lIns="0" tIns="0" rIns="0" bIns="0" rtlCol="0" anchor="ctr"/>
          <a:lstStyle/>
          <a:p>
            <a:pPr algn="ctr" indent="0" marL="0">
              <a:buNone/>
            </a:pPr>
            <a:r>
              <a:rPr lang="en-US" sz="900" b="1" dirty="0">
                <a:solidFill>
                  <a:srgbClr val="FFFFFF"/>
                </a:solidFill>
              </a:rPr>
              <a:t>XLS</a:t>
            </a:r>
            <a:endParaRPr lang="en-US" sz="900" dirty="0"/>
          </a:p>
        </p:txBody>
      </p:sp>
      <p:sp>
        <p:nvSpPr>
          <p:cNvPr id="12" name="Text 10"/>
          <p:cNvSpPr/>
          <p:nvPr/>
        </p:nvSpPr>
        <p:spPr>
          <a:xfrm>
            <a:off x="7132320" y="1965960"/>
            <a:ext cx="4572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Leaderboard</a:t>
            </a:r>
            <a:endParaRPr lang="en-US" sz="1400" dirty="0"/>
          </a:p>
        </p:txBody>
      </p:sp>
      <p:sp>
        <p:nvSpPr>
          <p:cNvPr id="13" name="Text 11"/>
          <p:cNvSpPr/>
          <p:nvPr/>
        </p:nvSpPr>
        <p:spPr>
          <a:xfrm>
            <a:off x="7132320" y="2286000"/>
            <a:ext cx="4572000" cy="36576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Practice + Contributor rankings</a:t>
            </a:r>
            <a:endParaRPr lang="en-US" sz="1000" dirty="0"/>
          </a:p>
        </p:txBody>
      </p:sp>
      <p:sp>
        <p:nvSpPr>
          <p:cNvPr id="14" name="Shape 12"/>
          <p:cNvSpPr/>
          <p:nvPr/>
        </p:nvSpPr>
        <p:spPr>
          <a:xfrm>
            <a:off x="502920" y="2971800"/>
            <a:ext cx="5532120" cy="1051560"/>
          </a:xfrm>
          <a:prstGeom prst="roundRect">
            <a:avLst>
              <a:gd name="adj" fmla="val 6957"/>
            </a:avLst>
          </a:prstGeom>
          <a:solidFill>
            <a:srgbClr val="1A2244"/>
          </a:solidFill>
          <a:ln w="12700">
            <a:solidFill>
              <a:srgbClr val="2A3560"/>
            </a:solidFill>
            <a:prstDash val="solid"/>
          </a:ln>
        </p:spPr>
      </p:sp>
      <p:sp>
        <p:nvSpPr>
          <p:cNvPr id="15" name="Shape 13"/>
          <p:cNvSpPr/>
          <p:nvPr/>
        </p:nvSpPr>
        <p:spPr>
          <a:xfrm>
            <a:off x="685800" y="3246120"/>
            <a:ext cx="502920" cy="502920"/>
          </a:xfrm>
          <a:prstGeom prst="ellipse">
            <a:avLst/>
          </a:prstGeom>
          <a:solidFill>
            <a:srgbClr val="10B981"/>
          </a:solidFill>
          <a:ln w="12700">
            <a:solidFill>
              <a:srgbClr val="FFFFFF"/>
            </a:solidFill>
            <a:prstDash val="solid"/>
          </a:ln>
        </p:spPr>
      </p:sp>
      <p:sp>
        <p:nvSpPr>
          <p:cNvPr id="16" name="Text 14"/>
          <p:cNvSpPr/>
          <p:nvPr/>
        </p:nvSpPr>
        <p:spPr>
          <a:xfrm>
            <a:off x="685800" y="3246120"/>
            <a:ext cx="502920" cy="502920"/>
          </a:xfrm>
          <a:prstGeom prst="rect">
            <a:avLst/>
          </a:prstGeom>
          <a:noFill/>
          <a:ln/>
        </p:spPr>
        <p:txBody>
          <a:bodyPr wrap="square" lIns="0" tIns="0" rIns="0" bIns="0" rtlCol="0" anchor="ctr"/>
          <a:lstStyle/>
          <a:p>
            <a:pPr algn="ctr" indent="0" marL="0">
              <a:buNone/>
            </a:pPr>
            <a:r>
              <a:rPr lang="en-US" sz="900" b="1" dirty="0">
                <a:solidFill>
                  <a:srgbClr val="FFFFFF"/>
                </a:solidFill>
              </a:rPr>
              <a:t>XLS</a:t>
            </a:r>
            <a:endParaRPr lang="en-US" sz="900" dirty="0"/>
          </a:p>
        </p:txBody>
      </p:sp>
      <p:sp>
        <p:nvSpPr>
          <p:cNvPr id="17" name="Text 15"/>
          <p:cNvSpPr/>
          <p:nvPr/>
        </p:nvSpPr>
        <p:spPr>
          <a:xfrm>
            <a:off x="1371600" y="3154680"/>
            <a:ext cx="4572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My Practice</a:t>
            </a:r>
            <a:endParaRPr lang="en-US" sz="1400" dirty="0"/>
          </a:p>
        </p:txBody>
      </p:sp>
      <p:sp>
        <p:nvSpPr>
          <p:cNvPr id="18" name="Text 16"/>
          <p:cNvSpPr/>
          <p:nvPr/>
        </p:nvSpPr>
        <p:spPr>
          <a:xfrm>
            <a:off x="1371600" y="3474720"/>
            <a:ext cx="4572000" cy="36576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Team roster + inactive list</a:t>
            </a:r>
            <a:endParaRPr lang="en-US" sz="1000" dirty="0"/>
          </a:p>
        </p:txBody>
      </p:sp>
      <p:sp>
        <p:nvSpPr>
          <p:cNvPr id="19" name="Shape 17"/>
          <p:cNvSpPr/>
          <p:nvPr/>
        </p:nvSpPr>
        <p:spPr>
          <a:xfrm>
            <a:off x="6263640" y="2971800"/>
            <a:ext cx="5532120" cy="1051560"/>
          </a:xfrm>
          <a:prstGeom prst="roundRect">
            <a:avLst>
              <a:gd name="adj" fmla="val 6957"/>
            </a:avLst>
          </a:prstGeom>
          <a:solidFill>
            <a:srgbClr val="1A2244"/>
          </a:solidFill>
          <a:ln w="12700">
            <a:solidFill>
              <a:srgbClr val="2A3560"/>
            </a:solidFill>
            <a:prstDash val="solid"/>
          </a:ln>
        </p:spPr>
      </p:sp>
      <p:sp>
        <p:nvSpPr>
          <p:cNvPr id="20" name="Shape 18"/>
          <p:cNvSpPr/>
          <p:nvPr/>
        </p:nvSpPr>
        <p:spPr>
          <a:xfrm>
            <a:off x="6446520" y="3246120"/>
            <a:ext cx="502920" cy="502920"/>
          </a:xfrm>
          <a:prstGeom prst="ellipse">
            <a:avLst/>
          </a:prstGeom>
          <a:solidFill>
            <a:srgbClr val="10B981"/>
          </a:solidFill>
          <a:ln w="12700">
            <a:solidFill>
              <a:srgbClr val="FFFFFF"/>
            </a:solidFill>
            <a:prstDash val="solid"/>
          </a:ln>
        </p:spPr>
      </p:sp>
      <p:sp>
        <p:nvSpPr>
          <p:cNvPr id="21" name="Text 19"/>
          <p:cNvSpPr/>
          <p:nvPr/>
        </p:nvSpPr>
        <p:spPr>
          <a:xfrm>
            <a:off x="6446520" y="3246120"/>
            <a:ext cx="502920" cy="502920"/>
          </a:xfrm>
          <a:prstGeom prst="rect">
            <a:avLst/>
          </a:prstGeom>
          <a:noFill/>
          <a:ln/>
        </p:spPr>
        <p:txBody>
          <a:bodyPr wrap="square" lIns="0" tIns="0" rIns="0" bIns="0" rtlCol="0" anchor="ctr"/>
          <a:lstStyle/>
          <a:p>
            <a:pPr algn="ctr" indent="0" marL="0">
              <a:buNone/>
            </a:pPr>
            <a:r>
              <a:rPr lang="en-US" sz="900" b="1" dirty="0">
                <a:solidFill>
                  <a:srgbClr val="FFFFFF"/>
                </a:solidFill>
              </a:rPr>
              <a:t>XLS</a:t>
            </a:r>
            <a:endParaRPr lang="en-US" sz="900" dirty="0"/>
          </a:p>
        </p:txBody>
      </p:sp>
      <p:sp>
        <p:nvSpPr>
          <p:cNvPr id="22" name="Text 20"/>
          <p:cNvSpPr/>
          <p:nvPr/>
        </p:nvSpPr>
        <p:spPr>
          <a:xfrm>
            <a:off x="7132320" y="3154680"/>
            <a:ext cx="4572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All Tasks</a:t>
            </a:r>
            <a:endParaRPr lang="en-US" sz="1400" dirty="0"/>
          </a:p>
        </p:txBody>
      </p:sp>
      <p:sp>
        <p:nvSpPr>
          <p:cNvPr id="23" name="Text 21"/>
          <p:cNvSpPr/>
          <p:nvPr/>
        </p:nvSpPr>
        <p:spPr>
          <a:xfrm>
            <a:off x="7132320" y="3474720"/>
            <a:ext cx="4572000" cy="36576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Filtered task log with status</a:t>
            </a:r>
            <a:endParaRPr lang="en-US" sz="1000" dirty="0"/>
          </a:p>
        </p:txBody>
      </p:sp>
      <p:sp>
        <p:nvSpPr>
          <p:cNvPr id="24" name="Shape 22"/>
          <p:cNvSpPr/>
          <p:nvPr/>
        </p:nvSpPr>
        <p:spPr>
          <a:xfrm>
            <a:off x="502920" y="4160520"/>
            <a:ext cx="5532120" cy="1051560"/>
          </a:xfrm>
          <a:prstGeom prst="roundRect">
            <a:avLst>
              <a:gd name="adj" fmla="val 6957"/>
            </a:avLst>
          </a:prstGeom>
          <a:solidFill>
            <a:srgbClr val="1A2244"/>
          </a:solidFill>
          <a:ln w="12700">
            <a:solidFill>
              <a:srgbClr val="2A3560"/>
            </a:solidFill>
            <a:prstDash val="solid"/>
          </a:ln>
        </p:spPr>
      </p:sp>
      <p:sp>
        <p:nvSpPr>
          <p:cNvPr id="25" name="Shape 23"/>
          <p:cNvSpPr/>
          <p:nvPr/>
        </p:nvSpPr>
        <p:spPr>
          <a:xfrm>
            <a:off x="685800" y="4434840"/>
            <a:ext cx="502920" cy="502920"/>
          </a:xfrm>
          <a:prstGeom prst="ellipse">
            <a:avLst/>
          </a:prstGeom>
          <a:solidFill>
            <a:srgbClr val="10B981"/>
          </a:solidFill>
          <a:ln w="12700">
            <a:solidFill>
              <a:srgbClr val="FFFFFF"/>
            </a:solidFill>
            <a:prstDash val="solid"/>
          </a:ln>
        </p:spPr>
      </p:sp>
      <p:sp>
        <p:nvSpPr>
          <p:cNvPr id="26" name="Text 24"/>
          <p:cNvSpPr/>
          <p:nvPr/>
        </p:nvSpPr>
        <p:spPr>
          <a:xfrm>
            <a:off x="685800" y="4434840"/>
            <a:ext cx="502920" cy="502920"/>
          </a:xfrm>
          <a:prstGeom prst="rect">
            <a:avLst/>
          </a:prstGeom>
          <a:noFill/>
          <a:ln/>
        </p:spPr>
        <p:txBody>
          <a:bodyPr wrap="square" lIns="0" tIns="0" rIns="0" bIns="0" rtlCol="0" anchor="ctr"/>
          <a:lstStyle/>
          <a:p>
            <a:pPr algn="ctr" indent="0" marL="0">
              <a:buNone/>
            </a:pPr>
            <a:r>
              <a:rPr lang="en-US" sz="900" b="1" dirty="0">
                <a:solidFill>
                  <a:srgbClr val="FFFFFF"/>
                </a:solidFill>
              </a:rPr>
              <a:t>XLS</a:t>
            </a:r>
            <a:endParaRPr lang="en-US" sz="900" dirty="0"/>
          </a:p>
        </p:txBody>
      </p:sp>
      <p:sp>
        <p:nvSpPr>
          <p:cNvPr id="27" name="Text 25"/>
          <p:cNvSpPr/>
          <p:nvPr/>
        </p:nvSpPr>
        <p:spPr>
          <a:xfrm>
            <a:off x="1371600" y="4343400"/>
            <a:ext cx="4572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Accomplishments</a:t>
            </a:r>
            <a:endParaRPr lang="en-US" sz="1400" dirty="0"/>
          </a:p>
        </p:txBody>
      </p:sp>
      <p:sp>
        <p:nvSpPr>
          <p:cNvPr id="28" name="Text 26"/>
          <p:cNvSpPr/>
          <p:nvPr/>
        </p:nvSpPr>
        <p:spPr>
          <a:xfrm>
            <a:off x="1371600" y="4663440"/>
            <a:ext cx="4572000" cy="36576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Wins with details and tools used</a:t>
            </a:r>
            <a:endParaRPr lang="en-US" sz="1000" dirty="0"/>
          </a:p>
        </p:txBody>
      </p:sp>
      <p:sp>
        <p:nvSpPr>
          <p:cNvPr id="29" name="Shape 27"/>
          <p:cNvSpPr/>
          <p:nvPr/>
        </p:nvSpPr>
        <p:spPr>
          <a:xfrm>
            <a:off x="6263640" y="4160520"/>
            <a:ext cx="5532120" cy="1051560"/>
          </a:xfrm>
          <a:prstGeom prst="roundRect">
            <a:avLst>
              <a:gd name="adj" fmla="val 6957"/>
            </a:avLst>
          </a:prstGeom>
          <a:solidFill>
            <a:srgbClr val="1A2244"/>
          </a:solidFill>
          <a:ln w="12700">
            <a:solidFill>
              <a:srgbClr val="2A3560"/>
            </a:solidFill>
            <a:prstDash val="solid"/>
          </a:ln>
        </p:spPr>
      </p:sp>
      <p:sp>
        <p:nvSpPr>
          <p:cNvPr id="30" name="Shape 28"/>
          <p:cNvSpPr/>
          <p:nvPr/>
        </p:nvSpPr>
        <p:spPr>
          <a:xfrm>
            <a:off x="6446520" y="4434840"/>
            <a:ext cx="502920" cy="502920"/>
          </a:xfrm>
          <a:prstGeom prst="ellipse">
            <a:avLst/>
          </a:prstGeom>
          <a:solidFill>
            <a:srgbClr val="10B981"/>
          </a:solidFill>
          <a:ln w="12700">
            <a:solidFill>
              <a:srgbClr val="FFFFFF"/>
            </a:solidFill>
            <a:prstDash val="solid"/>
          </a:ln>
        </p:spPr>
      </p:sp>
      <p:sp>
        <p:nvSpPr>
          <p:cNvPr id="31" name="Text 29"/>
          <p:cNvSpPr/>
          <p:nvPr/>
        </p:nvSpPr>
        <p:spPr>
          <a:xfrm>
            <a:off x="6446520" y="4434840"/>
            <a:ext cx="502920" cy="502920"/>
          </a:xfrm>
          <a:prstGeom prst="rect">
            <a:avLst/>
          </a:prstGeom>
          <a:noFill/>
          <a:ln/>
        </p:spPr>
        <p:txBody>
          <a:bodyPr wrap="square" lIns="0" tIns="0" rIns="0" bIns="0" rtlCol="0" anchor="ctr"/>
          <a:lstStyle/>
          <a:p>
            <a:pPr algn="ctr" indent="0" marL="0">
              <a:buNone/>
            </a:pPr>
            <a:r>
              <a:rPr lang="en-US" sz="900" b="1" dirty="0">
                <a:solidFill>
                  <a:srgbClr val="FFFFFF"/>
                </a:solidFill>
              </a:rPr>
              <a:t>XLS</a:t>
            </a:r>
            <a:endParaRPr lang="en-US" sz="900" dirty="0"/>
          </a:p>
        </p:txBody>
      </p:sp>
      <p:sp>
        <p:nvSpPr>
          <p:cNvPr id="32" name="Text 30"/>
          <p:cNvSpPr/>
          <p:nvPr/>
        </p:nvSpPr>
        <p:spPr>
          <a:xfrm>
            <a:off x="7132320" y="4343400"/>
            <a:ext cx="4572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Approvals</a:t>
            </a:r>
            <a:endParaRPr lang="en-US" sz="1400" dirty="0"/>
          </a:p>
        </p:txBody>
      </p:sp>
      <p:sp>
        <p:nvSpPr>
          <p:cNvPr id="33" name="Text 31"/>
          <p:cNvSpPr/>
          <p:nvPr/>
        </p:nvSpPr>
        <p:spPr>
          <a:xfrm>
            <a:off x="7132320" y="4663440"/>
            <a:ext cx="4572000" cy="36576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Current review queue snapshot</a:t>
            </a:r>
            <a:endParaRPr lang="en-US" sz="1000" dirty="0"/>
          </a:p>
        </p:txBody>
      </p:sp>
      <p:sp>
        <p:nvSpPr>
          <p:cNvPr id="34" name="Shape 32"/>
          <p:cNvSpPr/>
          <p:nvPr/>
        </p:nvSpPr>
        <p:spPr>
          <a:xfrm>
            <a:off x="502920" y="5349240"/>
            <a:ext cx="5532120" cy="1051560"/>
          </a:xfrm>
          <a:prstGeom prst="roundRect">
            <a:avLst>
              <a:gd name="adj" fmla="val 6957"/>
            </a:avLst>
          </a:prstGeom>
          <a:solidFill>
            <a:srgbClr val="1A2244"/>
          </a:solidFill>
          <a:ln w="12700">
            <a:solidFill>
              <a:srgbClr val="2A3560"/>
            </a:solidFill>
            <a:prstDash val="solid"/>
          </a:ln>
        </p:spPr>
      </p:sp>
      <p:sp>
        <p:nvSpPr>
          <p:cNvPr id="35" name="Shape 33"/>
          <p:cNvSpPr/>
          <p:nvPr/>
        </p:nvSpPr>
        <p:spPr>
          <a:xfrm>
            <a:off x="685800" y="5623560"/>
            <a:ext cx="502920" cy="502920"/>
          </a:xfrm>
          <a:prstGeom prst="ellipse">
            <a:avLst/>
          </a:prstGeom>
          <a:solidFill>
            <a:srgbClr val="10B981"/>
          </a:solidFill>
          <a:ln w="12700">
            <a:solidFill>
              <a:srgbClr val="FFFFFF"/>
            </a:solidFill>
            <a:prstDash val="solid"/>
          </a:ln>
        </p:spPr>
      </p:sp>
      <p:sp>
        <p:nvSpPr>
          <p:cNvPr id="36" name="Text 34"/>
          <p:cNvSpPr/>
          <p:nvPr/>
        </p:nvSpPr>
        <p:spPr>
          <a:xfrm>
            <a:off x="685800" y="5623560"/>
            <a:ext cx="502920" cy="502920"/>
          </a:xfrm>
          <a:prstGeom prst="rect">
            <a:avLst/>
          </a:prstGeom>
          <a:noFill/>
          <a:ln/>
        </p:spPr>
        <p:txBody>
          <a:bodyPr wrap="square" lIns="0" tIns="0" rIns="0" bIns="0" rtlCol="0" anchor="ctr"/>
          <a:lstStyle/>
          <a:p>
            <a:pPr algn="ctr" indent="0" marL="0">
              <a:buNone/>
            </a:pPr>
            <a:r>
              <a:rPr lang="en-US" sz="900" b="1" dirty="0">
                <a:solidFill>
                  <a:srgbClr val="FFFFFF"/>
                </a:solidFill>
              </a:rPr>
              <a:t>XLS</a:t>
            </a:r>
            <a:endParaRPr lang="en-US" sz="900" dirty="0"/>
          </a:p>
        </p:txBody>
      </p:sp>
      <p:sp>
        <p:nvSpPr>
          <p:cNvPr id="37" name="Text 35"/>
          <p:cNvSpPr/>
          <p:nvPr/>
        </p:nvSpPr>
        <p:spPr>
          <a:xfrm>
            <a:off x="1371600" y="5532120"/>
            <a:ext cx="4572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Copilot Access</a:t>
            </a:r>
            <a:endParaRPr lang="en-US" sz="1400" dirty="0"/>
          </a:p>
        </p:txBody>
      </p:sp>
      <p:sp>
        <p:nvSpPr>
          <p:cNvPr id="38" name="Text 36"/>
          <p:cNvSpPr/>
          <p:nvPr/>
        </p:nvSpPr>
        <p:spPr>
          <a:xfrm>
            <a:off x="1371600" y="5852160"/>
            <a:ext cx="4572000" cy="36576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User list by practice</a:t>
            </a:r>
            <a:endParaRPr lang="en-US" sz="1000" dirty="0"/>
          </a:p>
        </p:txBody>
      </p:sp>
      <p:sp>
        <p:nvSpPr>
          <p:cNvPr id="39" name="Shape 37"/>
          <p:cNvSpPr/>
          <p:nvPr/>
        </p:nvSpPr>
        <p:spPr>
          <a:xfrm>
            <a:off x="6263640" y="5349240"/>
            <a:ext cx="5532120" cy="1051560"/>
          </a:xfrm>
          <a:prstGeom prst="roundRect">
            <a:avLst>
              <a:gd name="adj" fmla="val 6957"/>
            </a:avLst>
          </a:prstGeom>
          <a:solidFill>
            <a:srgbClr val="1A2244"/>
          </a:solidFill>
          <a:ln w="12700">
            <a:solidFill>
              <a:srgbClr val="2A3560"/>
            </a:solidFill>
            <a:prstDash val="solid"/>
          </a:ln>
        </p:spPr>
      </p:sp>
      <p:sp>
        <p:nvSpPr>
          <p:cNvPr id="40" name="Shape 38"/>
          <p:cNvSpPr/>
          <p:nvPr/>
        </p:nvSpPr>
        <p:spPr>
          <a:xfrm>
            <a:off x="6446520" y="5623560"/>
            <a:ext cx="502920" cy="502920"/>
          </a:xfrm>
          <a:prstGeom prst="ellipse">
            <a:avLst/>
          </a:prstGeom>
          <a:solidFill>
            <a:srgbClr val="10B981"/>
          </a:solidFill>
          <a:ln w="12700">
            <a:solidFill>
              <a:srgbClr val="FFFFFF"/>
            </a:solidFill>
            <a:prstDash val="solid"/>
          </a:ln>
        </p:spPr>
      </p:sp>
      <p:sp>
        <p:nvSpPr>
          <p:cNvPr id="41" name="Text 39"/>
          <p:cNvSpPr/>
          <p:nvPr/>
        </p:nvSpPr>
        <p:spPr>
          <a:xfrm>
            <a:off x="6446520" y="5623560"/>
            <a:ext cx="502920" cy="502920"/>
          </a:xfrm>
          <a:prstGeom prst="rect">
            <a:avLst/>
          </a:prstGeom>
          <a:noFill/>
          <a:ln/>
        </p:spPr>
        <p:txBody>
          <a:bodyPr wrap="square" lIns="0" tIns="0" rIns="0" bIns="0" rtlCol="0" anchor="ctr"/>
          <a:lstStyle/>
          <a:p>
            <a:pPr algn="ctr" indent="0" marL="0">
              <a:buNone/>
            </a:pPr>
            <a:r>
              <a:rPr lang="en-US" sz="900" b="1" dirty="0">
                <a:solidFill>
                  <a:srgbClr val="FFFFFF"/>
                </a:solidFill>
              </a:rPr>
              <a:t>XLS</a:t>
            </a:r>
            <a:endParaRPr lang="en-US" sz="900" dirty="0"/>
          </a:p>
        </p:txBody>
      </p:sp>
      <p:sp>
        <p:nvSpPr>
          <p:cNvPr id="42" name="Text 40"/>
          <p:cNvSpPr/>
          <p:nvPr/>
        </p:nvSpPr>
        <p:spPr>
          <a:xfrm>
            <a:off x="7132320" y="5532120"/>
            <a:ext cx="4572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Projects</a:t>
            </a:r>
            <a:endParaRPr lang="en-US" sz="1400" dirty="0"/>
          </a:p>
        </p:txBody>
      </p:sp>
      <p:sp>
        <p:nvSpPr>
          <p:cNvPr id="43" name="Text 41"/>
          <p:cNvSpPr/>
          <p:nvPr/>
        </p:nvSpPr>
        <p:spPr>
          <a:xfrm>
            <a:off x="7132320" y="5852160"/>
            <a:ext cx="4572000" cy="36576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Project catalog with values and PMs</a:t>
            </a:r>
            <a:endParaRPr lang="en-US" sz="1000" dirty="0"/>
          </a:p>
        </p:txBody>
      </p:sp>
      <p:sp>
        <p:nvSpPr>
          <p:cNvPr id="44" name="Text 42"/>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45" name="Text 43"/>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24 / 28</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22 — Export Center (Excel / PDF / PowerPoint)</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Sidebar → Export Center. One modal, three formats, tick only what you need.</a:t>
            </a:r>
            <a:endParaRPr lang="en-US" sz="1400" dirty="0"/>
          </a:p>
        </p:txBody>
      </p:sp>
      <p:sp>
        <p:nvSpPr>
          <p:cNvPr id="4" name="Shape 2"/>
          <p:cNvSpPr/>
          <p:nvPr/>
        </p:nvSpPr>
        <p:spPr>
          <a:xfrm>
            <a:off x="502920" y="1783080"/>
            <a:ext cx="3657600" cy="4663440"/>
          </a:xfrm>
          <a:prstGeom prst="roundRect">
            <a:avLst>
              <a:gd name="adj" fmla="val 2000"/>
            </a:avLst>
          </a:prstGeom>
          <a:solidFill>
            <a:srgbClr val="1A2244"/>
          </a:solidFill>
          <a:ln w="12700">
            <a:solidFill>
              <a:srgbClr val="2A3560"/>
            </a:solidFill>
            <a:prstDash val="solid"/>
          </a:ln>
        </p:spPr>
      </p:sp>
      <p:sp>
        <p:nvSpPr>
          <p:cNvPr id="5" name="Shape 3"/>
          <p:cNvSpPr/>
          <p:nvPr/>
        </p:nvSpPr>
        <p:spPr>
          <a:xfrm>
            <a:off x="502920" y="1783080"/>
            <a:ext cx="3657600" cy="502920"/>
          </a:xfrm>
          <a:prstGeom prst="rect">
            <a:avLst/>
          </a:prstGeom>
          <a:solidFill>
            <a:srgbClr val="10B981"/>
          </a:solidFill>
          <a:ln w="12700">
            <a:solidFill>
              <a:srgbClr val="10B981"/>
            </a:solidFill>
            <a:prstDash val="solid"/>
          </a:ln>
        </p:spPr>
      </p:sp>
      <p:sp>
        <p:nvSpPr>
          <p:cNvPr id="6" name="Text 4"/>
          <p:cNvSpPr/>
          <p:nvPr/>
        </p:nvSpPr>
        <p:spPr>
          <a:xfrm>
            <a:off x="685800" y="1783080"/>
            <a:ext cx="329184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Excel</a:t>
            </a:r>
            <a:endParaRPr lang="en-US" sz="1700" dirty="0"/>
          </a:p>
        </p:txBody>
      </p:sp>
      <p:sp>
        <p:nvSpPr>
          <p:cNvPr id="7" name="Shape 5"/>
          <p:cNvSpPr/>
          <p:nvPr/>
        </p:nvSpPr>
        <p:spPr>
          <a:xfrm>
            <a:off x="685800" y="2468880"/>
            <a:ext cx="3291840" cy="502920"/>
          </a:xfrm>
          <a:prstGeom prst="roundRect">
            <a:avLst>
              <a:gd name="adj" fmla="val 14545"/>
            </a:avLst>
          </a:prstGeom>
          <a:solidFill>
            <a:srgbClr val="141B36"/>
          </a:solidFill>
          <a:ln w="12700">
            <a:solidFill>
              <a:srgbClr val="2A3560"/>
            </a:solidFill>
            <a:prstDash val="solid"/>
          </a:ln>
        </p:spPr>
      </p:sp>
      <p:sp>
        <p:nvSpPr>
          <p:cNvPr id="8" name="Shape 6"/>
          <p:cNvSpPr/>
          <p:nvPr/>
        </p:nvSpPr>
        <p:spPr>
          <a:xfrm>
            <a:off x="777240" y="2606040"/>
            <a:ext cx="228600" cy="228600"/>
          </a:xfrm>
          <a:prstGeom prst="roundRect">
            <a:avLst>
              <a:gd name="adj" fmla="val 12000"/>
            </a:avLst>
          </a:prstGeom>
          <a:solidFill>
            <a:srgbClr val="1A2244"/>
          </a:solidFill>
          <a:ln w="15240">
            <a:solidFill>
              <a:srgbClr val="10B981"/>
            </a:solidFill>
            <a:prstDash val="solid"/>
          </a:ln>
        </p:spPr>
      </p:sp>
      <p:sp>
        <p:nvSpPr>
          <p:cNvPr id="9" name="Text 7"/>
          <p:cNvSpPr/>
          <p:nvPr/>
        </p:nvSpPr>
        <p:spPr>
          <a:xfrm>
            <a:off x="777240" y="2606040"/>
            <a:ext cx="228600" cy="228600"/>
          </a:xfrm>
          <a:prstGeom prst="rect">
            <a:avLst/>
          </a:prstGeom>
          <a:noFill/>
          <a:ln/>
        </p:spPr>
        <p:txBody>
          <a:bodyPr wrap="square" lIns="0" tIns="0" rIns="0" bIns="0" rtlCol="0" anchor="ctr"/>
          <a:lstStyle/>
          <a:p>
            <a:pPr algn="ctr" indent="0" marL="0">
              <a:buNone/>
            </a:pPr>
            <a:r>
              <a:rPr lang="en-US" sz="1000" b="1" dirty="0">
                <a:solidFill>
                  <a:srgbClr val="10B981"/>
                </a:solidFill>
              </a:rPr>
              <a:t>✓</a:t>
            </a:r>
            <a:endParaRPr lang="en-US" sz="1000" dirty="0"/>
          </a:p>
        </p:txBody>
      </p:sp>
      <p:sp>
        <p:nvSpPr>
          <p:cNvPr id="10" name="Text 8"/>
          <p:cNvSpPr/>
          <p:nvPr/>
        </p:nvSpPr>
        <p:spPr>
          <a:xfrm>
            <a:off x="1069848" y="2560320"/>
            <a:ext cx="288036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Summary (Practice KPIs)</a:t>
            </a:r>
            <a:endParaRPr lang="en-US" sz="900" dirty="0"/>
          </a:p>
        </p:txBody>
      </p:sp>
      <p:sp>
        <p:nvSpPr>
          <p:cNvPr id="11" name="Shape 9"/>
          <p:cNvSpPr/>
          <p:nvPr/>
        </p:nvSpPr>
        <p:spPr>
          <a:xfrm>
            <a:off x="685800" y="3063240"/>
            <a:ext cx="3291840" cy="502920"/>
          </a:xfrm>
          <a:prstGeom prst="roundRect">
            <a:avLst>
              <a:gd name="adj" fmla="val 14545"/>
            </a:avLst>
          </a:prstGeom>
          <a:solidFill>
            <a:srgbClr val="141B36"/>
          </a:solidFill>
          <a:ln w="12700">
            <a:solidFill>
              <a:srgbClr val="2A3560"/>
            </a:solidFill>
            <a:prstDash val="solid"/>
          </a:ln>
        </p:spPr>
      </p:sp>
      <p:sp>
        <p:nvSpPr>
          <p:cNvPr id="12" name="Shape 10"/>
          <p:cNvSpPr/>
          <p:nvPr/>
        </p:nvSpPr>
        <p:spPr>
          <a:xfrm>
            <a:off x="777240" y="3200400"/>
            <a:ext cx="228600" cy="228600"/>
          </a:xfrm>
          <a:prstGeom prst="roundRect">
            <a:avLst>
              <a:gd name="adj" fmla="val 12000"/>
            </a:avLst>
          </a:prstGeom>
          <a:solidFill>
            <a:srgbClr val="1A2244"/>
          </a:solidFill>
          <a:ln w="15240">
            <a:solidFill>
              <a:srgbClr val="10B981"/>
            </a:solidFill>
            <a:prstDash val="solid"/>
          </a:ln>
        </p:spPr>
      </p:sp>
      <p:sp>
        <p:nvSpPr>
          <p:cNvPr id="13" name="Text 11"/>
          <p:cNvSpPr/>
          <p:nvPr/>
        </p:nvSpPr>
        <p:spPr>
          <a:xfrm>
            <a:off x="777240" y="3200400"/>
            <a:ext cx="228600" cy="228600"/>
          </a:xfrm>
          <a:prstGeom prst="rect">
            <a:avLst/>
          </a:prstGeom>
          <a:noFill/>
          <a:ln/>
        </p:spPr>
        <p:txBody>
          <a:bodyPr wrap="square" lIns="0" tIns="0" rIns="0" bIns="0" rtlCol="0" anchor="ctr"/>
          <a:lstStyle/>
          <a:p>
            <a:pPr algn="ctr" indent="0" marL="0">
              <a:buNone/>
            </a:pPr>
            <a:r>
              <a:rPr lang="en-US" sz="1000" b="1" dirty="0">
                <a:solidFill>
                  <a:srgbClr val="10B981"/>
                </a:solidFill>
              </a:rPr>
              <a:t>✓</a:t>
            </a:r>
            <a:endParaRPr lang="en-US" sz="1000" dirty="0"/>
          </a:p>
        </p:txBody>
      </p:sp>
      <p:sp>
        <p:nvSpPr>
          <p:cNvPr id="14" name="Text 12"/>
          <p:cNvSpPr/>
          <p:nvPr/>
        </p:nvSpPr>
        <p:spPr>
          <a:xfrm>
            <a:off x="1069848" y="3154680"/>
            <a:ext cx="288036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All Tasks (per-practice sheets)</a:t>
            </a:r>
            <a:endParaRPr lang="en-US" sz="900" dirty="0"/>
          </a:p>
        </p:txBody>
      </p:sp>
      <p:sp>
        <p:nvSpPr>
          <p:cNvPr id="15" name="Shape 13"/>
          <p:cNvSpPr/>
          <p:nvPr/>
        </p:nvSpPr>
        <p:spPr>
          <a:xfrm>
            <a:off x="685800" y="3657600"/>
            <a:ext cx="3291840" cy="502920"/>
          </a:xfrm>
          <a:prstGeom prst="roundRect">
            <a:avLst>
              <a:gd name="adj" fmla="val 14545"/>
            </a:avLst>
          </a:prstGeom>
          <a:solidFill>
            <a:srgbClr val="141B36"/>
          </a:solidFill>
          <a:ln w="12700">
            <a:solidFill>
              <a:srgbClr val="2A3560"/>
            </a:solidFill>
            <a:prstDash val="solid"/>
          </a:ln>
        </p:spPr>
      </p:sp>
      <p:sp>
        <p:nvSpPr>
          <p:cNvPr id="16" name="Shape 14"/>
          <p:cNvSpPr/>
          <p:nvPr/>
        </p:nvSpPr>
        <p:spPr>
          <a:xfrm>
            <a:off x="777240" y="3794760"/>
            <a:ext cx="228600" cy="228600"/>
          </a:xfrm>
          <a:prstGeom prst="roundRect">
            <a:avLst>
              <a:gd name="adj" fmla="val 12000"/>
            </a:avLst>
          </a:prstGeom>
          <a:solidFill>
            <a:srgbClr val="1A2244"/>
          </a:solidFill>
          <a:ln w="15240">
            <a:solidFill>
              <a:srgbClr val="10B981"/>
            </a:solidFill>
            <a:prstDash val="solid"/>
          </a:ln>
        </p:spPr>
      </p:sp>
      <p:sp>
        <p:nvSpPr>
          <p:cNvPr id="17" name="Text 15"/>
          <p:cNvSpPr/>
          <p:nvPr/>
        </p:nvSpPr>
        <p:spPr>
          <a:xfrm>
            <a:off x="777240" y="3794760"/>
            <a:ext cx="228600" cy="228600"/>
          </a:xfrm>
          <a:prstGeom prst="rect">
            <a:avLst/>
          </a:prstGeom>
          <a:noFill/>
          <a:ln/>
        </p:spPr>
        <p:txBody>
          <a:bodyPr wrap="square" lIns="0" tIns="0" rIns="0" bIns="0" rtlCol="0" anchor="ctr"/>
          <a:lstStyle/>
          <a:p>
            <a:pPr algn="ctr" indent="0" marL="0">
              <a:buNone/>
            </a:pPr>
            <a:r>
              <a:rPr lang="en-US" sz="1000" b="1" dirty="0">
                <a:solidFill>
                  <a:srgbClr val="10B981"/>
                </a:solidFill>
              </a:rPr>
              <a:t>✓</a:t>
            </a:r>
            <a:endParaRPr lang="en-US" sz="1000" dirty="0"/>
          </a:p>
        </p:txBody>
      </p:sp>
      <p:sp>
        <p:nvSpPr>
          <p:cNvPr id="18" name="Text 16"/>
          <p:cNvSpPr/>
          <p:nvPr/>
        </p:nvSpPr>
        <p:spPr>
          <a:xfrm>
            <a:off x="1069848" y="3749040"/>
            <a:ext cx="288036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Accomplishments</a:t>
            </a:r>
            <a:endParaRPr lang="en-US" sz="900" dirty="0"/>
          </a:p>
        </p:txBody>
      </p:sp>
      <p:sp>
        <p:nvSpPr>
          <p:cNvPr id="19" name="Shape 17"/>
          <p:cNvSpPr/>
          <p:nvPr/>
        </p:nvSpPr>
        <p:spPr>
          <a:xfrm>
            <a:off x="685800" y="4251960"/>
            <a:ext cx="3291840" cy="502920"/>
          </a:xfrm>
          <a:prstGeom prst="roundRect">
            <a:avLst>
              <a:gd name="adj" fmla="val 14545"/>
            </a:avLst>
          </a:prstGeom>
          <a:solidFill>
            <a:srgbClr val="141B36"/>
          </a:solidFill>
          <a:ln w="12700">
            <a:solidFill>
              <a:srgbClr val="2A3560"/>
            </a:solidFill>
            <a:prstDash val="solid"/>
          </a:ln>
        </p:spPr>
      </p:sp>
      <p:sp>
        <p:nvSpPr>
          <p:cNvPr id="20" name="Shape 18"/>
          <p:cNvSpPr/>
          <p:nvPr/>
        </p:nvSpPr>
        <p:spPr>
          <a:xfrm>
            <a:off x="777240" y="4389120"/>
            <a:ext cx="228600" cy="228600"/>
          </a:xfrm>
          <a:prstGeom prst="roundRect">
            <a:avLst>
              <a:gd name="adj" fmla="val 12000"/>
            </a:avLst>
          </a:prstGeom>
          <a:solidFill>
            <a:srgbClr val="1A2244"/>
          </a:solidFill>
          <a:ln w="15240">
            <a:solidFill>
              <a:srgbClr val="10B981"/>
            </a:solidFill>
            <a:prstDash val="solid"/>
          </a:ln>
        </p:spPr>
      </p:sp>
      <p:sp>
        <p:nvSpPr>
          <p:cNvPr id="21" name="Text 19"/>
          <p:cNvSpPr/>
          <p:nvPr/>
        </p:nvSpPr>
        <p:spPr>
          <a:xfrm>
            <a:off x="777240" y="4389120"/>
            <a:ext cx="228600" cy="228600"/>
          </a:xfrm>
          <a:prstGeom prst="rect">
            <a:avLst/>
          </a:prstGeom>
          <a:noFill/>
          <a:ln/>
        </p:spPr>
        <p:txBody>
          <a:bodyPr wrap="square" lIns="0" tIns="0" rIns="0" bIns="0" rtlCol="0" anchor="ctr"/>
          <a:lstStyle/>
          <a:p>
            <a:pPr algn="ctr" indent="0" marL="0">
              <a:buNone/>
            </a:pPr>
            <a:r>
              <a:rPr lang="en-US" sz="1000" b="1" dirty="0">
                <a:solidFill>
                  <a:srgbClr val="10B981"/>
                </a:solidFill>
              </a:rPr>
              <a:t>✓</a:t>
            </a:r>
            <a:endParaRPr lang="en-US" sz="1000" dirty="0"/>
          </a:p>
        </p:txBody>
      </p:sp>
      <p:sp>
        <p:nvSpPr>
          <p:cNvPr id="22" name="Text 20"/>
          <p:cNvSpPr/>
          <p:nvPr/>
        </p:nvSpPr>
        <p:spPr>
          <a:xfrm>
            <a:off x="1069848" y="4343400"/>
            <a:ext cx="288036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Copilot Users</a:t>
            </a:r>
            <a:endParaRPr lang="en-US" sz="900" dirty="0"/>
          </a:p>
        </p:txBody>
      </p:sp>
      <p:sp>
        <p:nvSpPr>
          <p:cNvPr id="23" name="Shape 21"/>
          <p:cNvSpPr/>
          <p:nvPr/>
        </p:nvSpPr>
        <p:spPr>
          <a:xfrm>
            <a:off x="685800" y="4846320"/>
            <a:ext cx="3291840" cy="502920"/>
          </a:xfrm>
          <a:prstGeom prst="roundRect">
            <a:avLst>
              <a:gd name="adj" fmla="val 14545"/>
            </a:avLst>
          </a:prstGeom>
          <a:solidFill>
            <a:srgbClr val="141B36"/>
          </a:solidFill>
          <a:ln w="12700">
            <a:solidFill>
              <a:srgbClr val="2A3560"/>
            </a:solidFill>
            <a:prstDash val="solid"/>
          </a:ln>
        </p:spPr>
      </p:sp>
      <p:sp>
        <p:nvSpPr>
          <p:cNvPr id="24" name="Shape 22"/>
          <p:cNvSpPr/>
          <p:nvPr/>
        </p:nvSpPr>
        <p:spPr>
          <a:xfrm>
            <a:off x="777240" y="4983480"/>
            <a:ext cx="228600" cy="228600"/>
          </a:xfrm>
          <a:prstGeom prst="roundRect">
            <a:avLst>
              <a:gd name="adj" fmla="val 12000"/>
            </a:avLst>
          </a:prstGeom>
          <a:solidFill>
            <a:srgbClr val="1A2244"/>
          </a:solidFill>
          <a:ln w="15240">
            <a:solidFill>
              <a:srgbClr val="10B981"/>
            </a:solidFill>
            <a:prstDash val="solid"/>
          </a:ln>
        </p:spPr>
      </p:sp>
      <p:sp>
        <p:nvSpPr>
          <p:cNvPr id="25" name="Text 23"/>
          <p:cNvSpPr/>
          <p:nvPr/>
        </p:nvSpPr>
        <p:spPr>
          <a:xfrm>
            <a:off x="777240" y="4983480"/>
            <a:ext cx="228600" cy="228600"/>
          </a:xfrm>
          <a:prstGeom prst="rect">
            <a:avLst/>
          </a:prstGeom>
          <a:noFill/>
          <a:ln/>
        </p:spPr>
        <p:txBody>
          <a:bodyPr wrap="square" lIns="0" tIns="0" rIns="0" bIns="0" rtlCol="0" anchor="ctr"/>
          <a:lstStyle/>
          <a:p>
            <a:pPr algn="ctr" indent="0" marL="0">
              <a:buNone/>
            </a:pPr>
            <a:r>
              <a:rPr lang="en-US" sz="1000" b="1" dirty="0">
                <a:solidFill>
                  <a:srgbClr val="10B981"/>
                </a:solidFill>
              </a:rPr>
              <a:t>✓</a:t>
            </a:r>
            <a:endParaRPr lang="en-US" sz="1000" dirty="0"/>
          </a:p>
        </p:txBody>
      </p:sp>
      <p:sp>
        <p:nvSpPr>
          <p:cNvPr id="26" name="Text 24"/>
          <p:cNvSpPr/>
          <p:nvPr/>
        </p:nvSpPr>
        <p:spPr>
          <a:xfrm>
            <a:off x="1069848" y="4937760"/>
            <a:ext cx="288036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Projects</a:t>
            </a:r>
            <a:endParaRPr lang="en-US" sz="900" dirty="0"/>
          </a:p>
        </p:txBody>
      </p:sp>
      <p:sp>
        <p:nvSpPr>
          <p:cNvPr id="27" name="Shape 25"/>
          <p:cNvSpPr/>
          <p:nvPr/>
        </p:nvSpPr>
        <p:spPr>
          <a:xfrm>
            <a:off x="685800" y="5440680"/>
            <a:ext cx="3291840" cy="502920"/>
          </a:xfrm>
          <a:prstGeom prst="roundRect">
            <a:avLst>
              <a:gd name="adj" fmla="val 14545"/>
            </a:avLst>
          </a:prstGeom>
          <a:solidFill>
            <a:srgbClr val="141B36"/>
          </a:solidFill>
          <a:ln w="12700">
            <a:solidFill>
              <a:srgbClr val="2A3560"/>
            </a:solidFill>
            <a:prstDash val="solid"/>
          </a:ln>
        </p:spPr>
      </p:sp>
      <p:sp>
        <p:nvSpPr>
          <p:cNvPr id="28" name="Shape 26"/>
          <p:cNvSpPr/>
          <p:nvPr/>
        </p:nvSpPr>
        <p:spPr>
          <a:xfrm>
            <a:off x="777240" y="5577840"/>
            <a:ext cx="228600" cy="228600"/>
          </a:xfrm>
          <a:prstGeom prst="roundRect">
            <a:avLst>
              <a:gd name="adj" fmla="val 12000"/>
            </a:avLst>
          </a:prstGeom>
          <a:solidFill>
            <a:srgbClr val="1A2244"/>
          </a:solidFill>
          <a:ln w="15240">
            <a:solidFill>
              <a:srgbClr val="10B981"/>
            </a:solidFill>
            <a:prstDash val="solid"/>
          </a:ln>
        </p:spPr>
      </p:sp>
      <p:sp>
        <p:nvSpPr>
          <p:cNvPr id="29" name="Text 27"/>
          <p:cNvSpPr/>
          <p:nvPr/>
        </p:nvSpPr>
        <p:spPr>
          <a:xfrm>
            <a:off x="777240" y="5577840"/>
            <a:ext cx="228600" cy="228600"/>
          </a:xfrm>
          <a:prstGeom prst="rect">
            <a:avLst/>
          </a:prstGeom>
          <a:noFill/>
          <a:ln/>
        </p:spPr>
        <p:txBody>
          <a:bodyPr wrap="square" lIns="0" tIns="0" rIns="0" bIns="0" rtlCol="0" anchor="ctr"/>
          <a:lstStyle/>
          <a:p>
            <a:pPr algn="ctr" indent="0" marL="0">
              <a:buNone/>
            </a:pPr>
            <a:r>
              <a:rPr lang="en-US" sz="1000" b="1" dirty="0">
                <a:solidFill>
                  <a:srgbClr val="10B981"/>
                </a:solidFill>
              </a:rPr>
              <a:t>✓</a:t>
            </a:r>
            <a:endParaRPr lang="en-US" sz="1000" dirty="0"/>
          </a:p>
        </p:txBody>
      </p:sp>
      <p:sp>
        <p:nvSpPr>
          <p:cNvPr id="30" name="Text 28"/>
          <p:cNvSpPr/>
          <p:nvPr/>
        </p:nvSpPr>
        <p:spPr>
          <a:xfrm>
            <a:off x="1069848" y="5532120"/>
            <a:ext cx="288036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Leaderboard</a:t>
            </a:r>
            <a:endParaRPr lang="en-US" sz="900" dirty="0"/>
          </a:p>
        </p:txBody>
      </p:sp>
      <p:sp>
        <p:nvSpPr>
          <p:cNvPr id="31" name="Shape 29"/>
          <p:cNvSpPr/>
          <p:nvPr/>
        </p:nvSpPr>
        <p:spPr>
          <a:xfrm>
            <a:off x="685800" y="5989320"/>
            <a:ext cx="3291840" cy="365760"/>
          </a:xfrm>
          <a:prstGeom prst="roundRect">
            <a:avLst>
              <a:gd name="adj" fmla="val 12500"/>
            </a:avLst>
          </a:prstGeom>
          <a:solidFill>
            <a:srgbClr val="10B981"/>
          </a:solidFill>
          <a:ln w="12700">
            <a:solidFill>
              <a:srgbClr val="10B981"/>
            </a:solidFill>
            <a:prstDash val="solid"/>
          </a:ln>
        </p:spPr>
      </p:sp>
      <p:sp>
        <p:nvSpPr>
          <p:cNvPr id="32" name="Text 30"/>
          <p:cNvSpPr/>
          <p:nvPr/>
        </p:nvSpPr>
        <p:spPr>
          <a:xfrm>
            <a:off x="685800" y="5989320"/>
            <a:ext cx="3291840" cy="365760"/>
          </a:xfrm>
          <a:prstGeom prst="rect">
            <a:avLst/>
          </a:prstGeom>
          <a:noFill/>
          <a:ln/>
        </p:spPr>
        <p:txBody>
          <a:bodyPr wrap="square" lIns="0" tIns="0" rIns="0" bIns="0" rtlCol="0" anchor="ctr"/>
          <a:lstStyle/>
          <a:p>
            <a:pPr algn="ctr" indent="0" marL="0">
              <a:buNone/>
            </a:pPr>
            <a:r>
              <a:rPr lang="en-US" sz="1100" b="1" dirty="0">
                <a:solidFill>
                  <a:srgbClr val="FFFFFF"/>
                </a:solidFill>
              </a:rPr>
              <a:t>Export Excel</a:t>
            </a:r>
            <a:endParaRPr lang="en-US" sz="1100" dirty="0"/>
          </a:p>
        </p:txBody>
      </p:sp>
      <p:sp>
        <p:nvSpPr>
          <p:cNvPr id="33" name="Shape 31"/>
          <p:cNvSpPr/>
          <p:nvPr/>
        </p:nvSpPr>
        <p:spPr>
          <a:xfrm>
            <a:off x="4416552" y="1783080"/>
            <a:ext cx="3657600" cy="4663440"/>
          </a:xfrm>
          <a:prstGeom prst="roundRect">
            <a:avLst>
              <a:gd name="adj" fmla="val 2000"/>
            </a:avLst>
          </a:prstGeom>
          <a:solidFill>
            <a:srgbClr val="1A2244"/>
          </a:solidFill>
          <a:ln w="12700">
            <a:solidFill>
              <a:srgbClr val="2A3560"/>
            </a:solidFill>
            <a:prstDash val="solid"/>
          </a:ln>
        </p:spPr>
      </p:sp>
      <p:sp>
        <p:nvSpPr>
          <p:cNvPr id="34" name="Shape 32"/>
          <p:cNvSpPr/>
          <p:nvPr/>
        </p:nvSpPr>
        <p:spPr>
          <a:xfrm>
            <a:off x="4416552" y="1783080"/>
            <a:ext cx="3657600" cy="502920"/>
          </a:xfrm>
          <a:prstGeom prst="rect">
            <a:avLst/>
          </a:prstGeom>
          <a:solidFill>
            <a:srgbClr val="EF4444"/>
          </a:solidFill>
          <a:ln w="12700">
            <a:solidFill>
              <a:srgbClr val="EF4444"/>
            </a:solidFill>
            <a:prstDash val="solid"/>
          </a:ln>
        </p:spPr>
      </p:sp>
      <p:sp>
        <p:nvSpPr>
          <p:cNvPr id="35" name="Text 33"/>
          <p:cNvSpPr/>
          <p:nvPr/>
        </p:nvSpPr>
        <p:spPr>
          <a:xfrm>
            <a:off x="4599432" y="1783080"/>
            <a:ext cx="329184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PDF</a:t>
            </a:r>
            <a:endParaRPr lang="en-US" sz="1700" dirty="0"/>
          </a:p>
        </p:txBody>
      </p:sp>
      <p:sp>
        <p:nvSpPr>
          <p:cNvPr id="36" name="Shape 34"/>
          <p:cNvSpPr/>
          <p:nvPr/>
        </p:nvSpPr>
        <p:spPr>
          <a:xfrm>
            <a:off x="4599432" y="2468880"/>
            <a:ext cx="3291840" cy="502920"/>
          </a:xfrm>
          <a:prstGeom prst="roundRect">
            <a:avLst>
              <a:gd name="adj" fmla="val 14545"/>
            </a:avLst>
          </a:prstGeom>
          <a:solidFill>
            <a:srgbClr val="141B36"/>
          </a:solidFill>
          <a:ln w="12700">
            <a:solidFill>
              <a:srgbClr val="2A3560"/>
            </a:solidFill>
            <a:prstDash val="solid"/>
          </a:ln>
        </p:spPr>
      </p:sp>
      <p:sp>
        <p:nvSpPr>
          <p:cNvPr id="37" name="Shape 35"/>
          <p:cNvSpPr/>
          <p:nvPr/>
        </p:nvSpPr>
        <p:spPr>
          <a:xfrm>
            <a:off x="4690872" y="2606040"/>
            <a:ext cx="228600" cy="228600"/>
          </a:xfrm>
          <a:prstGeom prst="roundRect">
            <a:avLst>
              <a:gd name="adj" fmla="val 12000"/>
            </a:avLst>
          </a:prstGeom>
          <a:solidFill>
            <a:srgbClr val="1A2244"/>
          </a:solidFill>
          <a:ln w="15240">
            <a:solidFill>
              <a:srgbClr val="EF4444"/>
            </a:solidFill>
            <a:prstDash val="solid"/>
          </a:ln>
        </p:spPr>
      </p:sp>
      <p:sp>
        <p:nvSpPr>
          <p:cNvPr id="38" name="Text 36"/>
          <p:cNvSpPr/>
          <p:nvPr/>
        </p:nvSpPr>
        <p:spPr>
          <a:xfrm>
            <a:off x="4690872" y="2606040"/>
            <a:ext cx="228600" cy="228600"/>
          </a:xfrm>
          <a:prstGeom prst="rect">
            <a:avLst/>
          </a:prstGeom>
          <a:noFill/>
          <a:ln/>
        </p:spPr>
        <p:txBody>
          <a:bodyPr wrap="square" lIns="0" tIns="0" rIns="0" bIns="0" rtlCol="0" anchor="ctr"/>
          <a:lstStyle/>
          <a:p>
            <a:pPr algn="ctr" indent="0" marL="0">
              <a:buNone/>
            </a:pPr>
            <a:r>
              <a:rPr lang="en-US" sz="1000" b="1" dirty="0">
                <a:solidFill>
                  <a:srgbClr val="EF4444"/>
                </a:solidFill>
              </a:rPr>
              <a:t>✓</a:t>
            </a:r>
            <a:endParaRPr lang="en-US" sz="1000" dirty="0"/>
          </a:p>
        </p:txBody>
      </p:sp>
      <p:sp>
        <p:nvSpPr>
          <p:cNvPr id="39" name="Text 37"/>
          <p:cNvSpPr/>
          <p:nvPr/>
        </p:nvSpPr>
        <p:spPr>
          <a:xfrm>
            <a:off x="4983480" y="2560320"/>
            <a:ext cx="288036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Dashboard (KPIs + breakdown)</a:t>
            </a:r>
            <a:endParaRPr lang="en-US" sz="900" dirty="0"/>
          </a:p>
        </p:txBody>
      </p:sp>
      <p:sp>
        <p:nvSpPr>
          <p:cNvPr id="40" name="Shape 38"/>
          <p:cNvSpPr/>
          <p:nvPr/>
        </p:nvSpPr>
        <p:spPr>
          <a:xfrm>
            <a:off x="4599432" y="3063240"/>
            <a:ext cx="3291840" cy="502920"/>
          </a:xfrm>
          <a:prstGeom prst="roundRect">
            <a:avLst>
              <a:gd name="adj" fmla="val 14545"/>
            </a:avLst>
          </a:prstGeom>
          <a:solidFill>
            <a:srgbClr val="141B36"/>
          </a:solidFill>
          <a:ln w="12700">
            <a:solidFill>
              <a:srgbClr val="2A3560"/>
            </a:solidFill>
            <a:prstDash val="solid"/>
          </a:ln>
        </p:spPr>
      </p:sp>
      <p:sp>
        <p:nvSpPr>
          <p:cNvPr id="41" name="Shape 39"/>
          <p:cNvSpPr/>
          <p:nvPr/>
        </p:nvSpPr>
        <p:spPr>
          <a:xfrm>
            <a:off x="4690872" y="3200400"/>
            <a:ext cx="228600" cy="228600"/>
          </a:xfrm>
          <a:prstGeom prst="roundRect">
            <a:avLst>
              <a:gd name="adj" fmla="val 12000"/>
            </a:avLst>
          </a:prstGeom>
          <a:solidFill>
            <a:srgbClr val="1A2244"/>
          </a:solidFill>
          <a:ln w="15240">
            <a:solidFill>
              <a:srgbClr val="EF4444"/>
            </a:solidFill>
            <a:prstDash val="solid"/>
          </a:ln>
        </p:spPr>
      </p:sp>
      <p:sp>
        <p:nvSpPr>
          <p:cNvPr id="42" name="Text 40"/>
          <p:cNvSpPr/>
          <p:nvPr/>
        </p:nvSpPr>
        <p:spPr>
          <a:xfrm>
            <a:off x="4690872" y="3200400"/>
            <a:ext cx="228600" cy="228600"/>
          </a:xfrm>
          <a:prstGeom prst="rect">
            <a:avLst/>
          </a:prstGeom>
          <a:noFill/>
          <a:ln/>
        </p:spPr>
        <p:txBody>
          <a:bodyPr wrap="square" lIns="0" tIns="0" rIns="0" bIns="0" rtlCol="0" anchor="ctr"/>
          <a:lstStyle/>
          <a:p>
            <a:pPr algn="ctr" indent="0" marL="0">
              <a:buNone/>
            </a:pPr>
            <a:r>
              <a:rPr lang="en-US" sz="1000" b="1" dirty="0">
                <a:solidFill>
                  <a:srgbClr val="EF4444"/>
                </a:solidFill>
              </a:rPr>
              <a:t>✓</a:t>
            </a:r>
            <a:endParaRPr lang="en-US" sz="1000" dirty="0"/>
          </a:p>
        </p:txBody>
      </p:sp>
      <p:sp>
        <p:nvSpPr>
          <p:cNvPr id="43" name="Text 41"/>
          <p:cNvSpPr/>
          <p:nvPr/>
        </p:nvSpPr>
        <p:spPr>
          <a:xfrm>
            <a:off x="4983480" y="3154680"/>
            <a:ext cx="288036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Practice Detail Cards (Admin)</a:t>
            </a:r>
            <a:endParaRPr lang="en-US" sz="900" dirty="0"/>
          </a:p>
        </p:txBody>
      </p:sp>
      <p:sp>
        <p:nvSpPr>
          <p:cNvPr id="44" name="Shape 42"/>
          <p:cNvSpPr/>
          <p:nvPr/>
        </p:nvSpPr>
        <p:spPr>
          <a:xfrm>
            <a:off x="4599432" y="3657600"/>
            <a:ext cx="3291840" cy="502920"/>
          </a:xfrm>
          <a:prstGeom prst="roundRect">
            <a:avLst>
              <a:gd name="adj" fmla="val 14545"/>
            </a:avLst>
          </a:prstGeom>
          <a:solidFill>
            <a:srgbClr val="141B36"/>
          </a:solidFill>
          <a:ln w="12700">
            <a:solidFill>
              <a:srgbClr val="2A3560"/>
            </a:solidFill>
            <a:prstDash val="solid"/>
          </a:ln>
        </p:spPr>
      </p:sp>
      <p:sp>
        <p:nvSpPr>
          <p:cNvPr id="45" name="Shape 43"/>
          <p:cNvSpPr/>
          <p:nvPr/>
        </p:nvSpPr>
        <p:spPr>
          <a:xfrm>
            <a:off x="4690872" y="3794760"/>
            <a:ext cx="228600" cy="228600"/>
          </a:xfrm>
          <a:prstGeom prst="roundRect">
            <a:avLst>
              <a:gd name="adj" fmla="val 12000"/>
            </a:avLst>
          </a:prstGeom>
          <a:solidFill>
            <a:srgbClr val="1A2244"/>
          </a:solidFill>
          <a:ln w="15240">
            <a:solidFill>
              <a:srgbClr val="EF4444"/>
            </a:solidFill>
            <a:prstDash val="solid"/>
          </a:ln>
        </p:spPr>
      </p:sp>
      <p:sp>
        <p:nvSpPr>
          <p:cNvPr id="46" name="Text 44"/>
          <p:cNvSpPr/>
          <p:nvPr/>
        </p:nvSpPr>
        <p:spPr>
          <a:xfrm>
            <a:off x="4690872" y="3794760"/>
            <a:ext cx="228600" cy="228600"/>
          </a:xfrm>
          <a:prstGeom prst="rect">
            <a:avLst/>
          </a:prstGeom>
          <a:noFill/>
          <a:ln/>
        </p:spPr>
        <p:txBody>
          <a:bodyPr wrap="square" lIns="0" tIns="0" rIns="0" bIns="0" rtlCol="0" anchor="ctr"/>
          <a:lstStyle/>
          <a:p>
            <a:pPr algn="ctr" indent="0" marL="0">
              <a:buNone/>
            </a:pPr>
            <a:r>
              <a:rPr lang="en-US" sz="1000" b="1" dirty="0">
                <a:solidFill>
                  <a:srgbClr val="EF4444"/>
                </a:solidFill>
              </a:rPr>
              <a:t>✓</a:t>
            </a:r>
            <a:endParaRPr lang="en-US" sz="1000" dirty="0"/>
          </a:p>
        </p:txBody>
      </p:sp>
      <p:sp>
        <p:nvSpPr>
          <p:cNvPr id="47" name="Text 45"/>
          <p:cNvSpPr/>
          <p:nvPr/>
        </p:nvSpPr>
        <p:spPr>
          <a:xfrm>
            <a:off x="4983480" y="3749040"/>
            <a:ext cx="288036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My Practice Summary (SPOC)</a:t>
            </a:r>
            <a:endParaRPr lang="en-US" sz="900" dirty="0"/>
          </a:p>
        </p:txBody>
      </p:sp>
      <p:sp>
        <p:nvSpPr>
          <p:cNvPr id="48" name="Shape 46"/>
          <p:cNvSpPr/>
          <p:nvPr/>
        </p:nvSpPr>
        <p:spPr>
          <a:xfrm>
            <a:off x="4599432" y="4251960"/>
            <a:ext cx="3291840" cy="502920"/>
          </a:xfrm>
          <a:prstGeom prst="roundRect">
            <a:avLst>
              <a:gd name="adj" fmla="val 14545"/>
            </a:avLst>
          </a:prstGeom>
          <a:solidFill>
            <a:srgbClr val="141B36"/>
          </a:solidFill>
          <a:ln w="12700">
            <a:solidFill>
              <a:srgbClr val="2A3560"/>
            </a:solidFill>
            <a:prstDash val="solid"/>
          </a:ln>
        </p:spPr>
      </p:sp>
      <p:sp>
        <p:nvSpPr>
          <p:cNvPr id="49" name="Shape 47"/>
          <p:cNvSpPr/>
          <p:nvPr/>
        </p:nvSpPr>
        <p:spPr>
          <a:xfrm>
            <a:off x="4690872" y="4389120"/>
            <a:ext cx="228600" cy="228600"/>
          </a:xfrm>
          <a:prstGeom prst="roundRect">
            <a:avLst>
              <a:gd name="adj" fmla="val 12000"/>
            </a:avLst>
          </a:prstGeom>
          <a:solidFill>
            <a:srgbClr val="1A2244"/>
          </a:solidFill>
          <a:ln w="15240">
            <a:solidFill>
              <a:srgbClr val="EF4444"/>
            </a:solidFill>
            <a:prstDash val="solid"/>
          </a:ln>
        </p:spPr>
      </p:sp>
      <p:sp>
        <p:nvSpPr>
          <p:cNvPr id="50" name="Text 48"/>
          <p:cNvSpPr/>
          <p:nvPr/>
        </p:nvSpPr>
        <p:spPr>
          <a:xfrm>
            <a:off x="4690872" y="4389120"/>
            <a:ext cx="228600" cy="228600"/>
          </a:xfrm>
          <a:prstGeom prst="rect">
            <a:avLst/>
          </a:prstGeom>
          <a:noFill/>
          <a:ln/>
        </p:spPr>
        <p:txBody>
          <a:bodyPr wrap="square" lIns="0" tIns="0" rIns="0" bIns="0" rtlCol="0" anchor="ctr"/>
          <a:lstStyle/>
          <a:p>
            <a:pPr algn="ctr" indent="0" marL="0">
              <a:buNone/>
            </a:pPr>
            <a:r>
              <a:rPr lang="en-US" sz="1000" b="1" dirty="0">
                <a:solidFill>
                  <a:srgbClr val="EF4444"/>
                </a:solidFill>
              </a:rPr>
              <a:t>✓</a:t>
            </a:r>
            <a:endParaRPr lang="en-US" sz="1000" dirty="0"/>
          </a:p>
        </p:txBody>
      </p:sp>
      <p:sp>
        <p:nvSpPr>
          <p:cNvPr id="51" name="Text 49"/>
          <p:cNvSpPr/>
          <p:nvPr/>
        </p:nvSpPr>
        <p:spPr>
          <a:xfrm>
            <a:off x="4983480" y="4343400"/>
            <a:ext cx="288036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My Tasks Summary (Contrib.)</a:t>
            </a:r>
            <a:endParaRPr lang="en-US" sz="900" dirty="0"/>
          </a:p>
        </p:txBody>
      </p:sp>
      <p:sp>
        <p:nvSpPr>
          <p:cNvPr id="52" name="Shape 50"/>
          <p:cNvSpPr/>
          <p:nvPr/>
        </p:nvSpPr>
        <p:spPr>
          <a:xfrm>
            <a:off x="4599432" y="4846320"/>
            <a:ext cx="3291840" cy="502920"/>
          </a:xfrm>
          <a:prstGeom prst="roundRect">
            <a:avLst>
              <a:gd name="adj" fmla="val 14545"/>
            </a:avLst>
          </a:prstGeom>
          <a:solidFill>
            <a:srgbClr val="141B36"/>
          </a:solidFill>
          <a:ln w="12700">
            <a:solidFill>
              <a:srgbClr val="2A3560"/>
            </a:solidFill>
            <a:prstDash val="solid"/>
          </a:ln>
        </p:spPr>
      </p:sp>
      <p:sp>
        <p:nvSpPr>
          <p:cNvPr id="53" name="Shape 51"/>
          <p:cNvSpPr/>
          <p:nvPr/>
        </p:nvSpPr>
        <p:spPr>
          <a:xfrm>
            <a:off x="4690872" y="4983480"/>
            <a:ext cx="228600" cy="228600"/>
          </a:xfrm>
          <a:prstGeom prst="roundRect">
            <a:avLst>
              <a:gd name="adj" fmla="val 12000"/>
            </a:avLst>
          </a:prstGeom>
          <a:solidFill>
            <a:srgbClr val="1A2244"/>
          </a:solidFill>
          <a:ln w="15240">
            <a:solidFill>
              <a:srgbClr val="EF4444"/>
            </a:solidFill>
            <a:prstDash val="solid"/>
          </a:ln>
        </p:spPr>
      </p:sp>
      <p:sp>
        <p:nvSpPr>
          <p:cNvPr id="54" name="Text 52"/>
          <p:cNvSpPr/>
          <p:nvPr/>
        </p:nvSpPr>
        <p:spPr>
          <a:xfrm>
            <a:off x="4690872" y="4983480"/>
            <a:ext cx="228600" cy="228600"/>
          </a:xfrm>
          <a:prstGeom prst="rect">
            <a:avLst/>
          </a:prstGeom>
          <a:noFill/>
          <a:ln/>
        </p:spPr>
        <p:txBody>
          <a:bodyPr wrap="square" lIns="0" tIns="0" rIns="0" bIns="0" rtlCol="0" anchor="ctr"/>
          <a:lstStyle/>
          <a:p>
            <a:pPr algn="ctr" indent="0" marL="0">
              <a:buNone/>
            </a:pPr>
            <a:r>
              <a:rPr lang="en-US" sz="1000" b="1" dirty="0">
                <a:solidFill>
                  <a:srgbClr val="EF4444"/>
                </a:solidFill>
              </a:rPr>
              <a:t>✓</a:t>
            </a:r>
            <a:endParaRPr lang="en-US" sz="1000" dirty="0"/>
          </a:p>
        </p:txBody>
      </p:sp>
      <p:sp>
        <p:nvSpPr>
          <p:cNvPr id="55" name="Text 53"/>
          <p:cNvSpPr/>
          <p:nvPr/>
        </p:nvSpPr>
        <p:spPr>
          <a:xfrm>
            <a:off x="4983480" y="4937760"/>
            <a:ext cx="288036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Leaderboard</a:t>
            </a:r>
            <a:endParaRPr lang="en-US" sz="900" dirty="0"/>
          </a:p>
        </p:txBody>
      </p:sp>
      <p:sp>
        <p:nvSpPr>
          <p:cNvPr id="56" name="Shape 54"/>
          <p:cNvSpPr/>
          <p:nvPr/>
        </p:nvSpPr>
        <p:spPr>
          <a:xfrm>
            <a:off x="4599432" y="5440680"/>
            <a:ext cx="3291840" cy="502920"/>
          </a:xfrm>
          <a:prstGeom prst="roundRect">
            <a:avLst>
              <a:gd name="adj" fmla="val 14545"/>
            </a:avLst>
          </a:prstGeom>
          <a:solidFill>
            <a:srgbClr val="141B36"/>
          </a:solidFill>
          <a:ln w="12700">
            <a:solidFill>
              <a:srgbClr val="2A3560"/>
            </a:solidFill>
            <a:prstDash val="solid"/>
          </a:ln>
        </p:spPr>
      </p:sp>
      <p:sp>
        <p:nvSpPr>
          <p:cNvPr id="57" name="Shape 55"/>
          <p:cNvSpPr/>
          <p:nvPr/>
        </p:nvSpPr>
        <p:spPr>
          <a:xfrm>
            <a:off x="4690872" y="5577840"/>
            <a:ext cx="228600" cy="228600"/>
          </a:xfrm>
          <a:prstGeom prst="roundRect">
            <a:avLst>
              <a:gd name="adj" fmla="val 12000"/>
            </a:avLst>
          </a:prstGeom>
          <a:solidFill>
            <a:srgbClr val="1A2244"/>
          </a:solidFill>
          <a:ln w="15240">
            <a:solidFill>
              <a:srgbClr val="EF4444"/>
            </a:solidFill>
            <a:prstDash val="solid"/>
          </a:ln>
        </p:spPr>
      </p:sp>
      <p:sp>
        <p:nvSpPr>
          <p:cNvPr id="58" name="Text 56"/>
          <p:cNvSpPr/>
          <p:nvPr/>
        </p:nvSpPr>
        <p:spPr>
          <a:xfrm>
            <a:off x="4690872" y="5577840"/>
            <a:ext cx="228600" cy="228600"/>
          </a:xfrm>
          <a:prstGeom prst="rect">
            <a:avLst/>
          </a:prstGeom>
          <a:noFill/>
          <a:ln/>
        </p:spPr>
        <p:txBody>
          <a:bodyPr wrap="square" lIns="0" tIns="0" rIns="0" bIns="0" rtlCol="0" anchor="ctr"/>
          <a:lstStyle/>
          <a:p>
            <a:pPr algn="ctr" indent="0" marL="0">
              <a:buNone/>
            </a:pPr>
            <a:r>
              <a:rPr lang="en-US" sz="1000" b="1" dirty="0">
                <a:solidFill>
                  <a:srgbClr val="EF4444"/>
                </a:solidFill>
              </a:rPr>
              <a:t>✓</a:t>
            </a:r>
            <a:endParaRPr lang="en-US" sz="1000" dirty="0"/>
          </a:p>
        </p:txBody>
      </p:sp>
      <p:sp>
        <p:nvSpPr>
          <p:cNvPr id="59" name="Text 57"/>
          <p:cNvSpPr/>
          <p:nvPr/>
        </p:nvSpPr>
        <p:spPr>
          <a:xfrm>
            <a:off x="4983480" y="5532120"/>
            <a:ext cx="288036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Accomplishments</a:t>
            </a:r>
            <a:endParaRPr lang="en-US" sz="900" dirty="0"/>
          </a:p>
        </p:txBody>
      </p:sp>
      <p:sp>
        <p:nvSpPr>
          <p:cNvPr id="60" name="Shape 58"/>
          <p:cNvSpPr/>
          <p:nvPr/>
        </p:nvSpPr>
        <p:spPr>
          <a:xfrm>
            <a:off x="4599432" y="5989320"/>
            <a:ext cx="3291840" cy="365760"/>
          </a:xfrm>
          <a:prstGeom prst="roundRect">
            <a:avLst>
              <a:gd name="adj" fmla="val 12500"/>
            </a:avLst>
          </a:prstGeom>
          <a:solidFill>
            <a:srgbClr val="EF4444"/>
          </a:solidFill>
          <a:ln w="12700">
            <a:solidFill>
              <a:srgbClr val="EF4444"/>
            </a:solidFill>
            <a:prstDash val="solid"/>
          </a:ln>
        </p:spPr>
      </p:sp>
      <p:sp>
        <p:nvSpPr>
          <p:cNvPr id="61" name="Text 59"/>
          <p:cNvSpPr/>
          <p:nvPr/>
        </p:nvSpPr>
        <p:spPr>
          <a:xfrm>
            <a:off x="4599432" y="5989320"/>
            <a:ext cx="3291840" cy="365760"/>
          </a:xfrm>
          <a:prstGeom prst="rect">
            <a:avLst/>
          </a:prstGeom>
          <a:noFill/>
          <a:ln/>
        </p:spPr>
        <p:txBody>
          <a:bodyPr wrap="square" lIns="0" tIns="0" rIns="0" bIns="0" rtlCol="0" anchor="ctr"/>
          <a:lstStyle/>
          <a:p>
            <a:pPr algn="ctr" indent="0" marL="0">
              <a:buNone/>
            </a:pPr>
            <a:r>
              <a:rPr lang="en-US" sz="1100" b="1" dirty="0">
                <a:solidFill>
                  <a:srgbClr val="FFFFFF"/>
                </a:solidFill>
              </a:rPr>
              <a:t>Export PDF</a:t>
            </a:r>
            <a:endParaRPr lang="en-US" sz="1100" dirty="0"/>
          </a:p>
        </p:txBody>
      </p:sp>
      <p:sp>
        <p:nvSpPr>
          <p:cNvPr id="62" name="Shape 60"/>
          <p:cNvSpPr/>
          <p:nvPr/>
        </p:nvSpPr>
        <p:spPr>
          <a:xfrm>
            <a:off x="8330184" y="1783080"/>
            <a:ext cx="3657600" cy="4663440"/>
          </a:xfrm>
          <a:prstGeom prst="roundRect">
            <a:avLst>
              <a:gd name="adj" fmla="val 2000"/>
            </a:avLst>
          </a:prstGeom>
          <a:solidFill>
            <a:srgbClr val="1A2244"/>
          </a:solidFill>
          <a:ln w="12700">
            <a:solidFill>
              <a:srgbClr val="2A3560"/>
            </a:solidFill>
            <a:prstDash val="solid"/>
          </a:ln>
        </p:spPr>
      </p:sp>
      <p:sp>
        <p:nvSpPr>
          <p:cNvPr id="63" name="Shape 61"/>
          <p:cNvSpPr/>
          <p:nvPr/>
        </p:nvSpPr>
        <p:spPr>
          <a:xfrm>
            <a:off x="8330184" y="1783080"/>
            <a:ext cx="3657600" cy="502920"/>
          </a:xfrm>
          <a:prstGeom prst="rect">
            <a:avLst/>
          </a:prstGeom>
          <a:solidFill>
            <a:srgbClr val="F59E0B"/>
          </a:solidFill>
          <a:ln w="12700">
            <a:solidFill>
              <a:srgbClr val="F59E0B"/>
            </a:solidFill>
            <a:prstDash val="solid"/>
          </a:ln>
        </p:spPr>
      </p:sp>
      <p:sp>
        <p:nvSpPr>
          <p:cNvPr id="64" name="Text 62"/>
          <p:cNvSpPr/>
          <p:nvPr/>
        </p:nvSpPr>
        <p:spPr>
          <a:xfrm>
            <a:off x="8513064" y="1783080"/>
            <a:ext cx="329184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PowerPoint</a:t>
            </a:r>
            <a:endParaRPr lang="en-US" sz="1700" dirty="0"/>
          </a:p>
        </p:txBody>
      </p:sp>
      <p:sp>
        <p:nvSpPr>
          <p:cNvPr id="65" name="Shape 63"/>
          <p:cNvSpPr/>
          <p:nvPr/>
        </p:nvSpPr>
        <p:spPr>
          <a:xfrm>
            <a:off x="8513064" y="2468880"/>
            <a:ext cx="3291840" cy="502920"/>
          </a:xfrm>
          <a:prstGeom prst="roundRect">
            <a:avLst>
              <a:gd name="adj" fmla="val 14545"/>
            </a:avLst>
          </a:prstGeom>
          <a:solidFill>
            <a:srgbClr val="141B36"/>
          </a:solidFill>
          <a:ln w="12700">
            <a:solidFill>
              <a:srgbClr val="2A3560"/>
            </a:solidFill>
            <a:prstDash val="solid"/>
          </a:ln>
        </p:spPr>
      </p:sp>
      <p:sp>
        <p:nvSpPr>
          <p:cNvPr id="66" name="Shape 64"/>
          <p:cNvSpPr/>
          <p:nvPr/>
        </p:nvSpPr>
        <p:spPr>
          <a:xfrm>
            <a:off x="8604504" y="2606040"/>
            <a:ext cx="228600" cy="228600"/>
          </a:xfrm>
          <a:prstGeom prst="roundRect">
            <a:avLst>
              <a:gd name="adj" fmla="val 12000"/>
            </a:avLst>
          </a:prstGeom>
          <a:solidFill>
            <a:srgbClr val="1A2244"/>
          </a:solidFill>
          <a:ln w="15240">
            <a:solidFill>
              <a:srgbClr val="F59E0B"/>
            </a:solidFill>
            <a:prstDash val="solid"/>
          </a:ln>
        </p:spPr>
      </p:sp>
      <p:sp>
        <p:nvSpPr>
          <p:cNvPr id="67" name="Text 65"/>
          <p:cNvSpPr/>
          <p:nvPr/>
        </p:nvSpPr>
        <p:spPr>
          <a:xfrm>
            <a:off x="8604504" y="2606040"/>
            <a:ext cx="228600" cy="228600"/>
          </a:xfrm>
          <a:prstGeom prst="rect">
            <a:avLst/>
          </a:prstGeom>
          <a:noFill/>
          <a:ln/>
        </p:spPr>
        <p:txBody>
          <a:bodyPr wrap="square" lIns="0" tIns="0" rIns="0" bIns="0" rtlCol="0" anchor="ctr"/>
          <a:lstStyle/>
          <a:p>
            <a:pPr algn="ctr" indent="0" marL="0">
              <a:buNone/>
            </a:pPr>
            <a:r>
              <a:rPr lang="en-US" sz="1000" b="1" dirty="0">
                <a:solidFill>
                  <a:srgbClr val="F59E0B"/>
                </a:solidFill>
              </a:rPr>
              <a:t>✓</a:t>
            </a:r>
            <a:endParaRPr lang="en-US" sz="1000" dirty="0"/>
          </a:p>
        </p:txBody>
      </p:sp>
      <p:sp>
        <p:nvSpPr>
          <p:cNvPr id="68" name="Text 66"/>
          <p:cNvSpPr/>
          <p:nvPr/>
        </p:nvSpPr>
        <p:spPr>
          <a:xfrm>
            <a:off x="8897112" y="2560320"/>
            <a:ext cx="288036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Executive (clean KPI slides)</a:t>
            </a:r>
            <a:endParaRPr lang="en-US" sz="900" dirty="0"/>
          </a:p>
        </p:txBody>
      </p:sp>
      <p:sp>
        <p:nvSpPr>
          <p:cNvPr id="69" name="Shape 67"/>
          <p:cNvSpPr/>
          <p:nvPr/>
        </p:nvSpPr>
        <p:spPr>
          <a:xfrm>
            <a:off x="8513064" y="3063240"/>
            <a:ext cx="3291840" cy="502920"/>
          </a:xfrm>
          <a:prstGeom prst="roundRect">
            <a:avLst>
              <a:gd name="adj" fmla="val 14545"/>
            </a:avLst>
          </a:prstGeom>
          <a:solidFill>
            <a:srgbClr val="141B36"/>
          </a:solidFill>
          <a:ln w="12700">
            <a:solidFill>
              <a:srgbClr val="2A3560"/>
            </a:solidFill>
            <a:prstDash val="solid"/>
          </a:ln>
        </p:spPr>
      </p:sp>
      <p:sp>
        <p:nvSpPr>
          <p:cNvPr id="70" name="Shape 68"/>
          <p:cNvSpPr/>
          <p:nvPr/>
        </p:nvSpPr>
        <p:spPr>
          <a:xfrm>
            <a:off x="8604504" y="3200400"/>
            <a:ext cx="228600" cy="228600"/>
          </a:xfrm>
          <a:prstGeom prst="roundRect">
            <a:avLst>
              <a:gd name="adj" fmla="val 12000"/>
            </a:avLst>
          </a:prstGeom>
          <a:solidFill>
            <a:srgbClr val="1A2244"/>
          </a:solidFill>
          <a:ln w="15240">
            <a:solidFill>
              <a:srgbClr val="F59E0B"/>
            </a:solidFill>
            <a:prstDash val="solid"/>
          </a:ln>
        </p:spPr>
      </p:sp>
      <p:sp>
        <p:nvSpPr>
          <p:cNvPr id="71" name="Text 69"/>
          <p:cNvSpPr/>
          <p:nvPr/>
        </p:nvSpPr>
        <p:spPr>
          <a:xfrm>
            <a:off x="8604504" y="3200400"/>
            <a:ext cx="228600" cy="228600"/>
          </a:xfrm>
          <a:prstGeom prst="rect">
            <a:avLst/>
          </a:prstGeom>
          <a:noFill/>
          <a:ln/>
        </p:spPr>
        <p:txBody>
          <a:bodyPr wrap="square" lIns="0" tIns="0" rIns="0" bIns="0" rtlCol="0" anchor="ctr"/>
          <a:lstStyle/>
          <a:p>
            <a:pPr algn="ctr" indent="0" marL="0">
              <a:buNone/>
            </a:pPr>
            <a:r>
              <a:rPr lang="en-US" sz="1000" b="1" dirty="0">
                <a:solidFill>
                  <a:srgbClr val="F59E0B"/>
                </a:solidFill>
              </a:rPr>
              <a:t>✓</a:t>
            </a:r>
            <a:endParaRPr lang="en-US" sz="1000" dirty="0"/>
          </a:p>
        </p:txBody>
      </p:sp>
      <p:sp>
        <p:nvSpPr>
          <p:cNvPr id="72" name="Text 70"/>
          <p:cNvSpPr/>
          <p:nvPr/>
        </p:nvSpPr>
        <p:spPr>
          <a:xfrm>
            <a:off x="8897112" y="3154680"/>
            <a:ext cx="288036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Data-Heavy (tables + detail)</a:t>
            </a:r>
            <a:endParaRPr lang="en-US" sz="900" dirty="0"/>
          </a:p>
        </p:txBody>
      </p:sp>
      <p:sp>
        <p:nvSpPr>
          <p:cNvPr id="73" name="Shape 71"/>
          <p:cNvSpPr/>
          <p:nvPr/>
        </p:nvSpPr>
        <p:spPr>
          <a:xfrm>
            <a:off x="8513064" y="3657600"/>
            <a:ext cx="3291840" cy="502920"/>
          </a:xfrm>
          <a:prstGeom prst="roundRect">
            <a:avLst>
              <a:gd name="adj" fmla="val 14545"/>
            </a:avLst>
          </a:prstGeom>
          <a:solidFill>
            <a:srgbClr val="141B36"/>
          </a:solidFill>
          <a:ln w="12700">
            <a:solidFill>
              <a:srgbClr val="2A3560"/>
            </a:solidFill>
            <a:prstDash val="solid"/>
          </a:ln>
        </p:spPr>
      </p:sp>
      <p:sp>
        <p:nvSpPr>
          <p:cNvPr id="74" name="Shape 72"/>
          <p:cNvSpPr/>
          <p:nvPr/>
        </p:nvSpPr>
        <p:spPr>
          <a:xfrm>
            <a:off x="8604504" y="3794760"/>
            <a:ext cx="228600" cy="228600"/>
          </a:xfrm>
          <a:prstGeom prst="roundRect">
            <a:avLst>
              <a:gd name="adj" fmla="val 12000"/>
            </a:avLst>
          </a:prstGeom>
          <a:solidFill>
            <a:srgbClr val="1A2244"/>
          </a:solidFill>
          <a:ln w="15240">
            <a:solidFill>
              <a:srgbClr val="F59E0B"/>
            </a:solidFill>
            <a:prstDash val="solid"/>
          </a:ln>
        </p:spPr>
      </p:sp>
      <p:sp>
        <p:nvSpPr>
          <p:cNvPr id="75" name="Text 73"/>
          <p:cNvSpPr/>
          <p:nvPr/>
        </p:nvSpPr>
        <p:spPr>
          <a:xfrm>
            <a:off x="8604504" y="3794760"/>
            <a:ext cx="228600" cy="228600"/>
          </a:xfrm>
          <a:prstGeom prst="rect">
            <a:avLst/>
          </a:prstGeom>
          <a:noFill/>
          <a:ln/>
        </p:spPr>
        <p:txBody>
          <a:bodyPr wrap="square" lIns="0" tIns="0" rIns="0" bIns="0" rtlCol="0" anchor="ctr"/>
          <a:lstStyle/>
          <a:p>
            <a:pPr algn="ctr" indent="0" marL="0">
              <a:buNone/>
            </a:pPr>
            <a:r>
              <a:rPr lang="en-US" sz="1000" b="1" dirty="0">
                <a:solidFill>
                  <a:srgbClr val="F59E0B"/>
                </a:solidFill>
              </a:rPr>
              <a:t>✓</a:t>
            </a:r>
            <a:endParaRPr lang="en-US" sz="1000" dirty="0"/>
          </a:p>
        </p:txBody>
      </p:sp>
      <p:sp>
        <p:nvSpPr>
          <p:cNvPr id="76" name="Text 74"/>
          <p:cNvSpPr/>
          <p:nvPr/>
        </p:nvSpPr>
        <p:spPr>
          <a:xfrm>
            <a:off x="8897112" y="3749040"/>
            <a:ext cx="288036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Dashboard KPIs</a:t>
            </a:r>
            <a:endParaRPr lang="en-US" sz="900" dirty="0"/>
          </a:p>
        </p:txBody>
      </p:sp>
      <p:sp>
        <p:nvSpPr>
          <p:cNvPr id="77" name="Shape 75"/>
          <p:cNvSpPr/>
          <p:nvPr/>
        </p:nvSpPr>
        <p:spPr>
          <a:xfrm>
            <a:off x="8513064" y="4251960"/>
            <a:ext cx="3291840" cy="502920"/>
          </a:xfrm>
          <a:prstGeom prst="roundRect">
            <a:avLst>
              <a:gd name="adj" fmla="val 14545"/>
            </a:avLst>
          </a:prstGeom>
          <a:solidFill>
            <a:srgbClr val="141B36"/>
          </a:solidFill>
          <a:ln w="12700">
            <a:solidFill>
              <a:srgbClr val="2A3560"/>
            </a:solidFill>
            <a:prstDash val="solid"/>
          </a:ln>
        </p:spPr>
      </p:sp>
      <p:sp>
        <p:nvSpPr>
          <p:cNvPr id="78" name="Shape 76"/>
          <p:cNvSpPr/>
          <p:nvPr/>
        </p:nvSpPr>
        <p:spPr>
          <a:xfrm>
            <a:off x="8604504" y="4389120"/>
            <a:ext cx="228600" cy="228600"/>
          </a:xfrm>
          <a:prstGeom prst="roundRect">
            <a:avLst>
              <a:gd name="adj" fmla="val 12000"/>
            </a:avLst>
          </a:prstGeom>
          <a:solidFill>
            <a:srgbClr val="1A2244"/>
          </a:solidFill>
          <a:ln w="15240">
            <a:solidFill>
              <a:srgbClr val="F59E0B"/>
            </a:solidFill>
            <a:prstDash val="solid"/>
          </a:ln>
        </p:spPr>
      </p:sp>
      <p:sp>
        <p:nvSpPr>
          <p:cNvPr id="79" name="Text 77"/>
          <p:cNvSpPr/>
          <p:nvPr/>
        </p:nvSpPr>
        <p:spPr>
          <a:xfrm>
            <a:off x="8604504" y="4389120"/>
            <a:ext cx="228600" cy="228600"/>
          </a:xfrm>
          <a:prstGeom prst="rect">
            <a:avLst/>
          </a:prstGeom>
          <a:noFill/>
          <a:ln/>
        </p:spPr>
        <p:txBody>
          <a:bodyPr wrap="square" lIns="0" tIns="0" rIns="0" bIns="0" rtlCol="0" anchor="ctr"/>
          <a:lstStyle/>
          <a:p>
            <a:pPr algn="ctr" indent="0" marL="0">
              <a:buNone/>
            </a:pPr>
            <a:r>
              <a:rPr lang="en-US" sz="1000" b="1" dirty="0">
                <a:solidFill>
                  <a:srgbClr val="F59E0B"/>
                </a:solidFill>
              </a:rPr>
              <a:t>✓</a:t>
            </a:r>
            <a:endParaRPr lang="en-US" sz="1000" dirty="0"/>
          </a:p>
        </p:txBody>
      </p:sp>
      <p:sp>
        <p:nvSpPr>
          <p:cNvPr id="80" name="Text 78"/>
          <p:cNvSpPr/>
          <p:nvPr/>
        </p:nvSpPr>
        <p:spPr>
          <a:xfrm>
            <a:off x="8897112" y="4343400"/>
            <a:ext cx="288036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Practice Summary</a:t>
            </a:r>
            <a:endParaRPr lang="en-US" sz="900" dirty="0"/>
          </a:p>
        </p:txBody>
      </p:sp>
      <p:sp>
        <p:nvSpPr>
          <p:cNvPr id="81" name="Shape 79"/>
          <p:cNvSpPr/>
          <p:nvPr/>
        </p:nvSpPr>
        <p:spPr>
          <a:xfrm>
            <a:off x="8513064" y="4846320"/>
            <a:ext cx="3291840" cy="502920"/>
          </a:xfrm>
          <a:prstGeom prst="roundRect">
            <a:avLst>
              <a:gd name="adj" fmla="val 14545"/>
            </a:avLst>
          </a:prstGeom>
          <a:solidFill>
            <a:srgbClr val="141B36"/>
          </a:solidFill>
          <a:ln w="12700">
            <a:solidFill>
              <a:srgbClr val="2A3560"/>
            </a:solidFill>
            <a:prstDash val="solid"/>
          </a:ln>
        </p:spPr>
      </p:sp>
      <p:sp>
        <p:nvSpPr>
          <p:cNvPr id="82" name="Shape 80"/>
          <p:cNvSpPr/>
          <p:nvPr/>
        </p:nvSpPr>
        <p:spPr>
          <a:xfrm>
            <a:off x="8604504" y="4983480"/>
            <a:ext cx="228600" cy="228600"/>
          </a:xfrm>
          <a:prstGeom prst="roundRect">
            <a:avLst>
              <a:gd name="adj" fmla="val 12000"/>
            </a:avLst>
          </a:prstGeom>
          <a:solidFill>
            <a:srgbClr val="1A2244"/>
          </a:solidFill>
          <a:ln w="15240">
            <a:solidFill>
              <a:srgbClr val="F59E0B"/>
            </a:solidFill>
            <a:prstDash val="solid"/>
          </a:ln>
        </p:spPr>
      </p:sp>
      <p:sp>
        <p:nvSpPr>
          <p:cNvPr id="83" name="Text 81"/>
          <p:cNvSpPr/>
          <p:nvPr/>
        </p:nvSpPr>
        <p:spPr>
          <a:xfrm>
            <a:off x="8604504" y="4983480"/>
            <a:ext cx="228600" cy="228600"/>
          </a:xfrm>
          <a:prstGeom prst="rect">
            <a:avLst/>
          </a:prstGeom>
          <a:noFill/>
          <a:ln/>
        </p:spPr>
        <p:txBody>
          <a:bodyPr wrap="square" lIns="0" tIns="0" rIns="0" bIns="0" rtlCol="0" anchor="ctr"/>
          <a:lstStyle/>
          <a:p>
            <a:pPr algn="ctr" indent="0" marL="0">
              <a:buNone/>
            </a:pPr>
            <a:r>
              <a:rPr lang="en-US" sz="1000" b="1" dirty="0">
                <a:solidFill>
                  <a:srgbClr val="F59E0B"/>
                </a:solidFill>
              </a:rPr>
              <a:t>✓</a:t>
            </a:r>
            <a:endParaRPr lang="en-US" sz="1000" dirty="0"/>
          </a:p>
        </p:txBody>
      </p:sp>
      <p:sp>
        <p:nvSpPr>
          <p:cNvPr id="84" name="Text 82"/>
          <p:cNvSpPr/>
          <p:nvPr/>
        </p:nvSpPr>
        <p:spPr>
          <a:xfrm>
            <a:off x="8897112" y="4937760"/>
            <a:ext cx="288036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Leaderboard</a:t>
            </a:r>
            <a:endParaRPr lang="en-US" sz="900" dirty="0"/>
          </a:p>
        </p:txBody>
      </p:sp>
      <p:sp>
        <p:nvSpPr>
          <p:cNvPr id="85" name="Shape 83"/>
          <p:cNvSpPr/>
          <p:nvPr/>
        </p:nvSpPr>
        <p:spPr>
          <a:xfrm>
            <a:off x="8513064" y="5440680"/>
            <a:ext cx="3291840" cy="502920"/>
          </a:xfrm>
          <a:prstGeom prst="roundRect">
            <a:avLst>
              <a:gd name="adj" fmla="val 14545"/>
            </a:avLst>
          </a:prstGeom>
          <a:solidFill>
            <a:srgbClr val="141B36"/>
          </a:solidFill>
          <a:ln w="12700">
            <a:solidFill>
              <a:srgbClr val="2A3560"/>
            </a:solidFill>
            <a:prstDash val="solid"/>
          </a:ln>
        </p:spPr>
      </p:sp>
      <p:sp>
        <p:nvSpPr>
          <p:cNvPr id="86" name="Shape 84"/>
          <p:cNvSpPr/>
          <p:nvPr/>
        </p:nvSpPr>
        <p:spPr>
          <a:xfrm>
            <a:off x="8604504" y="5577840"/>
            <a:ext cx="228600" cy="228600"/>
          </a:xfrm>
          <a:prstGeom prst="roundRect">
            <a:avLst>
              <a:gd name="adj" fmla="val 12000"/>
            </a:avLst>
          </a:prstGeom>
          <a:solidFill>
            <a:srgbClr val="1A2244"/>
          </a:solidFill>
          <a:ln w="15240">
            <a:solidFill>
              <a:srgbClr val="F59E0B"/>
            </a:solidFill>
            <a:prstDash val="solid"/>
          </a:ln>
        </p:spPr>
      </p:sp>
      <p:sp>
        <p:nvSpPr>
          <p:cNvPr id="87" name="Text 85"/>
          <p:cNvSpPr/>
          <p:nvPr/>
        </p:nvSpPr>
        <p:spPr>
          <a:xfrm>
            <a:off x="8604504" y="5577840"/>
            <a:ext cx="228600" cy="228600"/>
          </a:xfrm>
          <a:prstGeom prst="rect">
            <a:avLst/>
          </a:prstGeom>
          <a:noFill/>
          <a:ln/>
        </p:spPr>
        <p:txBody>
          <a:bodyPr wrap="square" lIns="0" tIns="0" rIns="0" bIns="0" rtlCol="0" anchor="ctr"/>
          <a:lstStyle/>
          <a:p>
            <a:pPr algn="ctr" indent="0" marL="0">
              <a:buNone/>
            </a:pPr>
            <a:r>
              <a:rPr lang="en-US" sz="1000" b="1" dirty="0">
                <a:solidFill>
                  <a:srgbClr val="F59E0B"/>
                </a:solidFill>
              </a:rPr>
              <a:t>✓</a:t>
            </a:r>
            <a:endParaRPr lang="en-US" sz="1000" dirty="0"/>
          </a:p>
        </p:txBody>
      </p:sp>
      <p:sp>
        <p:nvSpPr>
          <p:cNvPr id="88" name="Text 86"/>
          <p:cNvSpPr/>
          <p:nvPr/>
        </p:nvSpPr>
        <p:spPr>
          <a:xfrm>
            <a:off x="8897112" y="5532120"/>
            <a:ext cx="288036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Accomplishments</a:t>
            </a:r>
            <a:endParaRPr lang="en-US" sz="900" dirty="0"/>
          </a:p>
        </p:txBody>
      </p:sp>
      <p:sp>
        <p:nvSpPr>
          <p:cNvPr id="89" name="Shape 87"/>
          <p:cNvSpPr/>
          <p:nvPr/>
        </p:nvSpPr>
        <p:spPr>
          <a:xfrm>
            <a:off x="8513064" y="5989320"/>
            <a:ext cx="3291840" cy="365760"/>
          </a:xfrm>
          <a:prstGeom prst="roundRect">
            <a:avLst>
              <a:gd name="adj" fmla="val 12500"/>
            </a:avLst>
          </a:prstGeom>
          <a:solidFill>
            <a:srgbClr val="F59E0B"/>
          </a:solidFill>
          <a:ln w="12700">
            <a:solidFill>
              <a:srgbClr val="F59E0B"/>
            </a:solidFill>
            <a:prstDash val="solid"/>
          </a:ln>
        </p:spPr>
      </p:sp>
      <p:sp>
        <p:nvSpPr>
          <p:cNvPr id="90" name="Text 88"/>
          <p:cNvSpPr/>
          <p:nvPr/>
        </p:nvSpPr>
        <p:spPr>
          <a:xfrm>
            <a:off x="8513064" y="5989320"/>
            <a:ext cx="3291840" cy="365760"/>
          </a:xfrm>
          <a:prstGeom prst="rect">
            <a:avLst/>
          </a:prstGeom>
          <a:noFill/>
          <a:ln/>
        </p:spPr>
        <p:txBody>
          <a:bodyPr wrap="square" lIns="0" tIns="0" rIns="0" bIns="0" rtlCol="0" anchor="ctr"/>
          <a:lstStyle/>
          <a:p>
            <a:pPr algn="ctr" indent="0" marL="0">
              <a:buNone/>
            </a:pPr>
            <a:r>
              <a:rPr lang="en-US" sz="1100" b="1" dirty="0">
                <a:solidFill>
                  <a:srgbClr val="FFFFFF"/>
                </a:solidFill>
              </a:rPr>
              <a:t>Export PowerPoint</a:t>
            </a:r>
            <a:endParaRPr lang="en-US" sz="1100" dirty="0"/>
          </a:p>
        </p:txBody>
      </p:sp>
      <p:sp>
        <p:nvSpPr>
          <p:cNvPr id="91" name="Text 89"/>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92" name="Text 90"/>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25 / 28</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23 — Admin-only features</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Extras that appear in the sidebar only for Omar Ibrahim (or any user with role = admin).</a:t>
            </a:r>
            <a:endParaRPr lang="en-US" sz="1400" dirty="0"/>
          </a:p>
        </p:txBody>
      </p:sp>
      <p:sp>
        <p:nvSpPr>
          <p:cNvPr id="4" name="Shape 2"/>
          <p:cNvSpPr/>
          <p:nvPr/>
        </p:nvSpPr>
        <p:spPr>
          <a:xfrm>
            <a:off x="502920" y="1737360"/>
            <a:ext cx="5532120" cy="1417320"/>
          </a:xfrm>
          <a:prstGeom prst="roundRect">
            <a:avLst>
              <a:gd name="adj" fmla="val 5161"/>
            </a:avLst>
          </a:prstGeom>
          <a:solidFill>
            <a:srgbClr val="1A2244"/>
          </a:solidFill>
          <a:ln w="12700">
            <a:solidFill>
              <a:srgbClr val="2A3560"/>
            </a:solidFill>
            <a:prstDash val="solid"/>
          </a:ln>
        </p:spPr>
      </p:sp>
      <p:sp>
        <p:nvSpPr>
          <p:cNvPr id="5" name="Shape 3"/>
          <p:cNvSpPr/>
          <p:nvPr/>
        </p:nvSpPr>
        <p:spPr>
          <a:xfrm>
            <a:off x="502920" y="1737360"/>
            <a:ext cx="73152" cy="1417320"/>
          </a:xfrm>
          <a:prstGeom prst="rect">
            <a:avLst/>
          </a:prstGeom>
          <a:solidFill>
            <a:srgbClr val="6366F1"/>
          </a:solidFill>
          <a:ln w="12700">
            <a:solidFill>
              <a:srgbClr val="6366F1"/>
            </a:solidFill>
            <a:prstDash val="solid"/>
          </a:ln>
        </p:spPr>
      </p:sp>
      <p:sp>
        <p:nvSpPr>
          <p:cNvPr id="6" name="Shape 4"/>
          <p:cNvSpPr/>
          <p:nvPr/>
        </p:nvSpPr>
        <p:spPr>
          <a:xfrm>
            <a:off x="731520" y="2057400"/>
            <a:ext cx="731520" cy="731520"/>
          </a:xfrm>
          <a:prstGeom prst="ellipse">
            <a:avLst/>
          </a:prstGeom>
          <a:solidFill>
            <a:srgbClr val="6366F1"/>
          </a:solidFill>
          <a:ln w="19050">
            <a:solidFill>
              <a:srgbClr val="FFFFFF"/>
            </a:solidFill>
            <a:prstDash val="solid"/>
          </a:ln>
        </p:spPr>
      </p:sp>
      <p:sp>
        <p:nvSpPr>
          <p:cNvPr id="7" name="Text 5"/>
          <p:cNvSpPr/>
          <p:nvPr/>
        </p:nvSpPr>
        <p:spPr>
          <a:xfrm>
            <a:off x="731520" y="20574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8" name="Text 6"/>
          <p:cNvSpPr/>
          <p:nvPr/>
        </p:nvSpPr>
        <p:spPr>
          <a:xfrm>
            <a:off x="1600200" y="1965960"/>
            <a:ext cx="42976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All Practices</a:t>
            </a:r>
            <a:endParaRPr lang="en-US" sz="1500" dirty="0"/>
          </a:p>
        </p:txBody>
      </p:sp>
      <p:sp>
        <p:nvSpPr>
          <p:cNvPr id="9" name="Text 7"/>
          <p:cNvSpPr/>
          <p:nvPr/>
        </p:nvSpPr>
        <p:spPr>
          <a:xfrm>
            <a:off x="1600200" y="2331720"/>
            <a:ext cx="4343400" cy="7772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Aggregate view of all 6 practices side by side — BFSI, CES, ERP, EPS, EPCS, GRC.</a:t>
            </a:r>
            <a:endParaRPr lang="en-US" sz="1000" dirty="0"/>
          </a:p>
        </p:txBody>
      </p:sp>
      <p:sp>
        <p:nvSpPr>
          <p:cNvPr id="10" name="Shape 8"/>
          <p:cNvSpPr/>
          <p:nvPr/>
        </p:nvSpPr>
        <p:spPr>
          <a:xfrm>
            <a:off x="6263640" y="1737360"/>
            <a:ext cx="5532120" cy="1417320"/>
          </a:xfrm>
          <a:prstGeom prst="roundRect">
            <a:avLst>
              <a:gd name="adj" fmla="val 5161"/>
            </a:avLst>
          </a:prstGeom>
          <a:solidFill>
            <a:srgbClr val="1A2244"/>
          </a:solidFill>
          <a:ln w="12700">
            <a:solidFill>
              <a:srgbClr val="2A3560"/>
            </a:solidFill>
            <a:prstDash val="solid"/>
          </a:ln>
        </p:spPr>
      </p:sp>
      <p:sp>
        <p:nvSpPr>
          <p:cNvPr id="11" name="Shape 9"/>
          <p:cNvSpPr/>
          <p:nvPr/>
        </p:nvSpPr>
        <p:spPr>
          <a:xfrm>
            <a:off x="6263640" y="1737360"/>
            <a:ext cx="73152" cy="1417320"/>
          </a:xfrm>
          <a:prstGeom prst="rect">
            <a:avLst/>
          </a:prstGeom>
          <a:solidFill>
            <a:srgbClr val="10B981"/>
          </a:solidFill>
          <a:ln w="12700">
            <a:solidFill>
              <a:srgbClr val="10B981"/>
            </a:solidFill>
            <a:prstDash val="solid"/>
          </a:ln>
        </p:spPr>
      </p:sp>
      <p:sp>
        <p:nvSpPr>
          <p:cNvPr id="12" name="Shape 10"/>
          <p:cNvSpPr/>
          <p:nvPr/>
        </p:nvSpPr>
        <p:spPr>
          <a:xfrm>
            <a:off x="6492240" y="2057400"/>
            <a:ext cx="731520" cy="731520"/>
          </a:xfrm>
          <a:prstGeom prst="ellipse">
            <a:avLst/>
          </a:prstGeom>
          <a:solidFill>
            <a:srgbClr val="10B981"/>
          </a:solidFill>
          <a:ln w="19050">
            <a:solidFill>
              <a:srgbClr val="FFFFFF"/>
            </a:solidFill>
            <a:prstDash val="solid"/>
          </a:ln>
        </p:spPr>
      </p:sp>
      <p:sp>
        <p:nvSpPr>
          <p:cNvPr id="13" name="Text 11"/>
          <p:cNvSpPr/>
          <p:nvPr/>
        </p:nvSpPr>
        <p:spPr>
          <a:xfrm>
            <a:off x="6492240" y="20574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14" name="Text 12"/>
          <p:cNvSpPr/>
          <p:nvPr/>
        </p:nvSpPr>
        <p:spPr>
          <a:xfrm>
            <a:off x="7360920" y="1965960"/>
            <a:ext cx="42976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Approvals — Admin layer</a:t>
            </a:r>
            <a:endParaRPr lang="en-US" sz="1500" dirty="0"/>
          </a:p>
        </p:txBody>
      </p:sp>
      <p:sp>
        <p:nvSpPr>
          <p:cNvPr id="15" name="Text 13"/>
          <p:cNvSpPr/>
          <p:nvPr/>
        </p:nvSpPr>
        <p:spPr>
          <a:xfrm>
            <a:off x="7360920" y="2331720"/>
            <a:ext cx="4343400" cy="7772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Queue of tasks with Saved hours ≥ 15. Admin reviews big claims personally.</a:t>
            </a:r>
            <a:endParaRPr lang="en-US" sz="1000" dirty="0"/>
          </a:p>
        </p:txBody>
      </p:sp>
      <p:sp>
        <p:nvSpPr>
          <p:cNvPr id="16" name="Shape 14"/>
          <p:cNvSpPr/>
          <p:nvPr/>
        </p:nvSpPr>
        <p:spPr>
          <a:xfrm>
            <a:off x="502920" y="3337560"/>
            <a:ext cx="5532120" cy="1417320"/>
          </a:xfrm>
          <a:prstGeom prst="roundRect">
            <a:avLst>
              <a:gd name="adj" fmla="val 5161"/>
            </a:avLst>
          </a:prstGeom>
          <a:solidFill>
            <a:srgbClr val="1A2244"/>
          </a:solidFill>
          <a:ln w="12700">
            <a:solidFill>
              <a:srgbClr val="2A3560"/>
            </a:solidFill>
            <a:prstDash val="solid"/>
          </a:ln>
        </p:spPr>
      </p:sp>
      <p:sp>
        <p:nvSpPr>
          <p:cNvPr id="17" name="Shape 15"/>
          <p:cNvSpPr/>
          <p:nvPr/>
        </p:nvSpPr>
        <p:spPr>
          <a:xfrm>
            <a:off x="502920" y="3337560"/>
            <a:ext cx="73152" cy="1417320"/>
          </a:xfrm>
          <a:prstGeom prst="rect">
            <a:avLst/>
          </a:prstGeom>
          <a:solidFill>
            <a:srgbClr val="F59E0B"/>
          </a:solidFill>
          <a:ln w="12700">
            <a:solidFill>
              <a:srgbClr val="F59E0B"/>
            </a:solidFill>
            <a:prstDash val="solid"/>
          </a:ln>
        </p:spPr>
      </p:sp>
      <p:sp>
        <p:nvSpPr>
          <p:cNvPr id="18" name="Shape 16"/>
          <p:cNvSpPr/>
          <p:nvPr/>
        </p:nvSpPr>
        <p:spPr>
          <a:xfrm>
            <a:off x="731520" y="3657600"/>
            <a:ext cx="731520" cy="731520"/>
          </a:xfrm>
          <a:prstGeom prst="ellipse">
            <a:avLst/>
          </a:prstGeom>
          <a:solidFill>
            <a:srgbClr val="F59E0B"/>
          </a:solidFill>
          <a:ln w="19050">
            <a:solidFill>
              <a:srgbClr val="FFFFFF"/>
            </a:solidFill>
            <a:prstDash val="solid"/>
          </a:ln>
        </p:spPr>
      </p:sp>
      <p:sp>
        <p:nvSpPr>
          <p:cNvPr id="19" name="Text 17"/>
          <p:cNvSpPr/>
          <p:nvPr/>
        </p:nvSpPr>
        <p:spPr>
          <a:xfrm>
            <a:off x="731520" y="36576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20" name="Text 18"/>
          <p:cNvSpPr/>
          <p:nvPr/>
        </p:nvSpPr>
        <p:spPr>
          <a:xfrm>
            <a:off x="1600200" y="3566160"/>
            <a:ext cx="42976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Skip approval (on log)</a:t>
            </a:r>
            <a:endParaRPr lang="en-US" sz="1500" dirty="0"/>
          </a:p>
        </p:txBody>
      </p:sp>
      <p:sp>
        <p:nvSpPr>
          <p:cNvPr id="21" name="Text 19"/>
          <p:cNvSpPr/>
          <p:nvPr/>
        </p:nvSpPr>
        <p:spPr>
          <a:xfrm>
            <a:off x="1600200" y="3931920"/>
            <a:ext cx="4343400" cy="7772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A checkbox inside the Log Task modal — bypass validation and approve on the spot.</a:t>
            </a:r>
            <a:endParaRPr lang="en-US" sz="1000" dirty="0"/>
          </a:p>
        </p:txBody>
      </p:sp>
      <p:sp>
        <p:nvSpPr>
          <p:cNvPr id="22" name="Shape 20"/>
          <p:cNvSpPr/>
          <p:nvPr/>
        </p:nvSpPr>
        <p:spPr>
          <a:xfrm>
            <a:off x="6263640" y="3337560"/>
            <a:ext cx="5532120" cy="1417320"/>
          </a:xfrm>
          <a:prstGeom prst="roundRect">
            <a:avLst>
              <a:gd name="adj" fmla="val 5161"/>
            </a:avLst>
          </a:prstGeom>
          <a:solidFill>
            <a:srgbClr val="1A2244"/>
          </a:solidFill>
          <a:ln w="12700">
            <a:solidFill>
              <a:srgbClr val="2A3560"/>
            </a:solidFill>
            <a:prstDash val="solid"/>
          </a:ln>
        </p:spPr>
      </p:sp>
      <p:sp>
        <p:nvSpPr>
          <p:cNvPr id="23" name="Shape 21"/>
          <p:cNvSpPr/>
          <p:nvPr/>
        </p:nvSpPr>
        <p:spPr>
          <a:xfrm>
            <a:off x="6263640" y="3337560"/>
            <a:ext cx="73152" cy="1417320"/>
          </a:xfrm>
          <a:prstGeom prst="rect">
            <a:avLst/>
          </a:prstGeom>
          <a:solidFill>
            <a:srgbClr val="3B82F6"/>
          </a:solidFill>
          <a:ln w="12700">
            <a:solidFill>
              <a:srgbClr val="3B82F6"/>
            </a:solidFill>
            <a:prstDash val="solid"/>
          </a:ln>
        </p:spPr>
      </p:sp>
      <p:sp>
        <p:nvSpPr>
          <p:cNvPr id="24" name="Shape 22"/>
          <p:cNvSpPr/>
          <p:nvPr/>
        </p:nvSpPr>
        <p:spPr>
          <a:xfrm>
            <a:off x="6492240" y="3657600"/>
            <a:ext cx="731520" cy="731520"/>
          </a:xfrm>
          <a:prstGeom prst="ellipse">
            <a:avLst/>
          </a:prstGeom>
          <a:solidFill>
            <a:srgbClr val="3B82F6"/>
          </a:solidFill>
          <a:ln w="19050">
            <a:solidFill>
              <a:srgbClr val="FFFFFF"/>
            </a:solidFill>
            <a:prstDash val="solid"/>
          </a:ln>
        </p:spPr>
      </p:sp>
      <p:sp>
        <p:nvSpPr>
          <p:cNvPr id="25" name="Text 23"/>
          <p:cNvSpPr/>
          <p:nvPr/>
        </p:nvSpPr>
        <p:spPr>
          <a:xfrm>
            <a:off x="6492240" y="36576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26" name="Text 24"/>
          <p:cNvSpPr/>
          <p:nvPr/>
        </p:nvSpPr>
        <p:spPr>
          <a:xfrm>
            <a:off x="7360920" y="3566160"/>
            <a:ext cx="42976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Backup Data</a:t>
            </a:r>
            <a:endParaRPr lang="en-US" sz="1500" dirty="0"/>
          </a:p>
        </p:txBody>
      </p:sp>
      <p:sp>
        <p:nvSpPr>
          <p:cNvPr id="27" name="Text 25"/>
          <p:cNvSpPr/>
          <p:nvPr/>
        </p:nvSpPr>
        <p:spPr>
          <a:xfrm>
            <a:off x="7360920" y="3931920"/>
            <a:ext cx="4343400" cy="7772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One-click JSON snapshot of every table — stored in Supabase Storage for rollback.</a:t>
            </a:r>
            <a:endParaRPr lang="en-US" sz="1000" dirty="0"/>
          </a:p>
        </p:txBody>
      </p:sp>
      <p:sp>
        <p:nvSpPr>
          <p:cNvPr id="28" name="Shape 26"/>
          <p:cNvSpPr/>
          <p:nvPr/>
        </p:nvSpPr>
        <p:spPr>
          <a:xfrm>
            <a:off x="502920" y="4937760"/>
            <a:ext cx="5532120" cy="1417320"/>
          </a:xfrm>
          <a:prstGeom prst="roundRect">
            <a:avLst>
              <a:gd name="adj" fmla="val 5161"/>
            </a:avLst>
          </a:prstGeom>
          <a:solidFill>
            <a:srgbClr val="1A2244"/>
          </a:solidFill>
          <a:ln w="12700">
            <a:solidFill>
              <a:srgbClr val="2A3560"/>
            </a:solidFill>
            <a:prstDash val="solid"/>
          </a:ln>
        </p:spPr>
      </p:sp>
      <p:sp>
        <p:nvSpPr>
          <p:cNvPr id="29" name="Shape 27"/>
          <p:cNvSpPr/>
          <p:nvPr/>
        </p:nvSpPr>
        <p:spPr>
          <a:xfrm>
            <a:off x="502920" y="4937760"/>
            <a:ext cx="73152" cy="1417320"/>
          </a:xfrm>
          <a:prstGeom prst="rect">
            <a:avLst/>
          </a:prstGeom>
          <a:solidFill>
            <a:srgbClr val="818CF8"/>
          </a:solidFill>
          <a:ln w="12700">
            <a:solidFill>
              <a:srgbClr val="818CF8"/>
            </a:solidFill>
            <a:prstDash val="solid"/>
          </a:ln>
        </p:spPr>
      </p:sp>
      <p:sp>
        <p:nvSpPr>
          <p:cNvPr id="30" name="Shape 28"/>
          <p:cNvSpPr/>
          <p:nvPr/>
        </p:nvSpPr>
        <p:spPr>
          <a:xfrm>
            <a:off x="731520" y="5257800"/>
            <a:ext cx="731520" cy="731520"/>
          </a:xfrm>
          <a:prstGeom prst="ellipse">
            <a:avLst/>
          </a:prstGeom>
          <a:solidFill>
            <a:srgbClr val="818CF8"/>
          </a:solidFill>
          <a:ln w="19050">
            <a:solidFill>
              <a:srgbClr val="FFFFFF"/>
            </a:solidFill>
            <a:prstDash val="solid"/>
          </a:ln>
        </p:spPr>
      </p:sp>
      <p:sp>
        <p:nvSpPr>
          <p:cNvPr id="31" name="Text 29"/>
          <p:cNvSpPr/>
          <p:nvPr/>
        </p:nvSpPr>
        <p:spPr>
          <a:xfrm>
            <a:off x="731520" y="52578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32" name="Text 30"/>
          <p:cNvSpPr/>
          <p:nvPr/>
        </p:nvSpPr>
        <p:spPr>
          <a:xfrm>
            <a:off x="1600200" y="5166360"/>
            <a:ext cx="42976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Edit any record</a:t>
            </a:r>
            <a:endParaRPr lang="en-US" sz="1500" dirty="0"/>
          </a:p>
        </p:txBody>
      </p:sp>
      <p:sp>
        <p:nvSpPr>
          <p:cNvPr id="33" name="Text 31"/>
          <p:cNvSpPr/>
          <p:nvPr/>
        </p:nvSpPr>
        <p:spPr>
          <a:xfrm>
            <a:off x="1600200" y="5532120"/>
            <a:ext cx="4343400" cy="7772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Pencil icon on every row — tasks, wins, users, projects — across all practices.</a:t>
            </a:r>
            <a:endParaRPr lang="en-US" sz="1000" dirty="0"/>
          </a:p>
        </p:txBody>
      </p:sp>
      <p:sp>
        <p:nvSpPr>
          <p:cNvPr id="34" name="Shape 32"/>
          <p:cNvSpPr/>
          <p:nvPr/>
        </p:nvSpPr>
        <p:spPr>
          <a:xfrm>
            <a:off x="6263640" y="4937760"/>
            <a:ext cx="5532120" cy="1417320"/>
          </a:xfrm>
          <a:prstGeom prst="roundRect">
            <a:avLst>
              <a:gd name="adj" fmla="val 5161"/>
            </a:avLst>
          </a:prstGeom>
          <a:solidFill>
            <a:srgbClr val="1A2244"/>
          </a:solidFill>
          <a:ln w="12700">
            <a:solidFill>
              <a:srgbClr val="2A3560"/>
            </a:solidFill>
            <a:prstDash val="solid"/>
          </a:ln>
        </p:spPr>
      </p:sp>
      <p:sp>
        <p:nvSpPr>
          <p:cNvPr id="35" name="Shape 33"/>
          <p:cNvSpPr/>
          <p:nvPr/>
        </p:nvSpPr>
        <p:spPr>
          <a:xfrm>
            <a:off x="6263640" y="4937760"/>
            <a:ext cx="73152" cy="1417320"/>
          </a:xfrm>
          <a:prstGeom prst="rect">
            <a:avLst/>
          </a:prstGeom>
          <a:solidFill>
            <a:srgbClr val="14B8A6"/>
          </a:solidFill>
          <a:ln w="12700">
            <a:solidFill>
              <a:srgbClr val="14B8A6"/>
            </a:solidFill>
            <a:prstDash val="solid"/>
          </a:ln>
        </p:spPr>
      </p:sp>
      <p:sp>
        <p:nvSpPr>
          <p:cNvPr id="36" name="Shape 34"/>
          <p:cNvSpPr/>
          <p:nvPr/>
        </p:nvSpPr>
        <p:spPr>
          <a:xfrm>
            <a:off x="6492240" y="5257800"/>
            <a:ext cx="731520" cy="731520"/>
          </a:xfrm>
          <a:prstGeom prst="ellipse">
            <a:avLst/>
          </a:prstGeom>
          <a:solidFill>
            <a:srgbClr val="14B8A6"/>
          </a:solidFill>
          <a:ln w="19050">
            <a:solidFill>
              <a:srgbClr val="FFFFFF"/>
            </a:solidFill>
            <a:prstDash val="solid"/>
          </a:ln>
        </p:spPr>
      </p:sp>
      <p:sp>
        <p:nvSpPr>
          <p:cNvPr id="37" name="Text 35"/>
          <p:cNvSpPr/>
          <p:nvPr/>
        </p:nvSpPr>
        <p:spPr>
          <a:xfrm>
            <a:off x="6492240" y="52578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38" name="Text 36"/>
          <p:cNvSpPr/>
          <p:nvPr/>
        </p:nvSpPr>
        <p:spPr>
          <a:xfrm>
            <a:off x="7360920" y="5166360"/>
            <a:ext cx="42976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Full Export Center</a:t>
            </a:r>
            <a:endParaRPr lang="en-US" sz="1500" dirty="0"/>
          </a:p>
        </p:txBody>
      </p:sp>
      <p:sp>
        <p:nvSpPr>
          <p:cNvPr id="39" name="Text 37"/>
          <p:cNvSpPr/>
          <p:nvPr/>
        </p:nvSpPr>
        <p:spPr>
          <a:xfrm>
            <a:off x="7360920" y="5532120"/>
            <a:ext cx="4343400" cy="77724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Includes Practice Detail Cards PDF and every Excel tab, regardless of practice.</a:t>
            </a:r>
            <a:endParaRPr lang="en-US" sz="1000" dirty="0"/>
          </a:p>
        </p:txBody>
      </p:sp>
      <p:sp>
        <p:nvSpPr>
          <p:cNvPr id="40" name="Text 3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41" name="Text 39"/>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26 / 28</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729"/>
        </a:solidFill>
      </p:bgPr>
    </p:bg>
    <p:spTree>
      <p:nvGrpSpPr>
        <p:cNvPr id="1" name=""/>
        <p:cNvGrpSpPr/>
        <p:nvPr/>
      </p:nvGrpSpPr>
      <p:grpSpPr>
        <a:xfrm>
          <a:off x="0" y="0"/>
          <a:ext cx="0" cy="0"/>
          <a:chOff x="0" y="0"/>
          <a:chExt cx="0" cy="0"/>
        </a:xfrm>
      </p:grpSpPr>
      <p:sp>
        <p:nvSpPr>
          <p:cNvPr id="2" name="Text 0"/>
          <p:cNvSpPr/>
          <p:nvPr/>
        </p:nvSpPr>
        <p:spPr>
          <a:xfrm>
            <a:off x="457200" y="320040"/>
            <a:ext cx="11277295"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Step 24 — FAQ &amp; Troubleshooting</a:t>
            </a:r>
            <a:endParaRPr lang="en-US" sz="3400" dirty="0"/>
          </a:p>
        </p:txBody>
      </p:sp>
      <p:sp>
        <p:nvSpPr>
          <p:cNvPr id="3" name="Text 1"/>
          <p:cNvSpPr/>
          <p:nvPr/>
        </p:nvSpPr>
        <p:spPr>
          <a:xfrm>
            <a:off x="457200" y="1078992"/>
            <a:ext cx="11277295"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The questions we hear most.</a:t>
            </a:r>
            <a:endParaRPr lang="en-US" sz="1400" dirty="0"/>
          </a:p>
        </p:txBody>
      </p:sp>
      <p:sp>
        <p:nvSpPr>
          <p:cNvPr id="4" name="Shape 2"/>
          <p:cNvSpPr/>
          <p:nvPr/>
        </p:nvSpPr>
        <p:spPr>
          <a:xfrm>
            <a:off x="502920" y="1783080"/>
            <a:ext cx="5532120" cy="987552"/>
          </a:xfrm>
          <a:prstGeom prst="roundRect">
            <a:avLst>
              <a:gd name="adj" fmla="val 7407"/>
            </a:avLst>
          </a:prstGeom>
          <a:solidFill>
            <a:srgbClr val="141B36"/>
          </a:solidFill>
          <a:ln w="12700">
            <a:solidFill>
              <a:srgbClr val="2A3560"/>
            </a:solidFill>
            <a:prstDash val="solid"/>
          </a:ln>
        </p:spPr>
      </p:sp>
      <p:sp>
        <p:nvSpPr>
          <p:cNvPr id="5" name="Shape 3"/>
          <p:cNvSpPr/>
          <p:nvPr/>
        </p:nvSpPr>
        <p:spPr>
          <a:xfrm>
            <a:off x="502920" y="1783080"/>
            <a:ext cx="73152" cy="987552"/>
          </a:xfrm>
          <a:prstGeom prst="rect">
            <a:avLst/>
          </a:prstGeom>
          <a:solidFill>
            <a:srgbClr val="F59E0B"/>
          </a:solidFill>
          <a:ln w="12700">
            <a:solidFill>
              <a:srgbClr val="F59E0B"/>
            </a:solidFill>
            <a:prstDash val="solid"/>
          </a:ln>
        </p:spPr>
      </p:sp>
      <p:sp>
        <p:nvSpPr>
          <p:cNvPr id="6" name="Text 4"/>
          <p:cNvSpPr/>
          <p:nvPr/>
        </p:nvSpPr>
        <p:spPr>
          <a:xfrm>
            <a:off x="685800" y="1874520"/>
            <a:ext cx="5257800" cy="292608"/>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My Saved hours show 0</a:t>
            </a:r>
            <a:endParaRPr lang="en-US" sz="1100" dirty="0"/>
          </a:p>
        </p:txBody>
      </p:sp>
      <p:sp>
        <p:nvSpPr>
          <p:cNvPr id="7" name="Text 5"/>
          <p:cNvSpPr/>
          <p:nvPr/>
        </p:nvSpPr>
        <p:spPr>
          <a:xfrm>
            <a:off x="685800" y="2167128"/>
            <a:ext cx="5257800" cy="5486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You entered Time with AI ≥ Time without AI. Saved = Without − With. Minimum 2h to validate.</a:t>
            </a:r>
            <a:endParaRPr lang="en-US" sz="900" dirty="0"/>
          </a:p>
        </p:txBody>
      </p:sp>
      <p:sp>
        <p:nvSpPr>
          <p:cNvPr id="8" name="Shape 6"/>
          <p:cNvSpPr/>
          <p:nvPr/>
        </p:nvSpPr>
        <p:spPr>
          <a:xfrm>
            <a:off x="6263640" y="1783080"/>
            <a:ext cx="5532120" cy="987552"/>
          </a:xfrm>
          <a:prstGeom prst="roundRect">
            <a:avLst>
              <a:gd name="adj" fmla="val 7407"/>
            </a:avLst>
          </a:prstGeom>
          <a:solidFill>
            <a:srgbClr val="141B36"/>
          </a:solidFill>
          <a:ln w="12700">
            <a:solidFill>
              <a:srgbClr val="2A3560"/>
            </a:solidFill>
            <a:prstDash val="solid"/>
          </a:ln>
        </p:spPr>
      </p:sp>
      <p:sp>
        <p:nvSpPr>
          <p:cNvPr id="9" name="Shape 7"/>
          <p:cNvSpPr/>
          <p:nvPr/>
        </p:nvSpPr>
        <p:spPr>
          <a:xfrm>
            <a:off x="6263640" y="1783080"/>
            <a:ext cx="73152" cy="987552"/>
          </a:xfrm>
          <a:prstGeom prst="rect">
            <a:avLst/>
          </a:prstGeom>
          <a:solidFill>
            <a:srgbClr val="F59E0B"/>
          </a:solidFill>
          <a:ln w="12700">
            <a:solidFill>
              <a:srgbClr val="F59E0B"/>
            </a:solidFill>
            <a:prstDash val="solid"/>
          </a:ln>
        </p:spPr>
      </p:sp>
      <p:sp>
        <p:nvSpPr>
          <p:cNvPr id="10" name="Text 8"/>
          <p:cNvSpPr/>
          <p:nvPr/>
        </p:nvSpPr>
        <p:spPr>
          <a:xfrm>
            <a:off x="6446520" y="1874520"/>
            <a:ext cx="5257800" cy="292608"/>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The '+ Log Task' button isn't showing</a:t>
            </a:r>
            <a:endParaRPr lang="en-US" sz="1100" dirty="0"/>
          </a:p>
        </p:txBody>
      </p:sp>
      <p:sp>
        <p:nvSpPr>
          <p:cNvPr id="11" name="Text 9"/>
          <p:cNvSpPr/>
          <p:nvPr/>
        </p:nvSpPr>
        <p:spPr>
          <a:xfrm>
            <a:off x="6446520" y="2167128"/>
            <a:ext cx="5257800" cy="5486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Check you're on Dashboard, My Tasks, or Task Status. The button lives in the page header of those three.</a:t>
            </a:r>
            <a:endParaRPr lang="en-US" sz="900" dirty="0"/>
          </a:p>
        </p:txBody>
      </p:sp>
      <p:sp>
        <p:nvSpPr>
          <p:cNvPr id="12" name="Shape 10"/>
          <p:cNvSpPr/>
          <p:nvPr/>
        </p:nvSpPr>
        <p:spPr>
          <a:xfrm>
            <a:off x="502920" y="2953512"/>
            <a:ext cx="5532120" cy="987552"/>
          </a:xfrm>
          <a:prstGeom prst="roundRect">
            <a:avLst>
              <a:gd name="adj" fmla="val 7407"/>
            </a:avLst>
          </a:prstGeom>
          <a:solidFill>
            <a:srgbClr val="141B36"/>
          </a:solidFill>
          <a:ln w="12700">
            <a:solidFill>
              <a:srgbClr val="2A3560"/>
            </a:solidFill>
            <a:prstDash val="solid"/>
          </a:ln>
        </p:spPr>
      </p:sp>
      <p:sp>
        <p:nvSpPr>
          <p:cNvPr id="13" name="Shape 11"/>
          <p:cNvSpPr/>
          <p:nvPr/>
        </p:nvSpPr>
        <p:spPr>
          <a:xfrm>
            <a:off x="502920" y="2953512"/>
            <a:ext cx="73152" cy="987552"/>
          </a:xfrm>
          <a:prstGeom prst="rect">
            <a:avLst/>
          </a:prstGeom>
          <a:solidFill>
            <a:srgbClr val="F59E0B"/>
          </a:solidFill>
          <a:ln w="12700">
            <a:solidFill>
              <a:srgbClr val="F59E0B"/>
            </a:solidFill>
            <a:prstDash val="solid"/>
          </a:ln>
        </p:spPr>
      </p:sp>
      <p:sp>
        <p:nvSpPr>
          <p:cNvPr id="14" name="Text 12"/>
          <p:cNvSpPr/>
          <p:nvPr/>
        </p:nvSpPr>
        <p:spPr>
          <a:xfrm>
            <a:off x="685800" y="3044952"/>
            <a:ext cx="5257800" cy="292608"/>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AI Suggestions button is greyed out</a:t>
            </a:r>
            <a:endParaRPr lang="en-US" sz="1100" dirty="0"/>
          </a:p>
        </p:txBody>
      </p:sp>
      <p:sp>
        <p:nvSpPr>
          <p:cNvPr id="15" name="Text 13"/>
          <p:cNvSpPr/>
          <p:nvPr/>
        </p:nvSpPr>
        <p:spPr>
          <a:xfrm>
            <a:off x="685800" y="3337560"/>
            <a:ext cx="5257800" cy="5486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Fill in Project + Time Without + Time With first. The GPT call needs context to draft.</a:t>
            </a:r>
            <a:endParaRPr lang="en-US" sz="900" dirty="0"/>
          </a:p>
        </p:txBody>
      </p:sp>
      <p:sp>
        <p:nvSpPr>
          <p:cNvPr id="16" name="Shape 14"/>
          <p:cNvSpPr/>
          <p:nvPr/>
        </p:nvSpPr>
        <p:spPr>
          <a:xfrm>
            <a:off x="6263640" y="2953512"/>
            <a:ext cx="5532120" cy="987552"/>
          </a:xfrm>
          <a:prstGeom prst="roundRect">
            <a:avLst>
              <a:gd name="adj" fmla="val 7407"/>
            </a:avLst>
          </a:prstGeom>
          <a:solidFill>
            <a:srgbClr val="141B36"/>
          </a:solidFill>
          <a:ln w="12700">
            <a:solidFill>
              <a:srgbClr val="2A3560"/>
            </a:solidFill>
            <a:prstDash val="solid"/>
          </a:ln>
        </p:spPr>
      </p:sp>
      <p:sp>
        <p:nvSpPr>
          <p:cNvPr id="17" name="Shape 15"/>
          <p:cNvSpPr/>
          <p:nvPr/>
        </p:nvSpPr>
        <p:spPr>
          <a:xfrm>
            <a:off x="6263640" y="2953512"/>
            <a:ext cx="73152" cy="987552"/>
          </a:xfrm>
          <a:prstGeom prst="rect">
            <a:avLst/>
          </a:prstGeom>
          <a:solidFill>
            <a:srgbClr val="F59E0B"/>
          </a:solidFill>
          <a:ln w="12700">
            <a:solidFill>
              <a:srgbClr val="F59E0B"/>
            </a:solidFill>
            <a:prstDash val="solid"/>
          </a:ln>
        </p:spPr>
      </p:sp>
      <p:sp>
        <p:nvSpPr>
          <p:cNvPr id="18" name="Text 16"/>
          <p:cNvSpPr/>
          <p:nvPr/>
        </p:nvSpPr>
        <p:spPr>
          <a:xfrm>
            <a:off x="6446520" y="3044952"/>
            <a:ext cx="5257800" cy="292608"/>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My task was rejected — what now?</a:t>
            </a:r>
            <a:endParaRPr lang="en-US" sz="1100" dirty="0"/>
          </a:p>
        </p:txBody>
      </p:sp>
      <p:sp>
        <p:nvSpPr>
          <p:cNvPr id="19" name="Text 17"/>
          <p:cNvSpPr/>
          <p:nvPr/>
        </p:nvSpPr>
        <p:spPr>
          <a:xfrm>
            <a:off x="6446520" y="3337560"/>
            <a:ext cx="5257800" cy="5486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Open it in All Tasks (or My Tasks), click ✎, fix the feedback note, click Save. It re-enters the queue.</a:t>
            </a:r>
            <a:endParaRPr lang="en-US" sz="900" dirty="0"/>
          </a:p>
        </p:txBody>
      </p:sp>
      <p:sp>
        <p:nvSpPr>
          <p:cNvPr id="20" name="Shape 18"/>
          <p:cNvSpPr/>
          <p:nvPr/>
        </p:nvSpPr>
        <p:spPr>
          <a:xfrm>
            <a:off x="502920" y="4123944"/>
            <a:ext cx="5532120" cy="987552"/>
          </a:xfrm>
          <a:prstGeom prst="roundRect">
            <a:avLst>
              <a:gd name="adj" fmla="val 7407"/>
            </a:avLst>
          </a:prstGeom>
          <a:solidFill>
            <a:srgbClr val="141B36"/>
          </a:solidFill>
          <a:ln w="12700">
            <a:solidFill>
              <a:srgbClr val="2A3560"/>
            </a:solidFill>
            <a:prstDash val="solid"/>
          </a:ln>
        </p:spPr>
      </p:sp>
      <p:sp>
        <p:nvSpPr>
          <p:cNvPr id="21" name="Shape 19"/>
          <p:cNvSpPr/>
          <p:nvPr/>
        </p:nvSpPr>
        <p:spPr>
          <a:xfrm>
            <a:off x="502920" y="4123944"/>
            <a:ext cx="73152" cy="987552"/>
          </a:xfrm>
          <a:prstGeom prst="rect">
            <a:avLst/>
          </a:prstGeom>
          <a:solidFill>
            <a:srgbClr val="F59E0B"/>
          </a:solidFill>
          <a:ln w="12700">
            <a:solidFill>
              <a:srgbClr val="F59E0B"/>
            </a:solidFill>
            <a:prstDash val="solid"/>
          </a:ln>
        </p:spPr>
      </p:sp>
      <p:sp>
        <p:nvSpPr>
          <p:cNvPr id="22" name="Text 20"/>
          <p:cNvSpPr/>
          <p:nvPr/>
        </p:nvSpPr>
        <p:spPr>
          <a:xfrm>
            <a:off x="685800" y="4215384"/>
            <a:ext cx="5257800" cy="292608"/>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I can't find my project in the dropdown</a:t>
            </a:r>
            <a:endParaRPr lang="en-US" sz="1100" dirty="0"/>
          </a:p>
        </p:txBody>
      </p:sp>
      <p:sp>
        <p:nvSpPr>
          <p:cNvPr id="23" name="Text 21"/>
          <p:cNvSpPr/>
          <p:nvPr/>
        </p:nvSpPr>
        <p:spPr>
          <a:xfrm>
            <a:off x="685800" y="4507992"/>
            <a:ext cx="5257800" cy="5486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Ask Admin to add it. Projects are shared; contributors can't create them.</a:t>
            </a:r>
            <a:endParaRPr lang="en-US" sz="900" dirty="0"/>
          </a:p>
        </p:txBody>
      </p:sp>
      <p:sp>
        <p:nvSpPr>
          <p:cNvPr id="24" name="Shape 22"/>
          <p:cNvSpPr/>
          <p:nvPr/>
        </p:nvSpPr>
        <p:spPr>
          <a:xfrm>
            <a:off x="6263640" y="4123944"/>
            <a:ext cx="5532120" cy="987552"/>
          </a:xfrm>
          <a:prstGeom prst="roundRect">
            <a:avLst>
              <a:gd name="adj" fmla="val 7407"/>
            </a:avLst>
          </a:prstGeom>
          <a:solidFill>
            <a:srgbClr val="141B36"/>
          </a:solidFill>
          <a:ln w="12700">
            <a:solidFill>
              <a:srgbClr val="2A3560"/>
            </a:solidFill>
            <a:prstDash val="solid"/>
          </a:ln>
        </p:spPr>
      </p:sp>
      <p:sp>
        <p:nvSpPr>
          <p:cNvPr id="25" name="Shape 23"/>
          <p:cNvSpPr/>
          <p:nvPr/>
        </p:nvSpPr>
        <p:spPr>
          <a:xfrm>
            <a:off x="6263640" y="4123944"/>
            <a:ext cx="73152" cy="987552"/>
          </a:xfrm>
          <a:prstGeom prst="rect">
            <a:avLst/>
          </a:prstGeom>
          <a:solidFill>
            <a:srgbClr val="F59E0B"/>
          </a:solidFill>
          <a:ln w="12700">
            <a:solidFill>
              <a:srgbClr val="F59E0B"/>
            </a:solidFill>
            <a:prstDash val="solid"/>
          </a:ln>
        </p:spPr>
      </p:sp>
      <p:sp>
        <p:nvSpPr>
          <p:cNvPr id="26" name="Text 24"/>
          <p:cNvSpPr/>
          <p:nvPr/>
        </p:nvSpPr>
        <p:spPr>
          <a:xfrm>
            <a:off x="6446520" y="4215384"/>
            <a:ext cx="5257800" cy="292608"/>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Someone left — how do I remove them?</a:t>
            </a:r>
            <a:endParaRPr lang="en-US" sz="1100" dirty="0"/>
          </a:p>
        </p:txBody>
      </p:sp>
      <p:sp>
        <p:nvSpPr>
          <p:cNvPr id="27" name="Text 25"/>
          <p:cNvSpPr/>
          <p:nvPr/>
        </p:nvSpPr>
        <p:spPr>
          <a:xfrm>
            <a:off x="6446520" y="4507992"/>
            <a:ext cx="5257800" cy="5486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SPOC: Copilot Access → find row → ✗ Delete. Admin can hard-delete via Supabase.</a:t>
            </a:r>
            <a:endParaRPr lang="en-US" sz="900" dirty="0"/>
          </a:p>
        </p:txBody>
      </p:sp>
      <p:sp>
        <p:nvSpPr>
          <p:cNvPr id="28" name="Shape 26"/>
          <p:cNvSpPr/>
          <p:nvPr/>
        </p:nvSpPr>
        <p:spPr>
          <a:xfrm>
            <a:off x="502920" y="5294376"/>
            <a:ext cx="5532120" cy="987552"/>
          </a:xfrm>
          <a:prstGeom prst="roundRect">
            <a:avLst>
              <a:gd name="adj" fmla="val 7407"/>
            </a:avLst>
          </a:prstGeom>
          <a:solidFill>
            <a:srgbClr val="141B36"/>
          </a:solidFill>
          <a:ln w="12700">
            <a:solidFill>
              <a:srgbClr val="2A3560"/>
            </a:solidFill>
            <a:prstDash val="solid"/>
          </a:ln>
        </p:spPr>
      </p:sp>
      <p:sp>
        <p:nvSpPr>
          <p:cNvPr id="29" name="Shape 27"/>
          <p:cNvSpPr/>
          <p:nvPr/>
        </p:nvSpPr>
        <p:spPr>
          <a:xfrm>
            <a:off x="502920" y="5294376"/>
            <a:ext cx="73152" cy="987552"/>
          </a:xfrm>
          <a:prstGeom prst="rect">
            <a:avLst/>
          </a:prstGeom>
          <a:solidFill>
            <a:srgbClr val="F59E0B"/>
          </a:solidFill>
          <a:ln w="12700">
            <a:solidFill>
              <a:srgbClr val="F59E0B"/>
            </a:solidFill>
            <a:prstDash val="solid"/>
          </a:ln>
        </p:spPr>
      </p:sp>
      <p:sp>
        <p:nvSpPr>
          <p:cNvPr id="30" name="Text 28"/>
          <p:cNvSpPr/>
          <p:nvPr/>
        </p:nvSpPr>
        <p:spPr>
          <a:xfrm>
            <a:off x="685800" y="5385816"/>
            <a:ext cx="5257800" cy="292608"/>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My badge didn't appear</a:t>
            </a:r>
            <a:endParaRPr lang="en-US" sz="1100" dirty="0"/>
          </a:p>
        </p:txBody>
      </p:sp>
      <p:sp>
        <p:nvSpPr>
          <p:cNvPr id="31" name="Text 29"/>
          <p:cNvSpPr/>
          <p:nvPr/>
        </p:nvSpPr>
        <p:spPr>
          <a:xfrm>
            <a:off x="685800" y="5678424"/>
            <a:ext cx="5257800" cy="5486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Badges evaluate on approval. Refresh the Leaderboard after your task is approved.</a:t>
            </a:r>
            <a:endParaRPr lang="en-US" sz="900" dirty="0"/>
          </a:p>
        </p:txBody>
      </p:sp>
      <p:sp>
        <p:nvSpPr>
          <p:cNvPr id="32" name="Shape 30"/>
          <p:cNvSpPr/>
          <p:nvPr/>
        </p:nvSpPr>
        <p:spPr>
          <a:xfrm>
            <a:off x="6263640" y="5294376"/>
            <a:ext cx="5532120" cy="987552"/>
          </a:xfrm>
          <a:prstGeom prst="roundRect">
            <a:avLst>
              <a:gd name="adj" fmla="val 7407"/>
            </a:avLst>
          </a:prstGeom>
          <a:solidFill>
            <a:srgbClr val="141B36"/>
          </a:solidFill>
          <a:ln w="12700">
            <a:solidFill>
              <a:srgbClr val="2A3560"/>
            </a:solidFill>
            <a:prstDash val="solid"/>
          </a:ln>
        </p:spPr>
      </p:sp>
      <p:sp>
        <p:nvSpPr>
          <p:cNvPr id="33" name="Shape 31"/>
          <p:cNvSpPr/>
          <p:nvPr/>
        </p:nvSpPr>
        <p:spPr>
          <a:xfrm>
            <a:off x="6263640" y="5294376"/>
            <a:ext cx="73152" cy="987552"/>
          </a:xfrm>
          <a:prstGeom prst="rect">
            <a:avLst/>
          </a:prstGeom>
          <a:solidFill>
            <a:srgbClr val="F59E0B"/>
          </a:solidFill>
          <a:ln w="12700">
            <a:solidFill>
              <a:srgbClr val="F59E0B"/>
            </a:solidFill>
            <a:prstDash val="solid"/>
          </a:ln>
        </p:spPr>
      </p:sp>
      <p:sp>
        <p:nvSpPr>
          <p:cNvPr id="34" name="Text 32"/>
          <p:cNvSpPr/>
          <p:nvPr/>
        </p:nvSpPr>
        <p:spPr>
          <a:xfrm>
            <a:off x="6446520" y="5385816"/>
            <a:ext cx="5257800" cy="292608"/>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Export Center says 'no data'</a:t>
            </a:r>
            <a:endParaRPr lang="en-US" sz="1100" dirty="0"/>
          </a:p>
        </p:txBody>
      </p:sp>
      <p:sp>
        <p:nvSpPr>
          <p:cNvPr id="35" name="Text 33"/>
          <p:cNvSpPr/>
          <p:nvPr/>
        </p:nvSpPr>
        <p:spPr>
          <a:xfrm>
            <a:off x="6446520" y="5678424"/>
            <a:ext cx="5257800" cy="54864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Check the quarter selector — it may be set to a quarter with no records.</a:t>
            </a:r>
            <a:endParaRPr lang="en-US" sz="900" dirty="0"/>
          </a:p>
        </p:txBody>
      </p:sp>
      <p:sp>
        <p:nvSpPr>
          <p:cNvPr id="36" name="Text 3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EAS AI Adoption Dashboard — Full User Guide</a:t>
            </a:r>
            <a:endParaRPr lang="en-US" sz="900" dirty="0"/>
          </a:p>
        </p:txBody>
      </p:sp>
      <p:sp>
        <p:nvSpPr>
          <p:cNvPr id="37" name="Text 35"/>
          <p:cNvSpPr/>
          <p:nvPr/>
        </p:nvSpPr>
        <p:spPr>
          <a:xfrm>
            <a:off x="11094415" y="6492240"/>
            <a:ext cx="64008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27 / 28</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729"/>
        </a:solidFill>
      </p:bgPr>
    </p:bg>
    <p:spTree>
      <p:nvGrpSpPr>
        <p:cNvPr id="1" name=""/>
        <p:cNvGrpSpPr/>
        <p:nvPr/>
      </p:nvGrpSpPr>
      <p:grpSpPr>
        <a:xfrm>
          <a:off x="0" y="0"/>
          <a:ext cx="0" cy="0"/>
          <a:chOff x="0" y="0"/>
          <a:chExt cx="0" cy="0"/>
        </a:xfrm>
      </p:grpSpPr>
      <p:sp>
        <p:nvSpPr>
          <p:cNvPr id="2" name="Shape 0"/>
          <p:cNvSpPr/>
          <p:nvPr/>
        </p:nvSpPr>
        <p:spPr>
          <a:xfrm>
            <a:off x="-914400" y="-914400"/>
            <a:ext cx="4114800" cy="4114800"/>
          </a:xfrm>
          <a:prstGeom prst="ellipse">
            <a:avLst/>
          </a:prstGeom>
          <a:solidFill>
            <a:srgbClr val="6366F1">
              <a:alpha val="30000"/>
            </a:srgbClr>
          </a:solidFill>
          <a:ln w="12700">
            <a:solidFill>
              <a:srgbClr val="6366F1"/>
            </a:solidFill>
            <a:prstDash val="solid"/>
          </a:ln>
        </p:spPr>
      </p:sp>
      <p:sp>
        <p:nvSpPr>
          <p:cNvPr id="3" name="Shape 1"/>
          <p:cNvSpPr/>
          <p:nvPr/>
        </p:nvSpPr>
        <p:spPr>
          <a:xfrm>
            <a:off x="9448495" y="4114800"/>
            <a:ext cx="3657600" cy="3657600"/>
          </a:xfrm>
          <a:prstGeom prst="ellipse">
            <a:avLst/>
          </a:prstGeom>
          <a:solidFill>
            <a:srgbClr val="3B82F6">
              <a:alpha val="25000"/>
            </a:srgbClr>
          </a:solidFill>
          <a:ln w="12700">
            <a:solidFill>
              <a:srgbClr val="3B82F6"/>
            </a:solidFill>
            <a:prstDash val="solid"/>
          </a:ln>
        </p:spPr>
      </p:sp>
      <p:sp>
        <p:nvSpPr>
          <p:cNvPr id="4" name="Text 2"/>
          <p:cNvSpPr/>
          <p:nvPr/>
        </p:nvSpPr>
        <p:spPr>
          <a:xfrm>
            <a:off x="731520" y="822960"/>
            <a:ext cx="10972800" cy="502920"/>
          </a:xfrm>
          <a:prstGeom prst="rect">
            <a:avLst/>
          </a:prstGeom>
          <a:noFill/>
          <a:ln/>
        </p:spPr>
        <p:txBody>
          <a:bodyPr wrap="square" lIns="0" tIns="0" rIns="0" bIns="0" rtlCol="0" anchor="ctr"/>
          <a:lstStyle/>
          <a:p>
            <a:pPr indent="0" marL="0">
              <a:buNone/>
            </a:pPr>
            <a:r>
              <a:rPr lang="en-US" sz="2000" dirty="0">
                <a:solidFill>
                  <a:srgbClr val="818CF8"/>
                </a:solidFill>
                <a:latin typeface="Calibri" pitchFamily="34" charset="0"/>
                <a:ea typeface="Calibri" pitchFamily="34" charset="-122"/>
                <a:cs typeface="Calibri" pitchFamily="34" charset="-120"/>
              </a:rPr>
              <a:t>Your first AI task deserves to be counted.</a:t>
            </a:r>
            <a:endParaRPr lang="en-US" sz="2000" dirty="0"/>
          </a:p>
        </p:txBody>
      </p:sp>
      <p:sp>
        <p:nvSpPr>
          <p:cNvPr id="5" name="Text 3"/>
          <p:cNvSpPr/>
          <p:nvPr/>
        </p:nvSpPr>
        <p:spPr>
          <a:xfrm>
            <a:off x="731520" y="1417320"/>
            <a:ext cx="10972800" cy="100584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Get started today.</a:t>
            </a:r>
            <a:endParaRPr lang="en-US" sz="5200" dirty="0"/>
          </a:p>
        </p:txBody>
      </p:sp>
      <p:sp>
        <p:nvSpPr>
          <p:cNvPr id="6" name="Shape 4"/>
          <p:cNvSpPr/>
          <p:nvPr/>
        </p:nvSpPr>
        <p:spPr>
          <a:xfrm>
            <a:off x="731520" y="2514600"/>
            <a:ext cx="1280160" cy="73152"/>
          </a:xfrm>
          <a:prstGeom prst="rect">
            <a:avLst/>
          </a:prstGeom>
          <a:solidFill>
            <a:srgbClr val="6366F1"/>
          </a:solidFill>
          <a:ln w="12700">
            <a:solidFill>
              <a:srgbClr val="6366F1"/>
            </a:solidFill>
            <a:prstDash val="solid"/>
          </a:ln>
        </p:spPr>
      </p:sp>
      <p:sp>
        <p:nvSpPr>
          <p:cNvPr id="7" name="Shape 5"/>
          <p:cNvSpPr/>
          <p:nvPr/>
        </p:nvSpPr>
        <p:spPr>
          <a:xfrm>
            <a:off x="731520" y="2926080"/>
            <a:ext cx="3657600" cy="1691640"/>
          </a:xfrm>
          <a:prstGeom prst="roundRect">
            <a:avLst>
              <a:gd name="adj" fmla="val 4324"/>
            </a:avLst>
          </a:prstGeom>
          <a:solidFill>
            <a:srgbClr val="1A2244"/>
          </a:solidFill>
          <a:ln w="12700">
            <a:solidFill>
              <a:srgbClr val="2A3560"/>
            </a:solidFill>
            <a:prstDash val="solid"/>
          </a:ln>
        </p:spPr>
      </p:sp>
      <p:sp>
        <p:nvSpPr>
          <p:cNvPr id="8" name="Shape 6"/>
          <p:cNvSpPr/>
          <p:nvPr/>
        </p:nvSpPr>
        <p:spPr>
          <a:xfrm>
            <a:off x="914400" y="3108960"/>
            <a:ext cx="594360" cy="594360"/>
          </a:xfrm>
          <a:prstGeom prst="ellipse">
            <a:avLst/>
          </a:prstGeom>
          <a:solidFill>
            <a:srgbClr val="6366F1"/>
          </a:solidFill>
          <a:ln w="19050">
            <a:solidFill>
              <a:srgbClr val="FFFFFF"/>
            </a:solidFill>
            <a:prstDash val="solid"/>
          </a:ln>
        </p:spPr>
      </p:sp>
      <p:sp>
        <p:nvSpPr>
          <p:cNvPr id="9" name="Text 7"/>
          <p:cNvSpPr/>
          <p:nvPr/>
        </p:nvSpPr>
        <p:spPr>
          <a:xfrm>
            <a:off x="914400" y="3108960"/>
            <a:ext cx="59436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1691640" y="3127248"/>
            <a:ext cx="256032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Sign up</a:t>
            </a:r>
            <a:endParaRPr lang="en-US" sz="1800" dirty="0"/>
          </a:p>
        </p:txBody>
      </p:sp>
      <p:sp>
        <p:nvSpPr>
          <p:cNvPr id="11" name="Text 9"/>
          <p:cNvSpPr/>
          <p:nvPr/>
        </p:nvSpPr>
        <p:spPr>
          <a:xfrm>
            <a:off x="960120" y="3794760"/>
            <a:ext cx="3383280" cy="73152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signup.html</a:t>
            </a:r>
            <a:endParaRPr lang="en-US" sz="1000" dirty="0"/>
          </a:p>
        </p:txBody>
      </p:sp>
      <p:sp>
        <p:nvSpPr>
          <p:cNvPr id="12" name="Shape 10"/>
          <p:cNvSpPr/>
          <p:nvPr/>
        </p:nvSpPr>
        <p:spPr>
          <a:xfrm>
            <a:off x="4572000" y="2926080"/>
            <a:ext cx="3657600" cy="1691640"/>
          </a:xfrm>
          <a:prstGeom prst="roundRect">
            <a:avLst>
              <a:gd name="adj" fmla="val 4324"/>
            </a:avLst>
          </a:prstGeom>
          <a:solidFill>
            <a:srgbClr val="1A2244"/>
          </a:solidFill>
          <a:ln w="12700">
            <a:solidFill>
              <a:srgbClr val="2A3560"/>
            </a:solidFill>
            <a:prstDash val="solid"/>
          </a:ln>
        </p:spPr>
      </p:sp>
      <p:sp>
        <p:nvSpPr>
          <p:cNvPr id="13" name="Shape 11"/>
          <p:cNvSpPr/>
          <p:nvPr/>
        </p:nvSpPr>
        <p:spPr>
          <a:xfrm>
            <a:off x="4754880" y="3108960"/>
            <a:ext cx="594360" cy="594360"/>
          </a:xfrm>
          <a:prstGeom prst="ellipse">
            <a:avLst/>
          </a:prstGeom>
          <a:solidFill>
            <a:srgbClr val="3B82F6"/>
          </a:solidFill>
          <a:ln w="19050">
            <a:solidFill>
              <a:srgbClr val="FFFFFF"/>
            </a:solidFill>
            <a:prstDash val="solid"/>
          </a:ln>
        </p:spPr>
      </p:sp>
      <p:sp>
        <p:nvSpPr>
          <p:cNvPr id="14" name="Text 12"/>
          <p:cNvSpPr/>
          <p:nvPr/>
        </p:nvSpPr>
        <p:spPr>
          <a:xfrm>
            <a:off x="4754880" y="3108960"/>
            <a:ext cx="59436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32120" y="3127248"/>
            <a:ext cx="256032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 in</a:t>
            </a:r>
            <a:endParaRPr lang="en-US" sz="1800" dirty="0"/>
          </a:p>
        </p:txBody>
      </p:sp>
      <p:sp>
        <p:nvSpPr>
          <p:cNvPr id="16" name="Text 14"/>
          <p:cNvSpPr/>
          <p:nvPr/>
        </p:nvSpPr>
        <p:spPr>
          <a:xfrm>
            <a:off x="4800600" y="3794760"/>
            <a:ext cx="3383280" cy="73152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login.html</a:t>
            </a:r>
            <a:endParaRPr lang="en-US" sz="1000" dirty="0"/>
          </a:p>
        </p:txBody>
      </p:sp>
      <p:sp>
        <p:nvSpPr>
          <p:cNvPr id="17" name="Shape 15"/>
          <p:cNvSpPr/>
          <p:nvPr/>
        </p:nvSpPr>
        <p:spPr>
          <a:xfrm>
            <a:off x="8412480" y="2926080"/>
            <a:ext cx="3657600" cy="1691640"/>
          </a:xfrm>
          <a:prstGeom prst="roundRect">
            <a:avLst>
              <a:gd name="adj" fmla="val 4324"/>
            </a:avLst>
          </a:prstGeom>
          <a:solidFill>
            <a:srgbClr val="1A2244"/>
          </a:solidFill>
          <a:ln w="12700">
            <a:solidFill>
              <a:srgbClr val="2A3560"/>
            </a:solidFill>
            <a:prstDash val="solid"/>
          </a:ln>
        </p:spPr>
      </p:sp>
      <p:sp>
        <p:nvSpPr>
          <p:cNvPr id="18" name="Shape 16"/>
          <p:cNvSpPr/>
          <p:nvPr/>
        </p:nvSpPr>
        <p:spPr>
          <a:xfrm>
            <a:off x="8595360" y="3108960"/>
            <a:ext cx="594360" cy="594360"/>
          </a:xfrm>
          <a:prstGeom prst="ellipse">
            <a:avLst/>
          </a:prstGeom>
          <a:solidFill>
            <a:srgbClr val="10B981"/>
          </a:solidFill>
          <a:ln w="19050">
            <a:solidFill>
              <a:srgbClr val="FFFFFF"/>
            </a:solidFill>
            <a:prstDash val="solid"/>
          </a:ln>
        </p:spPr>
      </p:sp>
      <p:sp>
        <p:nvSpPr>
          <p:cNvPr id="19" name="Text 17"/>
          <p:cNvSpPr/>
          <p:nvPr/>
        </p:nvSpPr>
        <p:spPr>
          <a:xfrm>
            <a:off x="8595360" y="3108960"/>
            <a:ext cx="59436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9372600" y="3127248"/>
            <a:ext cx="256032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 your first task</a:t>
            </a:r>
            <a:endParaRPr lang="en-US" sz="1800" dirty="0"/>
          </a:p>
        </p:txBody>
      </p:sp>
      <p:sp>
        <p:nvSpPr>
          <p:cNvPr id="21" name="Text 19"/>
          <p:cNvSpPr/>
          <p:nvPr/>
        </p:nvSpPr>
        <p:spPr>
          <a:xfrm>
            <a:off x="8641080" y="3794760"/>
            <a:ext cx="3383280" cy="73152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Dashboard → + Log Task</a:t>
            </a:r>
            <a:endParaRPr lang="en-US" sz="1000" dirty="0"/>
          </a:p>
        </p:txBody>
      </p:sp>
      <p:sp>
        <p:nvSpPr>
          <p:cNvPr id="22" name="Shape 20"/>
          <p:cNvSpPr/>
          <p:nvPr/>
        </p:nvSpPr>
        <p:spPr>
          <a:xfrm>
            <a:off x="731520" y="4892040"/>
            <a:ext cx="11018520" cy="1417320"/>
          </a:xfrm>
          <a:prstGeom prst="roundRect">
            <a:avLst>
              <a:gd name="adj" fmla="val 5161"/>
            </a:avLst>
          </a:prstGeom>
          <a:solidFill>
            <a:srgbClr val="1A2244"/>
          </a:solidFill>
          <a:ln w="12700">
            <a:solidFill>
              <a:srgbClr val="2A3560"/>
            </a:solidFill>
            <a:prstDash val="solid"/>
          </a:ln>
        </p:spPr>
      </p:sp>
      <p:sp>
        <p:nvSpPr>
          <p:cNvPr id="23" name="Shape 21"/>
          <p:cNvSpPr/>
          <p:nvPr/>
        </p:nvSpPr>
        <p:spPr>
          <a:xfrm>
            <a:off x="731520" y="4892040"/>
            <a:ext cx="73152" cy="1417320"/>
          </a:xfrm>
          <a:prstGeom prst="rect">
            <a:avLst/>
          </a:prstGeom>
          <a:solidFill>
            <a:srgbClr val="6366F1"/>
          </a:solidFill>
          <a:ln w="12700">
            <a:solidFill>
              <a:srgbClr val="6366F1"/>
            </a:solidFill>
            <a:prstDash val="solid"/>
          </a:ln>
        </p:spPr>
      </p:sp>
      <p:sp>
        <p:nvSpPr>
          <p:cNvPr id="24" name="Text 22"/>
          <p:cNvSpPr/>
          <p:nvPr/>
        </p:nvSpPr>
        <p:spPr>
          <a:xfrm>
            <a:off x="914400" y="4983480"/>
            <a:ext cx="105156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Support &amp; feedback</a:t>
            </a:r>
            <a:endParaRPr lang="en-US" sz="1600" dirty="0"/>
          </a:p>
        </p:txBody>
      </p:sp>
      <p:sp>
        <p:nvSpPr>
          <p:cNvPr id="25" name="Text 23"/>
          <p:cNvSpPr/>
          <p:nvPr/>
        </p:nvSpPr>
        <p:spPr>
          <a:xfrm>
            <a:off x="914400" y="5349240"/>
            <a:ext cx="10515600" cy="3200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Admin / Overall AI SPOC  ·  </a:t>
            </a:r>
            <a:pPr indent="0" marL="0">
              <a:buNone/>
            </a:pPr>
            <a:r>
              <a:rPr lang="en-US" sz="1200" b="1" dirty="0">
                <a:solidFill>
                  <a:srgbClr val="FFFFFF"/>
                </a:solidFill>
                <a:latin typeface="Calibri" pitchFamily="34" charset="0"/>
                <a:ea typeface="Calibri" pitchFamily="34" charset="-122"/>
                <a:cs typeface="Calibri" pitchFamily="34" charset="-120"/>
              </a:rPr>
              <a:t>Omar Ibrahim</a:t>
            </a:r>
            <a:pPr indent="0" marL="0">
              <a:buNone/>
            </a:pPr>
            <a:r>
              <a:rPr lang="en-US" sz="1200" dirty="0">
                <a:solidFill>
                  <a:srgbClr val="94A3B8"/>
                </a:solidFill>
                <a:latin typeface="Calibri" pitchFamily="34" charset="0"/>
                <a:ea typeface="Calibri" pitchFamily="34" charset="-122"/>
                <a:cs typeface="Calibri" pitchFamily="34" charset="-120"/>
              </a:rPr>
              <a:t>  ·  </a:t>
            </a:r>
            <a:pPr indent="0" marL="0">
              <a:buNone/>
            </a:pPr>
            <a:r>
              <a:rPr lang="en-US" sz="1200" i="1" dirty="0">
                <a:solidFill>
                  <a:srgbClr val="818CF8"/>
                </a:solidFill>
                <a:latin typeface="Calibri" pitchFamily="34" charset="0"/>
                <a:ea typeface="Calibri" pitchFamily="34" charset="-122"/>
                <a:cs typeface="Calibri" pitchFamily="34" charset="-120"/>
              </a:rPr>
              <a:t>oibrahim@ejada.com</a:t>
            </a:r>
            <a:endParaRPr lang="en-US" sz="1200" dirty="0"/>
          </a:p>
        </p:txBody>
      </p:sp>
      <p:sp>
        <p:nvSpPr>
          <p:cNvPr id="26" name="Text 24"/>
          <p:cNvSpPr/>
          <p:nvPr/>
        </p:nvSpPr>
        <p:spPr>
          <a:xfrm>
            <a:off x="914400" y="5715000"/>
            <a:ext cx="105156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Practice questions → your practice SPOC. Bug reports → the admin.</a:t>
            </a:r>
            <a:endParaRPr lang="en-US" sz="1000" dirty="0"/>
          </a:p>
        </p:txBody>
      </p:sp>
      <p:sp>
        <p:nvSpPr>
          <p:cNvPr id="27" name="Text 25"/>
          <p:cNvSpPr/>
          <p:nvPr/>
        </p:nvSpPr>
        <p:spPr>
          <a:xfrm>
            <a:off x="731520" y="6355080"/>
            <a:ext cx="10972800" cy="365760"/>
          </a:xfrm>
          <a:prstGeom prst="rect">
            <a:avLst/>
          </a:prstGeom>
          <a:noFill/>
          <a:ln/>
        </p:spPr>
        <p:txBody>
          <a:bodyPr wrap="square" lIns="0" tIns="0" rIns="0" bIns="0" rtlCol="0" anchor="ctr"/>
          <a:lstStyle/>
          <a:p>
            <a:pPr indent="0" marL="0">
              <a:buNone/>
            </a:pPr>
            <a:r>
              <a:rPr lang="en-US" sz="1400" i="1" dirty="0">
                <a:solidFill>
                  <a:srgbClr val="818CF8"/>
                </a:solidFill>
                <a:latin typeface="Calibri" pitchFamily="34" charset="0"/>
                <a:ea typeface="Calibri" pitchFamily="34" charset="-122"/>
                <a:cs typeface="Calibri" pitchFamily="34" charset="-120"/>
              </a:rPr>
              <a:t>Thank you.</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Ejada — Enterprise Application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EAS AI Adoption Dashboard — Full User Guide</dc:title>
  <dc:subject>PptxGenJS Presentation</dc:subject>
  <dc:creator>Omar Ibrahim</dc:creator>
  <cp:lastModifiedBy>Omar Ibrahim</cp:lastModifiedBy>
  <cp:revision>1</cp:revision>
  <dcterms:created xsi:type="dcterms:W3CDTF">2026-04-11T22:28:50Z</dcterms:created>
  <dcterms:modified xsi:type="dcterms:W3CDTF">2026-04-11T22:28:50Z</dcterms:modified>
</cp:coreProperties>
</file>